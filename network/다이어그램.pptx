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0" r:id="rId2"/>
    <p:sldId id="261" r:id="rId3"/>
    <p:sldId id="259" r:id="rId4"/>
    <p:sldId id="262" r:id="rId5"/>
    <p:sldId id="263" r:id="rId6"/>
    <p:sldId id="264" r:id="rId7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6113" autoAdjust="0"/>
    <p:restoredTop sz="94660"/>
  </p:normalViewPr>
  <p:slideViewPr>
    <p:cSldViewPr snapToGrid="0">
      <p:cViewPr varScale="1">
        <p:scale>
          <a:sx n="149" d="100"/>
          <a:sy n="149" d="100"/>
        </p:scale>
        <p:origin x="184" y="2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C46B145-E316-4B4F-B2A1-0687F3D98D0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9C614CC0-3275-4E53-84FF-BF569FCC101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88E4261-9626-4528-8F58-B68EAC0D7F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ADEA6B-D4EB-4F0E-8068-E55A9CF60141}" type="datetimeFigureOut">
              <a:rPr lang="ko-KR" altLang="en-US" smtClean="0"/>
              <a:t>2026. 6. 16.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318AE3F-4165-45CC-AA86-4AC168BEC7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E757969-F57C-40DD-9264-FBD79026B1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70CDAB-34C3-473D-8088-E490D5FEF9D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179189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AB9DCD8-8555-45DC-AE6F-8FCA8102FE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92F21D5-9578-4D05-9965-CD2128970D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020B9CA-6FAF-4DF1-A618-0C7CF96EDD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ADEA6B-D4EB-4F0E-8068-E55A9CF60141}" type="datetimeFigureOut">
              <a:rPr lang="ko-KR" altLang="en-US" smtClean="0"/>
              <a:t>2026. 6. 16.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502FC16-323E-4E2A-9400-5C57D66B73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C79CB28-18D5-4268-B90C-7668BDAB89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70CDAB-34C3-473D-8088-E490D5FEF9D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027410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E8953C8-48FA-422F-A303-199C3B0598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301072D-1CB2-44D0-ACF4-5C0A27DA14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4CA7D1F-792A-4A75-AAFB-E3B920FE81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ADEA6B-D4EB-4F0E-8068-E55A9CF60141}" type="datetimeFigureOut">
              <a:rPr lang="ko-KR" altLang="en-US" smtClean="0"/>
              <a:t>2026. 6. 16.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E8A180A-00B6-4039-B66A-496FD0792B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251E218-21BB-482B-88A8-6101420314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70CDAB-34C3-473D-8088-E490D5FEF9D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580512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0A2C589-B43D-409B-88E8-D5100BFDCD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5C5861B-CED6-4A16-99DD-811F4648425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530D6E88-2B5B-4ADA-B767-531235C249C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53DC1DA-8D4A-4264-8279-36936E5BB6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ADEA6B-D4EB-4F0E-8068-E55A9CF60141}" type="datetimeFigureOut">
              <a:rPr lang="ko-KR" altLang="en-US" smtClean="0"/>
              <a:t>2026. 6. 16.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458044C-5D37-4AE2-8E5C-37A76C6239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D34ECEB-9828-4C0E-A602-45F2B696DB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70CDAB-34C3-473D-8088-E490D5FEF9D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399762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3CDA8E4-C09C-4EE7-8961-1BB47A9127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039739A-27D2-4BED-84BA-8F8B72EFDA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5F524897-907D-4CE5-BC8F-23A328CC317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794E9FF0-4F86-4A64-85BB-FE22D29B69A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ED12B99D-1449-47EA-9598-2F7EBDA7CC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CADE1EB7-A070-49C9-A3CA-CFDAE4CA51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ADEA6B-D4EB-4F0E-8068-E55A9CF60141}" type="datetimeFigureOut">
              <a:rPr lang="ko-KR" altLang="en-US" smtClean="0"/>
              <a:t>2026. 6. 16.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6190FD24-21AE-4047-9630-FBC8AD73A1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3E5D6B23-EAFF-4A2B-90C6-F19958611F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70CDAB-34C3-473D-8088-E490D5FEF9D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774088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9A33DDF-893F-4DD3-8E31-CC4FC3C2D0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12DA381A-F505-4465-B024-0CC2DFB259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ADEA6B-D4EB-4F0E-8068-E55A9CF60141}" type="datetimeFigureOut">
              <a:rPr lang="ko-KR" altLang="en-US" smtClean="0"/>
              <a:t>2026. 6. 16.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B7693004-58E1-4FB9-8E74-461B2166E1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1106B530-E2A6-4DD8-A3FC-63AB52CF2E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70CDAB-34C3-473D-8088-E490D5FEF9D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861567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2B2EA456-32F4-4149-9EA3-E0C8998C1A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ADEA6B-D4EB-4F0E-8068-E55A9CF60141}" type="datetimeFigureOut">
              <a:rPr lang="ko-KR" altLang="en-US" smtClean="0"/>
              <a:t>2026. 6. 16.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EA0C7499-0D8E-40D0-B606-4870E59D4E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633290C-C938-4572-900B-A5B2E4B0FB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70CDAB-34C3-473D-8088-E490D5FEF9D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207602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4FF072D-CFC0-451D-BE50-2D0FD97C44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86EDDB8-1592-46D6-BD43-30F76FBED9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C8EC8269-5557-4793-A163-78200EAE691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C81673F-E19F-4076-9AF3-F84CA6452B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ADEA6B-D4EB-4F0E-8068-E55A9CF60141}" type="datetimeFigureOut">
              <a:rPr lang="ko-KR" altLang="en-US" smtClean="0"/>
              <a:t>2026. 6. 16.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4982D51-CA63-4815-8132-558D66E8E9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03C7EAC-3052-479D-8219-EF9722A1A8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70CDAB-34C3-473D-8088-E490D5FEF9D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794619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C7D8C8A-AC57-4DE5-8658-04A077F0F5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2ABC816A-A943-4FE3-8A0C-62D4F10B19C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319E11F-8892-4695-9228-B2BA82AA181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CBC0024-E3C2-46CB-A5D8-FAE88B0A19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ADEA6B-D4EB-4F0E-8068-E55A9CF60141}" type="datetimeFigureOut">
              <a:rPr lang="ko-KR" altLang="en-US" smtClean="0"/>
              <a:t>2026. 6. 16.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80CE50C-3BC5-4280-BF07-506E18A5FA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CC7F1CC-C04D-467C-9BAC-600AC997E8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70CDAB-34C3-473D-8088-E490D5FEF9D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882519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833E7AA-C5AB-4AD9-804D-B14AD43317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4BDAA87D-6957-49D8-886D-DE0668BE401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1A93462-7E71-4C13-A0D9-09F87A1561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ADEA6B-D4EB-4F0E-8068-E55A9CF60141}" type="datetimeFigureOut">
              <a:rPr lang="ko-KR" altLang="en-US" smtClean="0"/>
              <a:t>2026. 6. 16.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7A75F62-790B-45E2-9AFE-1BB327BF96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907CB39-54A9-47AD-A60F-E168D783FA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70CDAB-34C3-473D-8088-E490D5FEF9D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672526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477FAE81-D547-4B54-9317-C4F0C0FF2BB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6A618107-CA25-47BF-B916-B161851B771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9E2010F-4B7F-4204-870E-3A00410EC2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ADEA6B-D4EB-4F0E-8068-E55A9CF60141}" type="datetimeFigureOut">
              <a:rPr lang="ko-KR" altLang="en-US" smtClean="0"/>
              <a:t>2026. 6. 16.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451BBC5-5186-4951-B7A5-3E7870571F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FB6EEFC-4AA9-4EB3-B49C-AF4AFB4ED9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70CDAB-34C3-473D-8088-E490D5FEF9D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432979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D2C8A0F0-69CB-4344-89BB-FDC9EE82CE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E66D7F9-91AF-4340-9043-F945F950A0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C54CCC1-8F2A-469C-B91C-AF71E93116C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EADEA6B-D4EB-4F0E-8068-E55A9CF60141}" type="datetimeFigureOut">
              <a:rPr lang="ko-KR" altLang="en-US" smtClean="0"/>
              <a:t>2026. 6. 16.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BEBF15F-8E9A-4649-9E0E-837DDC16D86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D1132AB-DBE9-4840-B65B-F367E1E1C0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970CDAB-34C3-473D-8088-E490D5FEF9D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902499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12" Type="http://schemas.openxmlformats.org/officeDocument/2006/relationships/image" Target="../media/image11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svg"/><Relationship Id="rId11" Type="http://schemas.openxmlformats.org/officeDocument/2006/relationships/image" Target="../media/image10.svg"/><Relationship Id="rId5" Type="http://schemas.openxmlformats.org/officeDocument/2006/relationships/image" Target="../media/image4.svg"/><Relationship Id="rId10" Type="http://schemas.openxmlformats.org/officeDocument/2006/relationships/image" Target="../media/image9.svg"/><Relationship Id="rId4" Type="http://schemas.openxmlformats.org/officeDocument/2006/relationships/image" Target="../media/image3.svg"/><Relationship Id="rId9" Type="http://schemas.openxmlformats.org/officeDocument/2006/relationships/image" Target="../media/image8.sv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svg"/><Relationship Id="rId3" Type="http://schemas.openxmlformats.org/officeDocument/2006/relationships/image" Target="../media/image6.svg"/><Relationship Id="rId7" Type="http://schemas.openxmlformats.org/officeDocument/2006/relationships/image" Target="../media/image10.svg"/><Relationship Id="rId2" Type="http://schemas.openxmlformats.org/officeDocument/2006/relationships/image" Target="../media/image5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svg"/><Relationship Id="rId5" Type="http://schemas.openxmlformats.org/officeDocument/2006/relationships/image" Target="../media/image8.svg"/><Relationship Id="rId4" Type="http://schemas.openxmlformats.org/officeDocument/2006/relationships/image" Target="../media/image7.sv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image" Target="../media/image13.svg"/><Relationship Id="rId7" Type="http://schemas.openxmlformats.org/officeDocument/2006/relationships/image" Target="../media/image6.svg"/><Relationship Id="rId2" Type="http://schemas.openxmlformats.org/officeDocument/2006/relationships/image" Target="../media/image12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svg"/><Relationship Id="rId5" Type="http://schemas.openxmlformats.org/officeDocument/2006/relationships/image" Target="../media/image1.svg"/><Relationship Id="rId10" Type="http://schemas.openxmlformats.org/officeDocument/2006/relationships/image" Target="../media/image4.svg"/><Relationship Id="rId4" Type="http://schemas.openxmlformats.org/officeDocument/2006/relationships/image" Target="../media/image8.svg"/><Relationship Id="rId9" Type="http://schemas.openxmlformats.org/officeDocument/2006/relationships/image" Target="../media/image9.sv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svg"/><Relationship Id="rId3" Type="http://schemas.openxmlformats.org/officeDocument/2006/relationships/image" Target="../media/image1.svg"/><Relationship Id="rId7" Type="http://schemas.openxmlformats.org/officeDocument/2006/relationships/image" Target="../media/image7.svg"/><Relationship Id="rId2" Type="http://schemas.openxmlformats.org/officeDocument/2006/relationships/image" Target="../media/image14.sv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svg"/><Relationship Id="rId5" Type="http://schemas.openxmlformats.org/officeDocument/2006/relationships/image" Target="../media/image9.svg"/><Relationship Id="rId10" Type="http://schemas.openxmlformats.org/officeDocument/2006/relationships/image" Target="../media/image4.svg"/><Relationship Id="rId4" Type="http://schemas.openxmlformats.org/officeDocument/2006/relationships/image" Target="../media/image15.svg"/><Relationship Id="rId9" Type="http://schemas.openxmlformats.org/officeDocument/2006/relationships/image" Target="../media/image2.sv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svg"/><Relationship Id="rId3" Type="http://schemas.openxmlformats.org/officeDocument/2006/relationships/image" Target="../media/image6.svg"/><Relationship Id="rId7" Type="http://schemas.openxmlformats.org/officeDocument/2006/relationships/image" Target="../media/image10.svg"/><Relationship Id="rId2" Type="http://schemas.openxmlformats.org/officeDocument/2006/relationships/image" Target="../media/image5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svg"/><Relationship Id="rId5" Type="http://schemas.openxmlformats.org/officeDocument/2006/relationships/image" Target="../media/image8.svg"/><Relationship Id="rId10" Type="http://schemas.openxmlformats.org/officeDocument/2006/relationships/image" Target="../media/image4.svg"/><Relationship Id="rId4" Type="http://schemas.openxmlformats.org/officeDocument/2006/relationships/image" Target="../media/image7.svg"/><Relationship Id="rId9" Type="http://schemas.openxmlformats.org/officeDocument/2006/relationships/image" Target="../media/image15.sv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그룹 2">
            <a:extLst>
              <a:ext uri="{FF2B5EF4-FFF2-40B4-BE49-F238E27FC236}">
                <a16:creationId xmlns:a16="http://schemas.microsoft.com/office/drawing/2014/main" id="{C00E3672-88FA-3E1C-83C6-449266194A3C}"/>
              </a:ext>
            </a:extLst>
          </p:cNvPr>
          <p:cNvGrpSpPr/>
          <p:nvPr/>
        </p:nvGrpSpPr>
        <p:grpSpPr>
          <a:xfrm>
            <a:off x="7942268" y="2833429"/>
            <a:ext cx="1468727" cy="1011198"/>
            <a:chOff x="2609706" y="2803525"/>
            <a:chExt cx="1468727" cy="1011198"/>
          </a:xfrm>
        </p:grpSpPr>
        <p:pic>
          <p:nvPicPr>
            <p:cNvPr id="5" name="Graphic 6" descr="Endpoint resource icon for the Amazon API Gateway service.">
              <a:extLst>
                <a:ext uri="{FF2B5EF4-FFF2-40B4-BE49-F238E27FC236}">
                  <a16:creationId xmlns:a16="http://schemas.microsoft.com/office/drawing/2014/main" id="{66ECF523-9243-C934-F352-591D123B69D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/>
          </p:blipFill>
          <p:spPr bwMode="auto">
            <a:xfrm>
              <a:off x="3123554" y="2803525"/>
              <a:ext cx="45720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8" name="TextBox 16">
              <a:extLst>
                <a:ext uri="{FF2B5EF4-FFF2-40B4-BE49-F238E27FC236}">
                  <a16:creationId xmlns:a16="http://schemas.microsoft.com/office/drawing/2014/main" id="{1BE21A4C-FFEF-AC2F-592F-5E6483B0860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09706" y="3260725"/>
              <a:ext cx="1468727" cy="5539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en-US" sz="1000" dirty="0">
                  <a:solidFill>
                    <a:srgbClr val="000000"/>
                  </a:solidFill>
                  <a:latin typeface="Arial" panose="020B0604020202020204" pitchFamily="34" charset="0"/>
                  <a:ea typeface="Amazon Ember" panose="020B0603020204020204" pitchFamily="34" charset="0"/>
                  <a:cs typeface="Arial" panose="020B0604020202020204" pitchFamily="34" charset="0"/>
                </a:rPr>
                <a:t>Gateway</a:t>
              </a:r>
            </a:p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Amazon Ember" panose="020B0603020204020204" pitchFamily="34" charset="0"/>
                  <a:cs typeface="Arial" panose="020B0604020202020204" pitchFamily="34" charset="0"/>
                </a:rPr>
                <a:t>Endpoint</a:t>
              </a:r>
              <a:br>
                <a:rPr kumimoji="0" lang="en-US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Amazon Ember" panose="020B0603020204020204" pitchFamily="34" charset="0"/>
                  <a:cs typeface="Arial" panose="020B0604020202020204" pitchFamily="34" charset="0"/>
                </a:rPr>
              </a:br>
              <a:r>
                <a:rPr kumimoji="0" lang="en-US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Amazon Ember" panose="020B0603020204020204" pitchFamily="34" charset="0"/>
                  <a:cs typeface="Arial" panose="020B0604020202020204" pitchFamily="34" charset="0"/>
                </a:rPr>
                <a:t>(GEP)</a:t>
              </a:r>
            </a:p>
          </p:txBody>
        </p:sp>
      </p:grpSp>
      <p:grpSp>
        <p:nvGrpSpPr>
          <p:cNvPr id="44" name="그룹 43">
            <a:extLst>
              <a:ext uri="{FF2B5EF4-FFF2-40B4-BE49-F238E27FC236}">
                <a16:creationId xmlns:a16="http://schemas.microsoft.com/office/drawing/2014/main" id="{00755194-389D-3911-4E6A-7AC5D773117E}"/>
              </a:ext>
            </a:extLst>
          </p:cNvPr>
          <p:cNvGrpSpPr/>
          <p:nvPr/>
        </p:nvGrpSpPr>
        <p:grpSpPr>
          <a:xfrm>
            <a:off x="9538157" y="2782780"/>
            <a:ext cx="1644650" cy="1011991"/>
            <a:chOff x="8512175" y="2804320"/>
            <a:chExt cx="1644650" cy="1011991"/>
          </a:xfrm>
        </p:grpSpPr>
        <p:pic>
          <p:nvPicPr>
            <p:cNvPr id="11" name="Graphic 69" descr="Endpoints resource icon for the Amazon VPC service.&#10;">
              <a:extLst>
                <a:ext uri="{FF2B5EF4-FFF2-40B4-BE49-F238E27FC236}">
                  <a16:creationId xmlns:a16="http://schemas.microsoft.com/office/drawing/2014/main" id="{2D4D50E3-DBA5-BF9B-197A-C1CB91F0BBA2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101029" y="2804320"/>
              <a:ext cx="457200" cy="457200"/>
            </a:xfrm>
            <a:prstGeom prst="rect">
              <a:avLst/>
            </a:prstGeom>
          </p:spPr>
        </p:pic>
        <p:sp>
          <p:nvSpPr>
            <p:cNvPr id="12" name="TextBox 25">
              <a:extLst>
                <a:ext uri="{FF2B5EF4-FFF2-40B4-BE49-F238E27FC236}">
                  <a16:creationId xmlns:a16="http://schemas.microsoft.com/office/drawing/2014/main" id="{E6D25E1E-4B91-152E-BFF3-D2195D23480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512175" y="3262313"/>
              <a:ext cx="1644650" cy="5539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Amazon Ember" panose="020B0603020204020204" pitchFamily="34" charset="0"/>
                  <a:cs typeface="Arial" panose="020B0604020202020204" pitchFamily="34" charset="0"/>
                </a:rPr>
                <a:t>Interface</a:t>
              </a:r>
            </a:p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Amazon Ember" panose="020B0603020204020204" pitchFamily="34" charset="0"/>
                  <a:cs typeface="Arial" panose="020B0604020202020204" pitchFamily="34" charset="0"/>
                </a:rPr>
                <a:t>Endpoints</a:t>
              </a:r>
            </a:p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en-US" sz="1000" dirty="0">
                  <a:solidFill>
                    <a:srgbClr val="000000"/>
                  </a:solidFill>
                  <a:latin typeface="Arial" panose="020B0604020202020204" pitchFamily="34" charset="0"/>
                  <a:ea typeface="Amazon Ember" panose="020B0603020204020204" pitchFamily="34" charset="0"/>
                  <a:cs typeface="Arial" panose="020B0604020202020204" pitchFamily="34" charset="0"/>
                </a:rPr>
                <a:t>(IEP)</a:t>
              </a:r>
              <a:endParaRPr kumimoji="0" lang="en-US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48" name="그룹 47">
            <a:extLst>
              <a:ext uri="{FF2B5EF4-FFF2-40B4-BE49-F238E27FC236}">
                <a16:creationId xmlns:a16="http://schemas.microsoft.com/office/drawing/2014/main" id="{20FB040E-868B-EC19-9B3A-92CBE4AD29BD}"/>
              </a:ext>
            </a:extLst>
          </p:cNvPr>
          <p:cNvGrpSpPr/>
          <p:nvPr/>
        </p:nvGrpSpPr>
        <p:grpSpPr>
          <a:xfrm>
            <a:off x="8286656" y="4784942"/>
            <a:ext cx="1368424" cy="1165086"/>
            <a:chOff x="6992937" y="4784942"/>
            <a:chExt cx="1368424" cy="1165086"/>
          </a:xfrm>
        </p:grpSpPr>
        <p:pic>
          <p:nvPicPr>
            <p:cNvPr id="14" name="Graphic 32" descr="Endpoints resource icon for the AWS Network Firewall service.">
              <a:extLst>
                <a:ext uri="{FF2B5EF4-FFF2-40B4-BE49-F238E27FC236}">
                  <a16:creationId xmlns:a16="http://schemas.microsoft.com/office/drawing/2014/main" id="{5ACC0877-D6D9-4E7E-E4BF-8205DC3E38FE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/>
          </p:blipFill>
          <p:spPr>
            <a:xfrm>
              <a:off x="7437435" y="4784942"/>
              <a:ext cx="457200" cy="457200"/>
            </a:xfrm>
            <a:prstGeom prst="rect">
              <a:avLst/>
            </a:prstGeom>
          </p:spPr>
        </p:pic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9B194C9A-1D70-2D4D-791E-420FEB20775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992937" y="5242142"/>
              <a:ext cx="1368424" cy="7078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en-US" sz="1000" dirty="0">
                  <a:solidFill>
                    <a:srgbClr val="000000"/>
                  </a:solidFill>
                  <a:latin typeface="Arial" panose="020B0604020202020204" pitchFamily="34" charset="0"/>
                  <a:ea typeface="Amazon Ember" panose="020B0603020204020204" pitchFamily="34" charset="0"/>
                  <a:cs typeface="Arial" panose="020B0604020202020204" pitchFamily="34" charset="0"/>
                </a:rPr>
                <a:t>Gateway Load Balancer</a:t>
              </a:r>
              <a:endParaRPr kumimoji="0" lang="en-US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endParaRPr>
            </a:p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Amazon Ember" panose="020B0603020204020204" pitchFamily="34" charset="0"/>
                  <a:cs typeface="Arial" panose="020B0604020202020204" pitchFamily="34" charset="0"/>
                </a:rPr>
                <a:t>Endpoints</a:t>
              </a:r>
            </a:p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en-US" sz="1000" dirty="0">
                  <a:solidFill>
                    <a:srgbClr val="000000"/>
                  </a:solidFill>
                  <a:latin typeface="Arial" panose="020B0604020202020204" pitchFamily="34" charset="0"/>
                  <a:ea typeface="Amazon Ember" panose="020B0603020204020204" pitchFamily="34" charset="0"/>
                  <a:cs typeface="Arial" panose="020B0604020202020204" pitchFamily="34" charset="0"/>
                </a:rPr>
                <a:t>(GWLBE)</a:t>
              </a:r>
              <a:endParaRPr kumimoji="0" lang="en-US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05AB93FB-CC63-42AA-8ABB-88A282933522}"/>
              </a:ext>
            </a:extLst>
          </p:cNvPr>
          <p:cNvGrpSpPr/>
          <p:nvPr/>
        </p:nvGrpSpPr>
        <p:grpSpPr>
          <a:xfrm>
            <a:off x="7523268" y="3743110"/>
            <a:ext cx="591948" cy="704214"/>
            <a:chOff x="6229549" y="3743110"/>
            <a:chExt cx="591948" cy="704214"/>
          </a:xfrm>
        </p:grpSpPr>
        <p:pic>
          <p:nvPicPr>
            <p:cNvPr id="113" name="Graphic 71" descr="Router resource icon for the Amazon VPC service.&#10;">
              <a:extLst>
                <a:ext uri="{FF2B5EF4-FFF2-40B4-BE49-F238E27FC236}">
                  <a16:creationId xmlns:a16="http://schemas.microsoft.com/office/drawing/2014/main" id="{6FFE243C-DF17-43C9-8B77-886F4D95EAD8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6293652" y="3743110"/>
              <a:ext cx="457200" cy="457200"/>
            </a:xfrm>
            <a:prstGeom prst="rect">
              <a:avLst/>
            </a:prstGeom>
          </p:spPr>
        </p:pic>
        <p:sp>
          <p:nvSpPr>
            <p:cNvPr id="114" name="TextBox 27">
              <a:extLst>
                <a:ext uri="{FF2B5EF4-FFF2-40B4-BE49-F238E27FC236}">
                  <a16:creationId xmlns:a16="http://schemas.microsoft.com/office/drawing/2014/main" id="{870BAAA4-83DC-4EE2-9C17-4A6C9B138D6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229549" y="4201103"/>
              <a:ext cx="591948" cy="2462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Amazon Ember" panose="020B0603020204020204" pitchFamily="34" charset="0"/>
                  <a:cs typeface="Arial" panose="020B0604020202020204" pitchFamily="34" charset="0"/>
                </a:rPr>
                <a:t>Router</a:t>
              </a:r>
            </a:p>
          </p:txBody>
        </p:sp>
      </p:grp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D53ADD62-5F3E-4D8F-84D0-9EBC5834F156}"/>
              </a:ext>
            </a:extLst>
          </p:cNvPr>
          <p:cNvGrpSpPr/>
          <p:nvPr/>
        </p:nvGrpSpPr>
        <p:grpSpPr>
          <a:xfrm>
            <a:off x="64655" y="233743"/>
            <a:ext cx="6934023" cy="1837929"/>
            <a:chOff x="64655" y="233743"/>
            <a:chExt cx="6934023" cy="1837929"/>
          </a:xfrm>
        </p:grpSpPr>
        <p:grpSp>
          <p:nvGrpSpPr>
            <p:cNvPr id="30" name="그룹 29">
              <a:extLst>
                <a:ext uri="{FF2B5EF4-FFF2-40B4-BE49-F238E27FC236}">
                  <a16:creationId xmlns:a16="http://schemas.microsoft.com/office/drawing/2014/main" id="{C701BA5D-A49A-4E86-BF1A-C77DB532E85B}"/>
                </a:ext>
              </a:extLst>
            </p:cNvPr>
            <p:cNvGrpSpPr/>
            <p:nvPr/>
          </p:nvGrpSpPr>
          <p:grpSpPr>
            <a:xfrm>
              <a:off x="64655" y="639111"/>
              <a:ext cx="788342" cy="703421"/>
              <a:chOff x="1125660" y="2412493"/>
              <a:chExt cx="788342" cy="703421"/>
            </a:xfrm>
          </p:grpSpPr>
          <p:pic>
            <p:nvPicPr>
              <p:cNvPr id="4" name="Graphic 22" descr="User resource icon for the General Icons category.">
                <a:extLst>
                  <a:ext uri="{FF2B5EF4-FFF2-40B4-BE49-F238E27FC236}">
                    <a16:creationId xmlns:a16="http://schemas.microsoft.com/office/drawing/2014/main" id="{D293F237-FE28-4B8C-8A87-131787862329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rcRect/>
              <a:stretch/>
            </p:blipFill>
            <p:spPr bwMode="auto">
              <a:xfrm>
                <a:off x="1296834" y="2412493"/>
                <a:ext cx="457200" cy="4572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24" name="TextBox 16">
                <a:extLst>
                  <a:ext uri="{FF2B5EF4-FFF2-40B4-BE49-F238E27FC236}">
                    <a16:creationId xmlns:a16="http://schemas.microsoft.com/office/drawing/2014/main" id="{566A5201-8E8F-49BC-95E5-AA1267F1D63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125660" y="2869693"/>
                <a:ext cx="788342" cy="24622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0" rIns="0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000" b="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Arial" panose="020B0604020202020204" pitchFamily="34" charset="0"/>
                    <a:ea typeface="Amazon Ember" panose="020B0603020204020204" pitchFamily="34" charset="0"/>
                    <a:cs typeface="Arial" panose="020B0604020202020204" pitchFamily="34" charset="0"/>
                  </a:rPr>
                  <a:t>User</a:t>
                </a:r>
              </a:p>
            </p:txBody>
          </p:sp>
        </p:grpSp>
        <p:grpSp>
          <p:nvGrpSpPr>
            <p:cNvPr id="31" name="그룹 30">
              <a:extLst>
                <a:ext uri="{FF2B5EF4-FFF2-40B4-BE49-F238E27FC236}">
                  <a16:creationId xmlns:a16="http://schemas.microsoft.com/office/drawing/2014/main" id="{409EFEC8-7CA7-46FC-AEC2-48BE428E6F5D}"/>
                </a:ext>
              </a:extLst>
            </p:cNvPr>
            <p:cNvGrpSpPr/>
            <p:nvPr/>
          </p:nvGrpSpPr>
          <p:grpSpPr>
            <a:xfrm>
              <a:off x="963382" y="639111"/>
              <a:ext cx="788342" cy="703421"/>
              <a:chOff x="3241791" y="2412493"/>
              <a:chExt cx="788342" cy="703421"/>
            </a:xfrm>
          </p:grpSpPr>
          <p:pic>
            <p:nvPicPr>
              <p:cNvPr id="9" name="Graphic 63" descr="Internet gateway resource icon for the Amazon VPC service.&#10;">
                <a:extLst>
                  <a:ext uri="{FF2B5EF4-FFF2-40B4-BE49-F238E27FC236}">
                    <a16:creationId xmlns:a16="http://schemas.microsoft.com/office/drawing/2014/main" id="{27D10B3B-D01E-4D75-8C60-8E8EA999ED0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p:blipFill>
            <p:spPr>
              <a:xfrm>
                <a:off x="3407362" y="2412493"/>
                <a:ext cx="457200" cy="457200"/>
              </a:xfrm>
              <a:prstGeom prst="rect">
                <a:avLst/>
              </a:prstGeom>
            </p:spPr>
          </p:pic>
          <p:sp>
            <p:nvSpPr>
              <p:cNvPr id="25" name="TextBox 16">
                <a:extLst>
                  <a:ext uri="{FF2B5EF4-FFF2-40B4-BE49-F238E27FC236}">
                    <a16:creationId xmlns:a16="http://schemas.microsoft.com/office/drawing/2014/main" id="{4C7BDD90-87CE-4258-8521-B7F753B9C65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241791" y="2869693"/>
                <a:ext cx="788342" cy="24622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0" rIns="0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000" b="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Arial" panose="020B0604020202020204" pitchFamily="34" charset="0"/>
                    <a:ea typeface="Amazon Ember" panose="020B0603020204020204" pitchFamily="34" charset="0"/>
                    <a:cs typeface="Arial" panose="020B0604020202020204" pitchFamily="34" charset="0"/>
                  </a:rPr>
                  <a:t>IGW</a:t>
                </a:r>
              </a:p>
            </p:txBody>
          </p:sp>
        </p:grpSp>
        <p:grpSp>
          <p:nvGrpSpPr>
            <p:cNvPr id="33" name="그룹 32">
              <a:extLst>
                <a:ext uri="{FF2B5EF4-FFF2-40B4-BE49-F238E27FC236}">
                  <a16:creationId xmlns:a16="http://schemas.microsoft.com/office/drawing/2014/main" id="{59465786-B24E-4CEF-AC25-A541161C404A}"/>
                </a:ext>
              </a:extLst>
            </p:cNvPr>
            <p:cNvGrpSpPr/>
            <p:nvPr/>
          </p:nvGrpSpPr>
          <p:grpSpPr>
            <a:xfrm>
              <a:off x="2717587" y="639111"/>
              <a:ext cx="788342" cy="703421"/>
              <a:chOff x="5473229" y="2412493"/>
              <a:chExt cx="788342" cy="703421"/>
            </a:xfrm>
          </p:grpSpPr>
          <p:pic>
            <p:nvPicPr>
              <p:cNvPr id="19" name="Graphic 81" descr="Network access control list resource icon for the Amazon VPC service.&#10;">
                <a:extLst>
                  <a:ext uri="{FF2B5EF4-FFF2-40B4-BE49-F238E27FC236}">
                    <a16:creationId xmlns:a16="http://schemas.microsoft.com/office/drawing/2014/main" id="{17A658D6-7849-471E-B1D7-1A729D05035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/>
              </a:stretch>
            </p:blipFill>
            <p:spPr>
              <a:xfrm>
                <a:off x="5638800" y="2412493"/>
                <a:ext cx="457200" cy="457200"/>
              </a:xfrm>
              <a:prstGeom prst="rect">
                <a:avLst/>
              </a:prstGeom>
            </p:spPr>
          </p:pic>
          <p:sp>
            <p:nvSpPr>
              <p:cNvPr id="27" name="TextBox 16">
                <a:extLst>
                  <a:ext uri="{FF2B5EF4-FFF2-40B4-BE49-F238E27FC236}">
                    <a16:creationId xmlns:a16="http://schemas.microsoft.com/office/drawing/2014/main" id="{171F02B5-ED2E-4F67-BAB7-1547860AECD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473229" y="2869693"/>
                <a:ext cx="788342" cy="24622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0" rIns="0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000" b="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Arial" panose="020B0604020202020204" pitchFamily="34" charset="0"/>
                    <a:ea typeface="Amazon Ember" panose="020B0603020204020204" pitchFamily="34" charset="0"/>
                    <a:cs typeface="Arial" panose="020B0604020202020204" pitchFamily="34" charset="0"/>
                  </a:rPr>
                  <a:t>NACL</a:t>
                </a:r>
              </a:p>
            </p:txBody>
          </p:sp>
        </p:grpSp>
        <p:grpSp>
          <p:nvGrpSpPr>
            <p:cNvPr id="43" name="그룹 42">
              <a:extLst>
                <a:ext uri="{FF2B5EF4-FFF2-40B4-BE49-F238E27FC236}">
                  <a16:creationId xmlns:a16="http://schemas.microsoft.com/office/drawing/2014/main" id="{7232D50C-817B-41E3-9773-7451475AD0D7}"/>
                </a:ext>
              </a:extLst>
            </p:cNvPr>
            <p:cNvGrpSpPr/>
            <p:nvPr/>
          </p:nvGrpSpPr>
          <p:grpSpPr>
            <a:xfrm>
              <a:off x="3751337" y="368685"/>
              <a:ext cx="3079184" cy="1659164"/>
              <a:chOff x="6697133" y="2142067"/>
              <a:chExt cx="3079184" cy="1659164"/>
            </a:xfrm>
          </p:grpSpPr>
          <p:sp>
            <p:nvSpPr>
              <p:cNvPr id="35" name="직사각형 34">
                <a:extLst>
                  <a:ext uri="{FF2B5EF4-FFF2-40B4-BE49-F238E27FC236}">
                    <a16:creationId xmlns:a16="http://schemas.microsoft.com/office/drawing/2014/main" id="{97352FBE-0800-4229-98CB-67729947E659}"/>
                  </a:ext>
                </a:extLst>
              </p:cNvPr>
              <p:cNvSpPr/>
              <p:nvPr/>
            </p:nvSpPr>
            <p:spPr>
              <a:xfrm>
                <a:off x="6697133" y="2142067"/>
                <a:ext cx="1464736" cy="1422400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/>
              </a:p>
            </p:txBody>
          </p:sp>
          <p:grpSp>
            <p:nvGrpSpPr>
              <p:cNvPr id="34" name="그룹 33">
                <a:extLst>
                  <a:ext uri="{FF2B5EF4-FFF2-40B4-BE49-F238E27FC236}">
                    <a16:creationId xmlns:a16="http://schemas.microsoft.com/office/drawing/2014/main" id="{B9A1B768-AF00-4F06-AE90-8283C30DEEC8}"/>
                  </a:ext>
                </a:extLst>
              </p:cNvPr>
              <p:cNvGrpSpPr/>
              <p:nvPr/>
            </p:nvGrpSpPr>
            <p:grpSpPr>
              <a:xfrm>
                <a:off x="7029643" y="2412493"/>
                <a:ext cx="788342" cy="703421"/>
                <a:chOff x="7029643" y="2412493"/>
                <a:chExt cx="788342" cy="703421"/>
              </a:xfrm>
            </p:grpSpPr>
            <p:pic>
              <p:nvPicPr>
                <p:cNvPr id="23" name="Graphic 60">
                  <a:extLst>
                    <a:ext uri="{FF2B5EF4-FFF2-40B4-BE49-F238E27FC236}">
                      <a16:creationId xmlns:a16="http://schemas.microsoft.com/office/drawing/2014/main" id="{E2C68013-06EE-4E64-AFD8-48F7E3EB4B89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9"/>
                    </a:ext>
                  </a:extLst>
                </a:blip>
                <a:srcRect/>
                <a:stretch/>
              </p:blipFill>
              <p:spPr bwMode="auto">
                <a:xfrm>
                  <a:off x="7195214" y="2412493"/>
                  <a:ext cx="457200" cy="45720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sp>
              <p:nvSpPr>
                <p:cNvPr id="29" name="TextBox 16">
                  <a:extLst>
                    <a:ext uri="{FF2B5EF4-FFF2-40B4-BE49-F238E27FC236}">
                      <a16:creationId xmlns:a16="http://schemas.microsoft.com/office/drawing/2014/main" id="{490218DD-43CF-40DC-B6EF-95D7FCB55186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7029643" y="2869693"/>
                  <a:ext cx="788342" cy="24622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square" lIns="0" rIns="0">
                  <a:spAutoFit/>
                </a:bodyPr>
                <a:lstStyle>
                  <a:lvl1pPr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9pPr>
                </a:lstStyle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lang="en-US" altLang="en-US" sz="1000" dirty="0">
                      <a:latin typeface="Arial" panose="020B0604020202020204" pitchFamily="34" charset="0"/>
                      <a:ea typeface="Amazon Ember" panose="020B0603020204020204" pitchFamily="34" charset="0"/>
                      <a:cs typeface="Arial" panose="020B0604020202020204" pitchFamily="34" charset="0"/>
                    </a:rPr>
                    <a:t>Web Instance</a:t>
                  </a:r>
                  <a:endParaRPr kumimoji="0" lang="en-US" altLang="en-US" sz="1000" b="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Arial" panose="020B0604020202020204" pitchFamily="34" charset="0"/>
                    <a:ea typeface="Amazon Ember" panose="020B0603020204020204" pitchFamily="34" charset="0"/>
                    <a:cs typeface="Arial" panose="020B0604020202020204" pitchFamily="34" charset="0"/>
                  </a:endParaRPr>
                </a:p>
              </p:txBody>
            </p:sp>
          </p:grpSp>
          <p:sp>
            <p:nvSpPr>
              <p:cNvPr id="36" name="직사각형 35">
                <a:extLst>
                  <a:ext uri="{FF2B5EF4-FFF2-40B4-BE49-F238E27FC236}">
                    <a16:creationId xmlns:a16="http://schemas.microsoft.com/office/drawing/2014/main" id="{E05326DD-4155-4C21-82A1-BFD6AED628A5}"/>
                  </a:ext>
                </a:extLst>
              </p:cNvPr>
              <p:cNvSpPr/>
              <p:nvPr/>
            </p:nvSpPr>
            <p:spPr>
              <a:xfrm>
                <a:off x="8311581" y="2142067"/>
                <a:ext cx="1464736" cy="1422400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/>
              </a:p>
            </p:txBody>
          </p:sp>
          <p:grpSp>
            <p:nvGrpSpPr>
              <p:cNvPr id="37" name="그룹 36">
                <a:extLst>
                  <a:ext uri="{FF2B5EF4-FFF2-40B4-BE49-F238E27FC236}">
                    <a16:creationId xmlns:a16="http://schemas.microsoft.com/office/drawing/2014/main" id="{CD83DCD0-BF75-4E79-AF51-CCBFC375FF31}"/>
                  </a:ext>
                </a:extLst>
              </p:cNvPr>
              <p:cNvGrpSpPr/>
              <p:nvPr/>
            </p:nvGrpSpPr>
            <p:grpSpPr>
              <a:xfrm>
                <a:off x="8644091" y="2412493"/>
                <a:ext cx="788342" cy="703421"/>
                <a:chOff x="7029643" y="2412493"/>
                <a:chExt cx="788342" cy="703421"/>
              </a:xfrm>
            </p:grpSpPr>
            <p:pic>
              <p:nvPicPr>
                <p:cNvPr id="38" name="Graphic 60">
                  <a:extLst>
                    <a:ext uri="{FF2B5EF4-FFF2-40B4-BE49-F238E27FC236}">
                      <a16:creationId xmlns:a16="http://schemas.microsoft.com/office/drawing/2014/main" id="{CA1140FD-438E-4B3C-9BAB-293C1F78355F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9"/>
                    </a:ext>
                  </a:extLst>
                </a:blip>
                <a:srcRect/>
                <a:stretch/>
              </p:blipFill>
              <p:spPr bwMode="auto">
                <a:xfrm>
                  <a:off x="7195214" y="2412493"/>
                  <a:ext cx="457200" cy="45720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sp>
              <p:nvSpPr>
                <p:cNvPr id="39" name="TextBox 16">
                  <a:extLst>
                    <a:ext uri="{FF2B5EF4-FFF2-40B4-BE49-F238E27FC236}">
                      <a16:creationId xmlns:a16="http://schemas.microsoft.com/office/drawing/2014/main" id="{EE7E2CCA-DDA7-4478-8D0C-9A81AD9425E6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7029643" y="2869693"/>
                  <a:ext cx="788342" cy="24622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square" lIns="0" rIns="0">
                  <a:spAutoFit/>
                </a:bodyPr>
                <a:lstStyle>
                  <a:lvl1pPr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9pPr>
                </a:lstStyle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lang="en-US" altLang="en-US" sz="1000" dirty="0">
                      <a:latin typeface="Arial" panose="020B0604020202020204" pitchFamily="34" charset="0"/>
                      <a:ea typeface="Amazon Ember" panose="020B0603020204020204" pitchFamily="34" charset="0"/>
                      <a:cs typeface="Arial" panose="020B0604020202020204" pitchFamily="34" charset="0"/>
                    </a:rPr>
                    <a:t>Web Instance</a:t>
                  </a:r>
                  <a:endParaRPr kumimoji="0" lang="en-US" altLang="en-US" sz="1000" b="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Arial" panose="020B0604020202020204" pitchFamily="34" charset="0"/>
                    <a:ea typeface="Amazon Ember" panose="020B0603020204020204" pitchFamily="34" charset="0"/>
                    <a:cs typeface="Arial" panose="020B0604020202020204" pitchFamily="34" charset="0"/>
                  </a:endParaRPr>
                </a:p>
              </p:txBody>
            </p:sp>
          </p:grpSp>
          <p:sp>
            <p:nvSpPr>
              <p:cNvPr id="40" name="직사각형 39">
                <a:extLst>
                  <a:ext uri="{FF2B5EF4-FFF2-40B4-BE49-F238E27FC236}">
                    <a16:creationId xmlns:a16="http://schemas.microsoft.com/office/drawing/2014/main" id="{36215FE3-8DFA-4FE3-90FF-24FC736F39F1}"/>
                  </a:ext>
                </a:extLst>
              </p:cNvPr>
              <p:cNvSpPr/>
              <p:nvPr/>
            </p:nvSpPr>
            <p:spPr>
              <a:xfrm>
                <a:off x="6845491" y="2243667"/>
                <a:ext cx="2759752" cy="1185333"/>
              </a:xfrm>
              <a:prstGeom prst="rect">
                <a:avLst/>
              </a:prstGeom>
              <a:noFill/>
              <a:ln>
                <a:solidFill>
                  <a:srgbClr val="00B0F0"/>
                </a:solidFill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/>
              </a:p>
            </p:txBody>
          </p:sp>
          <p:sp>
            <p:nvSpPr>
              <p:cNvPr id="10" name="TextBox 12">
                <a:extLst>
                  <a:ext uri="{FF2B5EF4-FFF2-40B4-BE49-F238E27FC236}">
                    <a16:creationId xmlns:a16="http://schemas.microsoft.com/office/drawing/2014/main" id="{DCC440D8-0460-420C-85D3-92ECF1AC6C1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523691" y="2248848"/>
                <a:ext cx="1403350" cy="24622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Amazon Ember" panose="020B0603020204020204" pitchFamily="34" charset="0"/>
                    <a:cs typeface="Arial" panose="020B0604020202020204" pitchFamily="34" charset="0"/>
                  </a:rPr>
                  <a:t>Security Group</a:t>
                </a:r>
              </a:p>
            </p:txBody>
          </p:sp>
          <p:sp>
            <p:nvSpPr>
              <p:cNvPr id="41" name="TextBox 12">
                <a:extLst>
                  <a:ext uri="{FF2B5EF4-FFF2-40B4-BE49-F238E27FC236}">
                    <a16:creationId xmlns:a16="http://schemas.microsoft.com/office/drawing/2014/main" id="{A1B10D9B-99BF-4FAF-98C1-843AAC155D7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731666" y="3555010"/>
                <a:ext cx="1403350" cy="24622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Amazon Ember" panose="020B0603020204020204" pitchFamily="34" charset="0"/>
                    <a:cs typeface="Arial" panose="020B0604020202020204" pitchFamily="34" charset="0"/>
                  </a:rPr>
                  <a:t>Public Subnet</a:t>
                </a:r>
              </a:p>
            </p:txBody>
          </p:sp>
          <p:sp>
            <p:nvSpPr>
              <p:cNvPr id="42" name="TextBox 12">
                <a:extLst>
                  <a:ext uri="{FF2B5EF4-FFF2-40B4-BE49-F238E27FC236}">
                    <a16:creationId xmlns:a16="http://schemas.microsoft.com/office/drawing/2014/main" id="{FB4175A0-9684-4378-9579-DAA6FCE7219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8336587" y="3555010"/>
                <a:ext cx="1403350" cy="24622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Amazon Ember" panose="020B0603020204020204" pitchFamily="34" charset="0"/>
                    <a:cs typeface="Arial" panose="020B0604020202020204" pitchFamily="34" charset="0"/>
                  </a:rPr>
                  <a:t>Public Subnet</a:t>
                </a:r>
              </a:p>
            </p:txBody>
          </p:sp>
        </p:grpSp>
        <p:sp>
          <p:nvSpPr>
            <p:cNvPr id="51" name="Rectangle 39">
              <a:extLst>
                <a:ext uri="{FF2B5EF4-FFF2-40B4-BE49-F238E27FC236}">
                  <a16:creationId xmlns:a16="http://schemas.microsoft.com/office/drawing/2014/main" id="{61CCC801-B733-4F9A-8F55-4329EEED3337}"/>
                </a:ext>
              </a:extLst>
            </p:cNvPr>
            <p:cNvSpPr/>
            <p:nvPr/>
          </p:nvSpPr>
          <p:spPr>
            <a:xfrm>
              <a:off x="1218944" y="233743"/>
              <a:ext cx="5779734" cy="1824884"/>
            </a:xfrm>
            <a:prstGeom prst="rect">
              <a:avLst/>
            </a:prstGeom>
            <a:noFill/>
            <a:ln w="15875">
              <a:solidFill>
                <a:srgbClr val="8C4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502920" tIns="9144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1200" cap="none" spc="0" normalizeH="0" baseline="0" noProof="0" dirty="0">
                  <a:ln w="0"/>
                  <a:solidFill>
                    <a:schemeClr val="tx1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VPC</a:t>
              </a:r>
            </a:p>
          </p:txBody>
        </p:sp>
        <p:pic>
          <p:nvPicPr>
            <p:cNvPr id="52" name="Graphic 40" descr="VPC group icon. ">
              <a:extLst>
                <a:ext uri="{FF2B5EF4-FFF2-40B4-BE49-F238E27FC236}">
                  <a16:creationId xmlns:a16="http://schemas.microsoft.com/office/drawing/2014/main" id="{6789EC5B-3EC5-4E9F-AF63-F81C8DB398DC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rcRect/>
            <a:stretch/>
          </p:blipFill>
          <p:spPr>
            <a:xfrm>
              <a:off x="1218943" y="233743"/>
              <a:ext cx="381000" cy="381000"/>
            </a:xfrm>
            <a:prstGeom prst="rect">
              <a:avLst/>
            </a:prstGeom>
          </p:spPr>
        </p:pic>
        <p:grpSp>
          <p:nvGrpSpPr>
            <p:cNvPr id="216" name="그룹 215">
              <a:extLst>
                <a:ext uri="{FF2B5EF4-FFF2-40B4-BE49-F238E27FC236}">
                  <a16:creationId xmlns:a16="http://schemas.microsoft.com/office/drawing/2014/main" id="{14F7D07F-AD42-4C36-9C09-D5F26F7608BD}"/>
                </a:ext>
              </a:extLst>
            </p:cNvPr>
            <p:cNvGrpSpPr/>
            <p:nvPr/>
          </p:nvGrpSpPr>
          <p:grpSpPr>
            <a:xfrm>
              <a:off x="693029" y="761704"/>
              <a:ext cx="331142" cy="278595"/>
              <a:chOff x="1754034" y="2599738"/>
              <a:chExt cx="331142" cy="278595"/>
            </a:xfrm>
          </p:grpSpPr>
          <p:cxnSp>
            <p:nvCxnSpPr>
              <p:cNvPr id="87" name="직선 화살표 연결선 86">
                <a:extLst>
                  <a:ext uri="{FF2B5EF4-FFF2-40B4-BE49-F238E27FC236}">
                    <a16:creationId xmlns:a16="http://schemas.microsoft.com/office/drawing/2014/main" id="{19BB9F31-42CF-4FF6-82AB-D79B78DB5C82}"/>
                  </a:ext>
                </a:extLst>
              </p:cNvPr>
              <p:cNvCxnSpPr/>
              <p:nvPr/>
            </p:nvCxnSpPr>
            <p:spPr>
              <a:xfrm>
                <a:off x="1754034" y="2599738"/>
                <a:ext cx="331142" cy="0"/>
              </a:xfrm>
              <a:prstGeom prst="straightConnector1">
                <a:avLst/>
              </a:prstGeom>
              <a:ln w="19050">
                <a:solidFill>
                  <a:srgbClr val="00B0F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8" name="직선 화살표 연결선 87">
                <a:extLst>
                  <a:ext uri="{FF2B5EF4-FFF2-40B4-BE49-F238E27FC236}">
                    <a16:creationId xmlns:a16="http://schemas.microsoft.com/office/drawing/2014/main" id="{2D4BFD55-0261-4D35-8436-AE87DF6AE6A2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754034" y="2692101"/>
                <a:ext cx="331142" cy="0"/>
              </a:xfrm>
              <a:prstGeom prst="straightConnector1">
                <a:avLst/>
              </a:prstGeom>
              <a:ln w="19050">
                <a:solidFill>
                  <a:srgbClr val="00B0F0"/>
                </a:solidFill>
                <a:prstDash val="sysDash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9" name="직선 화살표 연결선 88">
                <a:extLst>
                  <a:ext uri="{FF2B5EF4-FFF2-40B4-BE49-F238E27FC236}">
                    <a16:creationId xmlns:a16="http://schemas.microsoft.com/office/drawing/2014/main" id="{7E8CEBDA-A12D-410C-A710-67183DFA6E54}"/>
                  </a:ext>
                </a:extLst>
              </p:cNvPr>
              <p:cNvCxnSpPr/>
              <p:nvPr/>
            </p:nvCxnSpPr>
            <p:spPr>
              <a:xfrm>
                <a:off x="1754034" y="2878333"/>
                <a:ext cx="331142" cy="0"/>
              </a:xfrm>
              <a:prstGeom prst="straightConnector1">
                <a:avLst/>
              </a:prstGeom>
              <a:ln w="19050">
                <a:solidFill>
                  <a:srgbClr val="FF0000"/>
                </a:solidFill>
                <a:prstDash val="dash"/>
                <a:tailEnd type="triangle"/>
              </a:ln>
            </p:spPr>
            <p:style>
              <a:lnRef idx="1">
                <a:schemeClr val="accent4"/>
              </a:lnRef>
              <a:fillRef idx="0">
                <a:schemeClr val="accent4"/>
              </a:fillRef>
              <a:effectRef idx="0">
                <a:schemeClr val="accent4"/>
              </a:effectRef>
              <a:fontRef idx="minor">
                <a:schemeClr val="tx1"/>
              </a:fontRef>
            </p:style>
          </p:cxnSp>
          <p:cxnSp>
            <p:nvCxnSpPr>
              <p:cNvPr id="215" name="직선 화살표 연결선 214">
                <a:extLst>
                  <a:ext uri="{FF2B5EF4-FFF2-40B4-BE49-F238E27FC236}">
                    <a16:creationId xmlns:a16="http://schemas.microsoft.com/office/drawing/2014/main" id="{DB929530-4441-4D25-B2DE-3F6071985A76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754034" y="2783753"/>
                <a:ext cx="331142" cy="0"/>
              </a:xfrm>
              <a:prstGeom prst="straightConnector1">
                <a:avLst/>
              </a:prstGeom>
              <a:ln w="19050">
                <a:solidFill>
                  <a:srgbClr val="FF0000"/>
                </a:solidFill>
                <a:prstDash val="solid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17" name="그룹 216">
              <a:extLst>
                <a:ext uri="{FF2B5EF4-FFF2-40B4-BE49-F238E27FC236}">
                  <a16:creationId xmlns:a16="http://schemas.microsoft.com/office/drawing/2014/main" id="{9145F4DF-2216-40A2-9005-469D605B072E}"/>
                </a:ext>
              </a:extLst>
            </p:cNvPr>
            <p:cNvGrpSpPr/>
            <p:nvPr/>
          </p:nvGrpSpPr>
          <p:grpSpPr>
            <a:xfrm>
              <a:off x="1609581" y="761704"/>
              <a:ext cx="331142" cy="278595"/>
              <a:chOff x="1754034" y="2599738"/>
              <a:chExt cx="331142" cy="278595"/>
            </a:xfrm>
          </p:grpSpPr>
          <p:cxnSp>
            <p:nvCxnSpPr>
              <p:cNvPr id="218" name="직선 화살표 연결선 217">
                <a:extLst>
                  <a:ext uri="{FF2B5EF4-FFF2-40B4-BE49-F238E27FC236}">
                    <a16:creationId xmlns:a16="http://schemas.microsoft.com/office/drawing/2014/main" id="{EAC81845-AE39-43FB-8C38-2C0CB37C5ACF}"/>
                  </a:ext>
                </a:extLst>
              </p:cNvPr>
              <p:cNvCxnSpPr/>
              <p:nvPr/>
            </p:nvCxnSpPr>
            <p:spPr>
              <a:xfrm>
                <a:off x="1754034" y="2599738"/>
                <a:ext cx="331142" cy="0"/>
              </a:xfrm>
              <a:prstGeom prst="straightConnector1">
                <a:avLst/>
              </a:prstGeom>
              <a:ln w="19050">
                <a:solidFill>
                  <a:srgbClr val="00B0F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9" name="직선 화살표 연결선 218">
                <a:extLst>
                  <a:ext uri="{FF2B5EF4-FFF2-40B4-BE49-F238E27FC236}">
                    <a16:creationId xmlns:a16="http://schemas.microsoft.com/office/drawing/2014/main" id="{A19192E1-B4B2-43A9-9733-A795731AC5C4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754034" y="2692101"/>
                <a:ext cx="331142" cy="0"/>
              </a:xfrm>
              <a:prstGeom prst="straightConnector1">
                <a:avLst/>
              </a:prstGeom>
              <a:ln w="19050">
                <a:solidFill>
                  <a:srgbClr val="00B0F0"/>
                </a:solidFill>
                <a:prstDash val="sysDash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0" name="직선 화살표 연결선 219">
                <a:extLst>
                  <a:ext uri="{FF2B5EF4-FFF2-40B4-BE49-F238E27FC236}">
                    <a16:creationId xmlns:a16="http://schemas.microsoft.com/office/drawing/2014/main" id="{01A2C70D-36A2-4AE2-9338-4B318EE10001}"/>
                  </a:ext>
                </a:extLst>
              </p:cNvPr>
              <p:cNvCxnSpPr/>
              <p:nvPr/>
            </p:nvCxnSpPr>
            <p:spPr>
              <a:xfrm>
                <a:off x="1754034" y="2878333"/>
                <a:ext cx="331142" cy="0"/>
              </a:xfrm>
              <a:prstGeom prst="straightConnector1">
                <a:avLst/>
              </a:prstGeom>
              <a:ln w="19050">
                <a:solidFill>
                  <a:srgbClr val="FF0000"/>
                </a:solidFill>
                <a:prstDash val="dash"/>
                <a:tailEnd type="triangle"/>
              </a:ln>
            </p:spPr>
            <p:style>
              <a:lnRef idx="1">
                <a:schemeClr val="accent4"/>
              </a:lnRef>
              <a:fillRef idx="0">
                <a:schemeClr val="accent4"/>
              </a:fillRef>
              <a:effectRef idx="0">
                <a:schemeClr val="accent4"/>
              </a:effectRef>
              <a:fontRef idx="minor">
                <a:schemeClr val="tx1"/>
              </a:fontRef>
            </p:style>
          </p:cxnSp>
          <p:cxnSp>
            <p:nvCxnSpPr>
              <p:cNvPr id="221" name="직선 화살표 연결선 220">
                <a:extLst>
                  <a:ext uri="{FF2B5EF4-FFF2-40B4-BE49-F238E27FC236}">
                    <a16:creationId xmlns:a16="http://schemas.microsoft.com/office/drawing/2014/main" id="{83A125DE-7055-4B6C-B7C9-9C780EAC39AA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754034" y="2783753"/>
                <a:ext cx="331142" cy="0"/>
              </a:xfrm>
              <a:prstGeom prst="straightConnector1">
                <a:avLst/>
              </a:prstGeom>
              <a:ln w="19050">
                <a:solidFill>
                  <a:srgbClr val="FF0000"/>
                </a:solidFill>
                <a:prstDash val="solid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22" name="그룹 221">
              <a:extLst>
                <a:ext uri="{FF2B5EF4-FFF2-40B4-BE49-F238E27FC236}">
                  <a16:creationId xmlns:a16="http://schemas.microsoft.com/office/drawing/2014/main" id="{03046967-7E41-4625-B0A5-1E49AC72AB6E}"/>
                </a:ext>
              </a:extLst>
            </p:cNvPr>
            <p:cNvGrpSpPr/>
            <p:nvPr/>
          </p:nvGrpSpPr>
          <p:grpSpPr>
            <a:xfrm>
              <a:off x="2518994" y="761704"/>
              <a:ext cx="331142" cy="278595"/>
              <a:chOff x="1754034" y="2599738"/>
              <a:chExt cx="331142" cy="278595"/>
            </a:xfrm>
          </p:grpSpPr>
          <p:cxnSp>
            <p:nvCxnSpPr>
              <p:cNvPr id="223" name="직선 화살표 연결선 222">
                <a:extLst>
                  <a:ext uri="{FF2B5EF4-FFF2-40B4-BE49-F238E27FC236}">
                    <a16:creationId xmlns:a16="http://schemas.microsoft.com/office/drawing/2014/main" id="{27279BDB-4852-4096-9FEB-F637D2A74E4D}"/>
                  </a:ext>
                </a:extLst>
              </p:cNvPr>
              <p:cNvCxnSpPr/>
              <p:nvPr/>
            </p:nvCxnSpPr>
            <p:spPr>
              <a:xfrm>
                <a:off x="1754034" y="2599738"/>
                <a:ext cx="331142" cy="0"/>
              </a:xfrm>
              <a:prstGeom prst="straightConnector1">
                <a:avLst/>
              </a:prstGeom>
              <a:ln w="19050">
                <a:solidFill>
                  <a:srgbClr val="00B0F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4" name="직선 화살표 연결선 223">
                <a:extLst>
                  <a:ext uri="{FF2B5EF4-FFF2-40B4-BE49-F238E27FC236}">
                    <a16:creationId xmlns:a16="http://schemas.microsoft.com/office/drawing/2014/main" id="{17077339-86B4-45F3-AEB3-32B99C524383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754034" y="2692101"/>
                <a:ext cx="331142" cy="0"/>
              </a:xfrm>
              <a:prstGeom prst="straightConnector1">
                <a:avLst/>
              </a:prstGeom>
              <a:ln w="19050">
                <a:solidFill>
                  <a:srgbClr val="00B0F0"/>
                </a:solidFill>
                <a:prstDash val="sysDash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5" name="직선 화살표 연결선 224">
                <a:extLst>
                  <a:ext uri="{FF2B5EF4-FFF2-40B4-BE49-F238E27FC236}">
                    <a16:creationId xmlns:a16="http://schemas.microsoft.com/office/drawing/2014/main" id="{A9213BC8-4418-4202-ABC3-A5932A6BB1C9}"/>
                  </a:ext>
                </a:extLst>
              </p:cNvPr>
              <p:cNvCxnSpPr/>
              <p:nvPr/>
            </p:nvCxnSpPr>
            <p:spPr>
              <a:xfrm>
                <a:off x="1754034" y="2878333"/>
                <a:ext cx="331142" cy="0"/>
              </a:xfrm>
              <a:prstGeom prst="straightConnector1">
                <a:avLst/>
              </a:prstGeom>
              <a:ln w="19050">
                <a:solidFill>
                  <a:srgbClr val="FF0000"/>
                </a:solidFill>
                <a:prstDash val="dash"/>
                <a:tailEnd type="triangle"/>
              </a:ln>
            </p:spPr>
            <p:style>
              <a:lnRef idx="1">
                <a:schemeClr val="accent4"/>
              </a:lnRef>
              <a:fillRef idx="0">
                <a:schemeClr val="accent4"/>
              </a:fillRef>
              <a:effectRef idx="0">
                <a:schemeClr val="accent4"/>
              </a:effectRef>
              <a:fontRef idx="minor">
                <a:schemeClr val="tx1"/>
              </a:fontRef>
            </p:style>
          </p:cxnSp>
          <p:cxnSp>
            <p:nvCxnSpPr>
              <p:cNvPr id="226" name="직선 화살표 연결선 225">
                <a:extLst>
                  <a:ext uri="{FF2B5EF4-FFF2-40B4-BE49-F238E27FC236}">
                    <a16:creationId xmlns:a16="http://schemas.microsoft.com/office/drawing/2014/main" id="{3D346008-ECF1-43C6-90F7-0F403E8D6FE9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754034" y="2783753"/>
                <a:ext cx="331142" cy="0"/>
              </a:xfrm>
              <a:prstGeom prst="straightConnector1">
                <a:avLst/>
              </a:prstGeom>
              <a:ln w="19050">
                <a:solidFill>
                  <a:srgbClr val="FF0000"/>
                </a:solidFill>
                <a:prstDash val="solid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27" name="그룹 226">
              <a:extLst>
                <a:ext uri="{FF2B5EF4-FFF2-40B4-BE49-F238E27FC236}">
                  <a16:creationId xmlns:a16="http://schemas.microsoft.com/office/drawing/2014/main" id="{BDCDFF7F-6AC3-49B5-91BB-E9E747A07934}"/>
                </a:ext>
              </a:extLst>
            </p:cNvPr>
            <p:cNvGrpSpPr/>
            <p:nvPr/>
          </p:nvGrpSpPr>
          <p:grpSpPr>
            <a:xfrm>
              <a:off x="3390240" y="761704"/>
              <a:ext cx="331142" cy="278595"/>
              <a:chOff x="1754034" y="2599738"/>
              <a:chExt cx="331142" cy="278595"/>
            </a:xfrm>
          </p:grpSpPr>
          <p:cxnSp>
            <p:nvCxnSpPr>
              <p:cNvPr id="228" name="직선 화살표 연결선 227">
                <a:extLst>
                  <a:ext uri="{FF2B5EF4-FFF2-40B4-BE49-F238E27FC236}">
                    <a16:creationId xmlns:a16="http://schemas.microsoft.com/office/drawing/2014/main" id="{E83FDBE4-776E-4166-994C-9FDAF1D651DE}"/>
                  </a:ext>
                </a:extLst>
              </p:cNvPr>
              <p:cNvCxnSpPr/>
              <p:nvPr/>
            </p:nvCxnSpPr>
            <p:spPr>
              <a:xfrm>
                <a:off x="1754034" y="2599738"/>
                <a:ext cx="331142" cy="0"/>
              </a:xfrm>
              <a:prstGeom prst="straightConnector1">
                <a:avLst/>
              </a:prstGeom>
              <a:ln w="19050">
                <a:solidFill>
                  <a:srgbClr val="00B0F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9" name="직선 화살표 연결선 228">
                <a:extLst>
                  <a:ext uri="{FF2B5EF4-FFF2-40B4-BE49-F238E27FC236}">
                    <a16:creationId xmlns:a16="http://schemas.microsoft.com/office/drawing/2014/main" id="{7385D2B6-EE2B-43AB-A0E1-EDB7979CD87A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754034" y="2692101"/>
                <a:ext cx="331142" cy="0"/>
              </a:xfrm>
              <a:prstGeom prst="straightConnector1">
                <a:avLst/>
              </a:prstGeom>
              <a:ln w="19050">
                <a:solidFill>
                  <a:srgbClr val="00B0F0"/>
                </a:solidFill>
                <a:prstDash val="sysDash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0" name="직선 화살표 연결선 229">
                <a:extLst>
                  <a:ext uri="{FF2B5EF4-FFF2-40B4-BE49-F238E27FC236}">
                    <a16:creationId xmlns:a16="http://schemas.microsoft.com/office/drawing/2014/main" id="{B28D2690-81B0-46E2-9555-9F7B7396E3FF}"/>
                  </a:ext>
                </a:extLst>
              </p:cNvPr>
              <p:cNvCxnSpPr/>
              <p:nvPr/>
            </p:nvCxnSpPr>
            <p:spPr>
              <a:xfrm>
                <a:off x="1754034" y="2878333"/>
                <a:ext cx="331142" cy="0"/>
              </a:xfrm>
              <a:prstGeom prst="straightConnector1">
                <a:avLst/>
              </a:prstGeom>
              <a:ln w="19050">
                <a:solidFill>
                  <a:srgbClr val="FF0000"/>
                </a:solidFill>
                <a:prstDash val="dash"/>
                <a:tailEnd type="triangle"/>
              </a:ln>
            </p:spPr>
            <p:style>
              <a:lnRef idx="1">
                <a:schemeClr val="accent4"/>
              </a:lnRef>
              <a:fillRef idx="0">
                <a:schemeClr val="accent4"/>
              </a:fillRef>
              <a:effectRef idx="0">
                <a:schemeClr val="accent4"/>
              </a:effectRef>
              <a:fontRef idx="minor">
                <a:schemeClr val="tx1"/>
              </a:fontRef>
            </p:style>
          </p:cxnSp>
          <p:cxnSp>
            <p:nvCxnSpPr>
              <p:cNvPr id="231" name="직선 화살표 연결선 230">
                <a:extLst>
                  <a:ext uri="{FF2B5EF4-FFF2-40B4-BE49-F238E27FC236}">
                    <a16:creationId xmlns:a16="http://schemas.microsoft.com/office/drawing/2014/main" id="{43BE6508-F83F-4FE1-9FC7-C8767AFDA119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754034" y="2783753"/>
                <a:ext cx="331142" cy="0"/>
              </a:xfrm>
              <a:prstGeom prst="straightConnector1">
                <a:avLst/>
              </a:prstGeom>
              <a:ln w="19050">
                <a:solidFill>
                  <a:srgbClr val="FF0000"/>
                </a:solidFill>
                <a:prstDash val="solid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6" name="그룹 5">
              <a:extLst>
                <a:ext uri="{FF2B5EF4-FFF2-40B4-BE49-F238E27FC236}">
                  <a16:creationId xmlns:a16="http://schemas.microsoft.com/office/drawing/2014/main" id="{8395E940-56AB-42F0-84DD-7600653B9D4C}"/>
                </a:ext>
              </a:extLst>
            </p:cNvPr>
            <p:cNvGrpSpPr/>
            <p:nvPr/>
          </p:nvGrpSpPr>
          <p:grpSpPr>
            <a:xfrm>
              <a:off x="1357553" y="1377571"/>
              <a:ext cx="1512426" cy="694101"/>
              <a:chOff x="1357553" y="1377571"/>
              <a:chExt cx="1512426" cy="694101"/>
            </a:xfrm>
          </p:grpSpPr>
          <p:sp>
            <p:nvSpPr>
              <p:cNvPr id="194" name="TextBox 16">
                <a:extLst>
                  <a:ext uri="{FF2B5EF4-FFF2-40B4-BE49-F238E27FC236}">
                    <a16:creationId xmlns:a16="http://schemas.microsoft.com/office/drawing/2014/main" id="{E4915971-439D-4EB1-AF81-246549C943D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692272" y="1377571"/>
                <a:ext cx="1177707" cy="69410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0" rIns="0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marL="0" marR="0" lvl="0" indent="0" defTabSz="914400" rtl="0" eaLnBrk="1" fontAlgn="base" latinLnBrk="0" hangingPunct="1">
                  <a:lnSpc>
                    <a:spcPct val="11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9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B0F0"/>
                    </a:solidFill>
                    <a:effectLst/>
                    <a:uLnTx/>
                    <a:uFillTx/>
                    <a:latin typeface="+mn-ea"/>
                    <a:cs typeface="Arial" panose="020B0604020202020204" pitchFamily="34" charset="0"/>
                  </a:rPr>
                  <a:t>External Host Request</a:t>
                </a:r>
              </a:p>
              <a:p>
                <a:pPr marL="0" marR="0" lvl="0" indent="0" defTabSz="914400" rtl="0" eaLnBrk="1" fontAlgn="base" latinLnBrk="0" hangingPunct="1">
                  <a:lnSpc>
                    <a:spcPct val="11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altLang="en-US" sz="900" dirty="0">
                    <a:solidFill>
                      <a:srgbClr val="00B0F0"/>
                    </a:solidFill>
                    <a:latin typeface="+mn-ea"/>
                    <a:cs typeface="Arial" panose="020B0604020202020204" pitchFamily="34" charset="0"/>
                  </a:rPr>
                  <a:t>Instance Response</a:t>
                </a:r>
              </a:p>
              <a:p>
                <a:pPr marL="0" marR="0" lvl="0" indent="0" defTabSz="914400" rtl="0" eaLnBrk="1" fontAlgn="base" latinLnBrk="0" hangingPunct="1">
                  <a:lnSpc>
                    <a:spcPct val="11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altLang="en-US" sz="900" dirty="0">
                    <a:solidFill>
                      <a:srgbClr val="FF0000"/>
                    </a:solidFill>
                    <a:latin typeface="+mn-ea"/>
                    <a:cs typeface="Arial" panose="020B0604020202020204" pitchFamily="34" charset="0"/>
                  </a:rPr>
                  <a:t>Instance Request</a:t>
                </a:r>
              </a:p>
              <a:p>
                <a:pPr marL="0" marR="0" lvl="0" indent="0" defTabSz="914400" rtl="0" eaLnBrk="1" fontAlgn="base" latinLnBrk="0" hangingPunct="1">
                  <a:lnSpc>
                    <a:spcPct val="11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altLang="en-US" sz="900" dirty="0">
                    <a:solidFill>
                      <a:srgbClr val="FF0000"/>
                    </a:solidFill>
                    <a:latin typeface="+mn-ea"/>
                    <a:cs typeface="Arial" panose="020B0604020202020204" pitchFamily="34" charset="0"/>
                  </a:rPr>
                  <a:t>External host Response</a:t>
                </a:r>
              </a:p>
            </p:txBody>
          </p:sp>
          <p:cxnSp>
            <p:nvCxnSpPr>
              <p:cNvPr id="195" name="직선 화살표 연결선 194">
                <a:extLst>
                  <a:ext uri="{FF2B5EF4-FFF2-40B4-BE49-F238E27FC236}">
                    <a16:creationId xmlns:a16="http://schemas.microsoft.com/office/drawing/2014/main" id="{5C726BD9-DB26-4F93-BA99-65613705E36D}"/>
                  </a:ext>
                </a:extLst>
              </p:cNvPr>
              <p:cNvCxnSpPr/>
              <p:nvPr/>
            </p:nvCxnSpPr>
            <p:spPr>
              <a:xfrm>
                <a:off x="1357553" y="1511796"/>
                <a:ext cx="283792" cy="0"/>
              </a:xfrm>
              <a:prstGeom prst="straightConnector1">
                <a:avLst/>
              </a:prstGeom>
              <a:ln w="19050">
                <a:solidFill>
                  <a:srgbClr val="00B0F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6" name="직선 화살표 연결선 195">
                <a:extLst>
                  <a:ext uri="{FF2B5EF4-FFF2-40B4-BE49-F238E27FC236}">
                    <a16:creationId xmlns:a16="http://schemas.microsoft.com/office/drawing/2014/main" id="{8F80AA58-1C61-44AD-A4F1-CCDB5CAB4134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357553" y="1657954"/>
                <a:ext cx="283792" cy="0"/>
              </a:xfrm>
              <a:prstGeom prst="straightConnector1">
                <a:avLst/>
              </a:prstGeom>
              <a:ln w="19050">
                <a:solidFill>
                  <a:srgbClr val="00B0F0"/>
                </a:solidFill>
                <a:prstDash val="sysDash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7" name="직선 화살표 연결선 196">
                <a:extLst>
                  <a:ext uri="{FF2B5EF4-FFF2-40B4-BE49-F238E27FC236}">
                    <a16:creationId xmlns:a16="http://schemas.microsoft.com/office/drawing/2014/main" id="{B64D4BD0-1A2F-4DB7-8BA5-00B5EE1B75CB}"/>
                  </a:ext>
                </a:extLst>
              </p:cNvPr>
              <p:cNvCxnSpPr/>
              <p:nvPr/>
            </p:nvCxnSpPr>
            <p:spPr>
              <a:xfrm>
                <a:off x="1357553" y="1951331"/>
                <a:ext cx="283792" cy="0"/>
              </a:xfrm>
              <a:prstGeom prst="straightConnector1">
                <a:avLst/>
              </a:prstGeom>
              <a:ln w="19050">
                <a:solidFill>
                  <a:srgbClr val="FF0000"/>
                </a:solidFill>
                <a:prstDash val="dash"/>
                <a:tailEnd type="triangle"/>
              </a:ln>
            </p:spPr>
            <p:style>
              <a:lnRef idx="1">
                <a:schemeClr val="accent4"/>
              </a:lnRef>
              <a:fillRef idx="0">
                <a:schemeClr val="accent4"/>
              </a:fillRef>
              <a:effectRef idx="0">
                <a:schemeClr val="accent4"/>
              </a:effectRef>
              <a:fontRef idx="minor">
                <a:schemeClr val="tx1"/>
              </a:fontRef>
            </p:style>
          </p:cxnSp>
          <p:cxnSp>
            <p:nvCxnSpPr>
              <p:cNvPr id="198" name="직선 화살표 연결선 197">
                <a:extLst>
                  <a:ext uri="{FF2B5EF4-FFF2-40B4-BE49-F238E27FC236}">
                    <a16:creationId xmlns:a16="http://schemas.microsoft.com/office/drawing/2014/main" id="{6084A688-4266-4A0F-9DFC-1A12FF7ADE30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357553" y="1816274"/>
                <a:ext cx="283792" cy="0"/>
              </a:xfrm>
              <a:prstGeom prst="straightConnector1">
                <a:avLst/>
              </a:prstGeom>
              <a:ln w="19050">
                <a:solidFill>
                  <a:srgbClr val="FF0000"/>
                </a:solidFill>
                <a:prstDash val="solid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16" name="그룹 115">
              <a:extLst>
                <a:ext uri="{FF2B5EF4-FFF2-40B4-BE49-F238E27FC236}">
                  <a16:creationId xmlns:a16="http://schemas.microsoft.com/office/drawing/2014/main" id="{7932E46F-19C3-4B1A-9FDC-19BEE83322A6}"/>
                </a:ext>
              </a:extLst>
            </p:cNvPr>
            <p:cNvGrpSpPr/>
            <p:nvPr/>
          </p:nvGrpSpPr>
          <p:grpSpPr>
            <a:xfrm>
              <a:off x="1940723" y="639111"/>
              <a:ext cx="591948" cy="704214"/>
              <a:chOff x="6229549" y="3765970"/>
              <a:chExt cx="591948" cy="704214"/>
            </a:xfrm>
          </p:grpSpPr>
          <p:pic>
            <p:nvPicPr>
              <p:cNvPr id="117" name="Graphic 71" descr="Router resource icon for the Amazon VPC service.&#10;">
                <a:extLst>
                  <a:ext uri="{FF2B5EF4-FFF2-40B4-BE49-F238E27FC236}">
                    <a16:creationId xmlns:a16="http://schemas.microsoft.com/office/drawing/2014/main" id="{41FB7264-46CC-4BEC-9EA8-23B993A47D4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6293652" y="3765970"/>
                <a:ext cx="457200" cy="457200"/>
              </a:xfrm>
              <a:prstGeom prst="rect">
                <a:avLst/>
              </a:prstGeom>
            </p:spPr>
          </p:pic>
          <p:sp>
            <p:nvSpPr>
              <p:cNvPr id="118" name="TextBox 27">
                <a:extLst>
                  <a:ext uri="{FF2B5EF4-FFF2-40B4-BE49-F238E27FC236}">
                    <a16:creationId xmlns:a16="http://schemas.microsoft.com/office/drawing/2014/main" id="{999E6514-512F-4634-BA94-548863E2038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229549" y="4223963"/>
                <a:ext cx="591948" cy="24622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Amazon Ember" panose="020B0603020204020204" pitchFamily="34" charset="0"/>
                    <a:cs typeface="Arial" panose="020B0604020202020204" pitchFamily="34" charset="0"/>
                  </a:rPr>
                  <a:t>Router</a:t>
                </a:r>
              </a:p>
            </p:txBody>
          </p:sp>
        </p:grpSp>
      </p:grpSp>
      <p:grpSp>
        <p:nvGrpSpPr>
          <p:cNvPr id="22" name="그룹 21">
            <a:extLst>
              <a:ext uri="{FF2B5EF4-FFF2-40B4-BE49-F238E27FC236}">
                <a16:creationId xmlns:a16="http://schemas.microsoft.com/office/drawing/2014/main" id="{5BC72EBD-8D11-46DB-9506-6BA55F3EF99D}"/>
              </a:ext>
            </a:extLst>
          </p:cNvPr>
          <p:cNvGrpSpPr/>
          <p:nvPr/>
        </p:nvGrpSpPr>
        <p:grpSpPr>
          <a:xfrm>
            <a:off x="64655" y="2724233"/>
            <a:ext cx="5541429" cy="3077036"/>
            <a:chOff x="64655" y="2724233"/>
            <a:chExt cx="5541429" cy="3077036"/>
          </a:xfrm>
        </p:grpSpPr>
        <p:grpSp>
          <p:nvGrpSpPr>
            <p:cNvPr id="350" name="그룹 349">
              <a:extLst>
                <a:ext uri="{FF2B5EF4-FFF2-40B4-BE49-F238E27FC236}">
                  <a16:creationId xmlns:a16="http://schemas.microsoft.com/office/drawing/2014/main" id="{8CF5E8F8-E0EA-48E6-B23F-6B5ABE43D125}"/>
                </a:ext>
              </a:extLst>
            </p:cNvPr>
            <p:cNvGrpSpPr/>
            <p:nvPr/>
          </p:nvGrpSpPr>
          <p:grpSpPr>
            <a:xfrm>
              <a:off x="963382" y="3291575"/>
              <a:ext cx="788342" cy="703421"/>
              <a:chOff x="3241791" y="2412493"/>
              <a:chExt cx="788342" cy="703421"/>
            </a:xfrm>
          </p:grpSpPr>
          <p:pic>
            <p:nvPicPr>
              <p:cNvPr id="418" name="Graphic 63" descr="Internet gateway resource icon for the Amazon VPC service.&#10;">
                <a:extLst>
                  <a:ext uri="{FF2B5EF4-FFF2-40B4-BE49-F238E27FC236}">
                    <a16:creationId xmlns:a16="http://schemas.microsoft.com/office/drawing/2014/main" id="{4C295E08-28E5-4D74-A940-83B23F680C7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p:blipFill>
            <p:spPr>
              <a:xfrm>
                <a:off x="3407362" y="2412493"/>
                <a:ext cx="457200" cy="457200"/>
              </a:xfrm>
              <a:prstGeom prst="rect">
                <a:avLst/>
              </a:prstGeom>
            </p:spPr>
          </p:pic>
          <p:sp>
            <p:nvSpPr>
              <p:cNvPr id="419" name="TextBox 16">
                <a:extLst>
                  <a:ext uri="{FF2B5EF4-FFF2-40B4-BE49-F238E27FC236}">
                    <a16:creationId xmlns:a16="http://schemas.microsoft.com/office/drawing/2014/main" id="{A716B3AA-D3D2-4B67-88B0-88B96AEC507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241791" y="2869693"/>
                <a:ext cx="788342" cy="24622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0" rIns="0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000" b="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Arial" panose="020B0604020202020204" pitchFamily="34" charset="0"/>
                    <a:ea typeface="Amazon Ember" panose="020B0603020204020204" pitchFamily="34" charset="0"/>
                    <a:cs typeface="Arial" panose="020B0604020202020204" pitchFamily="34" charset="0"/>
                  </a:rPr>
                  <a:t>IGW</a:t>
                </a:r>
              </a:p>
            </p:txBody>
          </p:sp>
        </p:grpSp>
        <p:grpSp>
          <p:nvGrpSpPr>
            <p:cNvPr id="352" name="그룹 351">
              <a:extLst>
                <a:ext uri="{FF2B5EF4-FFF2-40B4-BE49-F238E27FC236}">
                  <a16:creationId xmlns:a16="http://schemas.microsoft.com/office/drawing/2014/main" id="{4255ED9D-1374-42DC-934D-8E9599184B7C}"/>
                </a:ext>
              </a:extLst>
            </p:cNvPr>
            <p:cNvGrpSpPr/>
            <p:nvPr/>
          </p:nvGrpSpPr>
          <p:grpSpPr>
            <a:xfrm>
              <a:off x="4249418" y="4828348"/>
              <a:ext cx="788342" cy="857310"/>
              <a:chOff x="5473229" y="2412493"/>
              <a:chExt cx="788342" cy="857310"/>
            </a:xfrm>
          </p:grpSpPr>
          <p:pic>
            <p:nvPicPr>
              <p:cNvPr id="414" name="Graphic 81" descr="Network access control list resource icon for the Amazon VPC service.&#10;">
                <a:extLst>
                  <a:ext uri="{FF2B5EF4-FFF2-40B4-BE49-F238E27FC236}">
                    <a16:creationId xmlns:a16="http://schemas.microsoft.com/office/drawing/2014/main" id="{6F83528A-3178-4B9F-A2E8-3AE5A5CBCCF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/>
              </a:stretch>
            </p:blipFill>
            <p:spPr>
              <a:xfrm>
                <a:off x="5638800" y="2412493"/>
                <a:ext cx="457200" cy="457200"/>
              </a:xfrm>
              <a:prstGeom prst="rect">
                <a:avLst/>
              </a:prstGeom>
            </p:spPr>
          </p:pic>
          <p:sp>
            <p:nvSpPr>
              <p:cNvPr id="415" name="TextBox 16">
                <a:extLst>
                  <a:ext uri="{FF2B5EF4-FFF2-40B4-BE49-F238E27FC236}">
                    <a16:creationId xmlns:a16="http://schemas.microsoft.com/office/drawing/2014/main" id="{F822D3C8-9620-48B8-8879-41F230D121E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473229" y="2869693"/>
                <a:ext cx="788342" cy="4001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0" rIns="0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000" b="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Arial" panose="020B0604020202020204" pitchFamily="34" charset="0"/>
                    <a:ea typeface="Amazon Ember" panose="020B0603020204020204" pitchFamily="34" charset="0"/>
                    <a:cs typeface="Arial" panose="020B0604020202020204" pitchFamily="34" charset="0"/>
                  </a:rPr>
                  <a:t>Private</a:t>
                </a:r>
              </a:p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000" b="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Arial" panose="020B0604020202020204" pitchFamily="34" charset="0"/>
                    <a:ea typeface="Amazon Ember" panose="020B0603020204020204" pitchFamily="34" charset="0"/>
                    <a:cs typeface="Arial" panose="020B0604020202020204" pitchFamily="34" charset="0"/>
                  </a:rPr>
                  <a:t>NACL</a:t>
                </a:r>
              </a:p>
            </p:txBody>
          </p:sp>
        </p:grpSp>
        <p:sp>
          <p:nvSpPr>
            <p:cNvPr id="353" name="직사각형 352">
              <a:extLst>
                <a:ext uri="{FF2B5EF4-FFF2-40B4-BE49-F238E27FC236}">
                  <a16:creationId xmlns:a16="http://schemas.microsoft.com/office/drawing/2014/main" id="{69A7436A-ED14-4352-9480-8B8CDEDB27CF}"/>
                </a:ext>
              </a:extLst>
            </p:cNvPr>
            <p:cNvSpPr/>
            <p:nvPr/>
          </p:nvSpPr>
          <p:spPr>
            <a:xfrm>
              <a:off x="2317294" y="3021149"/>
              <a:ext cx="1464736" cy="1364272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00"/>
            </a:p>
          </p:txBody>
        </p:sp>
        <p:sp>
          <p:nvSpPr>
            <p:cNvPr id="355" name="직사각형 354">
              <a:extLst>
                <a:ext uri="{FF2B5EF4-FFF2-40B4-BE49-F238E27FC236}">
                  <a16:creationId xmlns:a16="http://schemas.microsoft.com/office/drawing/2014/main" id="{FAD9BCA9-42F4-453F-BAFD-6A795D51DC18}"/>
                </a:ext>
              </a:extLst>
            </p:cNvPr>
            <p:cNvSpPr/>
            <p:nvPr/>
          </p:nvSpPr>
          <p:spPr>
            <a:xfrm>
              <a:off x="3931742" y="3021149"/>
              <a:ext cx="1464736" cy="136427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00"/>
            </a:p>
          </p:txBody>
        </p:sp>
        <p:grpSp>
          <p:nvGrpSpPr>
            <p:cNvPr id="356" name="그룹 355">
              <a:extLst>
                <a:ext uri="{FF2B5EF4-FFF2-40B4-BE49-F238E27FC236}">
                  <a16:creationId xmlns:a16="http://schemas.microsoft.com/office/drawing/2014/main" id="{2ED8C1CA-BDC6-4053-BCE1-EC2AAE4F4038}"/>
                </a:ext>
              </a:extLst>
            </p:cNvPr>
            <p:cNvGrpSpPr/>
            <p:nvPr/>
          </p:nvGrpSpPr>
          <p:grpSpPr>
            <a:xfrm>
              <a:off x="4269939" y="3284818"/>
              <a:ext cx="788342" cy="703421"/>
              <a:chOff x="7029643" y="2412493"/>
              <a:chExt cx="788342" cy="703421"/>
            </a:xfrm>
          </p:grpSpPr>
          <p:pic>
            <p:nvPicPr>
              <p:cNvPr id="410" name="Graphic 60">
                <a:extLst>
                  <a:ext uri="{FF2B5EF4-FFF2-40B4-BE49-F238E27FC236}">
                    <a16:creationId xmlns:a16="http://schemas.microsoft.com/office/drawing/2014/main" id="{29FD69A5-0AFF-4F43-A654-6D3CB10A77F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rcRect/>
              <a:stretch/>
            </p:blipFill>
            <p:spPr bwMode="auto">
              <a:xfrm>
                <a:off x="7195214" y="2412493"/>
                <a:ext cx="457200" cy="4572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411" name="TextBox 16">
                <a:extLst>
                  <a:ext uri="{FF2B5EF4-FFF2-40B4-BE49-F238E27FC236}">
                    <a16:creationId xmlns:a16="http://schemas.microsoft.com/office/drawing/2014/main" id="{691A5037-8A97-4564-93FB-6B98F34417C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029643" y="2869693"/>
                <a:ext cx="788342" cy="24622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0" rIns="0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altLang="en-US" sz="1000" dirty="0">
                    <a:latin typeface="Arial" panose="020B0604020202020204" pitchFamily="34" charset="0"/>
                    <a:ea typeface="Amazon Ember" panose="020B0603020204020204" pitchFamily="34" charset="0"/>
                    <a:cs typeface="Arial" panose="020B0604020202020204" pitchFamily="34" charset="0"/>
                  </a:rPr>
                  <a:t>Instance</a:t>
                </a:r>
                <a:endParaRPr kumimoji="0" lang="en-US" altLang="en-US" sz="1000" b="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Arial" panose="020B0604020202020204" pitchFamily="34" charset="0"/>
                  <a:ea typeface="Amazon Ember" panose="020B0603020204020204" pitchFamily="34" charset="0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358" name="TextBox 12">
              <a:extLst>
                <a:ext uri="{FF2B5EF4-FFF2-40B4-BE49-F238E27FC236}">
                  <a16:creationId xmlns:a16="http://schemas.microsoft.com/office/drawing/2014/main" id="{997A4992-6767-47CA-B94E-3603376D4B6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62435" y="4108421"/>
              <a:ext cx="1403350" cy="2462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Amazon Ember" panose="020B0603020204020204" pitchFamily="34" charset="0"/>
                  <a:cs typeface="Arial" panose="020B0604020202020204" pitchFamily="34" charset="0"/>
                </a:rPr>
                <a:t>Security Group</a:t>
              </a:r>
            </a:p>
          </p:txBody>
        </p:sp>
        <p:sp>
          <p:nvSpPr>
            <p:cNvPr id="359" name="TextBox 12">
              <a:extLst>
                <a:ext uri="{FF2B5EF4-FFF2-40B4-BE49-F238E27FC236}">
                  <a16:creationId xmlns:a16="http://schemas.microsoft.com/office/drawing/2014/main" id="{9AC73D08-E542-4C5E-88F4-65FF06A970C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47987" y="2760514"/>
              <a:ext cx="1403350" cy="2462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Amazon Ember" panose="020B0603020204020204" pitchFamily="34" charset="0"/>
                  <a:cs typeface="Arial" panose="020B0604020202020204" pitchFamily="34" charset="0"/>
                </a:rPr>
                <a:t>Public Subnet</a:t>
              </a:r>
            </a:p>
          </p:txBody>
        </p:sp>
        <p:sp>
          <p:nvSpPr>
            <p:cNvPr id="360" name="TextBox 12">
              <a:extLst>
                <a:ext uri="{FF2B5EF4-FFF2-40B4-BE49-F238E27FC236}">
                  <a16:creationId xmlns:a16="http://schemas.microsoft.com/office/drawing/2014/main" id="{0A429AF4-A49C-4491-8219-2CD00526F73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62435" y="2760514"/>
              <a:ext cx="1403350" cy="2462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Amazon Ember" panose="020B0603020204020204" pitchFamily="34" charset="0"/>
                  <a:cs typeface="Arial" panose="020B0604020202020204" pitchFamily="34" charset="0"/>
                </a:rPr>
                <a:t>Private Subnet</a:t>
              </a:r>
            </a:p>
          </p:txBody>
        </p:sp>
        <p:grpSp>
          <p:nvGrpSpPr>
            <p:cNvPr id="361" name="Group 38" descr="Virtual private cloud (VPC) group.">
              <a:extLst>
                <a:ext uri="{FF2B5EF4-FFF2-40B4-BE49-F238E27FC236}">
                  <a16:creationId xmlns:a16="http://schemas.microsoft.com/office/drawing/2014/main" id="{EBCEC9BD-1C70-4682-92C9-CC0224FEE32B}"/>
                </a:ext>
              </a:extLst>
            </p:cNvPr>
            <p:cNvGrpSpPr/>
            <p:nvPr/>
          </p:nvGrpSpPr>
          <p:grpSpPr>
            <a:xfrm>
              <a:off x="1218943" y="2724233"/>
              <a:ext cx="4387141" cy="3077036"/>
              <a:chOff x="2283292" y="2618865"/>
              <a:chExt cx="4387141" cy="3077036"/>
            </a:xfrm>
          </p:grpSpPr>
          <p:sp>
            <p:nvSpPr>
              <p:cNvPr id="408" name="Rectangle 39">
                <a:extLst>
                  <a:ext uri="{FF2B5EF4-FFF2-40B4-BE49-F238E27FC236}">
                    <a16:creationId xmlns:a16="http://schemas.microsoft.com/office/drawing/2014/main" id="{69726655-906F-4421-AA2E-73252FB1ABBB}"/>
                  </a:ext>
                </a:extLst>
              </p:cNvPr>
              <p:cNvSpPr/>
              <p:nvPr/>
            </p:nvSpPr>
            <p:spPr>
              <a:xfrm>
                <a:off x="2283293" y="2618865"/>
                <a:ext cx="4387140" cy="3077036"/>
              </a:xfrm>
              <a:prstGeom prst="rect">
                <a:avLst/>
              </a:prstGeom>
              <a:noFill/>
              <a:ln w="15875">
                <a:solidFill>
                  <a:srgbClr val="8C4FF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502920" tIns="91440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000" b="0" i="0" u="none" strike="noStrike" kern="1200" cap="none" spc="0" normalizeH="0" baseline="0" noProof="0" dirty="0">
                    <a:ln w="0"/>
                    <a:solidFill>
                      <a:schemeClr val="tx1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VPC</a:t>
                </a:r>
              </a:p>
            </p:txBody>
          </p:sp>
          <p:pic>
            <p:nvPicPr>
              <p:cNvPr id="409" name="Graphic 40" descr="VPC group icon. ">
                <a:extLst>
                  <a:ext uri="{FF2B5EF4-FFF2-40B4-BE49-F238E27FC236}">
                    <a16:creationId xmlns:a16="http://schemas.microsoft.com/office/drawing/2014/main" id="{42530B0D-3712-4976-A39F-1E84A59E3A2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10"/>
                  </a:ext>
                </a:extLst>
              </a:blip>
              <a:srcRect/>
              <a:stretch/>
            </p:blipFill>
            <p:spPr>
              <a:xfrm>
                <a:off x="2283292" y="2618865"/>
                <a:ext cx="381000" cy="381000"/>
              </a:xfrm>
              <a:prstGeom prst="rect">
                <a:avLst/>
              </a:prstGeom>
            </p:spPr>
          </p:pic>
        </p:grpSp>
        <p:grpSp>
          <p:nvGrpSpPr>
            <p:cNvPr id="362" name="그룹 361">
              <a:extLst>
                <a:ext uri="{FF2B5EF4-FFF2-40B4-BE49-F238E27FC236}">
                  <a16:creationId xmlns:a16="http://schemas.microsoft.com/office/drawing/2014/main" id="{995295E9-5C8E-44FC-9236-56C3CC484BC1}"/>
                </a:ext>
              </a:extLst>
            </p:cNvPr>
            <p:cNvGrpSpPr/>
            <p:nvPr/>
          </p:nvGrpSpPr>
          <p:grpSpPr>
            <a:xfrm>
              <a:off x="718429" y="3471183"/>
              <a:ext cx="331142" cy="94580"/>
              <a:chOff x="1754034" y="2783753"/>
              <a:chExt cx="331142" cy="94580"/>
            </a:xfrm>
          </p:grpSpPr>
          <p:cxnSp>
            <p:nvCxnSpPr>
              <p:cNvPr id="406" name="직선 화살표 연결선 405">
                <a:extLst>
                  <a:ext uri="{FF2B5EF4-FFF2-40B4-BE49-F238E27FC236}">
                    <a16:creationId xmlns:a16="http://schemas.microsoft.com/office/drawing/2014/main" id="{F97A7074-BCC2-48F1-BE24-503184501CBF}"/>
                  </a:ext>
                </a:extLst>
              </p:cNvPr>
              <p:cNvCxnSpPr/>
              <p:nvPr/>
            </p:nvCxnSpPr>
            <p:spPr>
              <a:xfrm>
                <a:off x="1754034" y="2878333"/>
                <a:ext cx="331142" cy="0"/>
              </a:xfrm>
              <a:prstGeom prst="straightConnector1">
                <a:avLst/>
              </a:prstGeom>
              <a:ln w="19050">
                <a:solidFill>
                  <a:srgbClr val="FF0000"/>
                </a:solidFill>
                <a:prstDash val="dash"/>
                <a:tailEnd type="triangle"/>
              </a:ln>
            </p:spPr>
            <p:style>
              <a:lnRef idx="1">
                <a:schemeClr val="accent4"/>
              </a:lnRef>
              <a:fillRef idx="0">
                <a:schemeClr val="accent4"/>
              </a:fillRef>
              <a:effectRef idx="0">
                <a:schemeClr val="accent4"/>
              </a:effectRef>
              <a:fontRef idx="minor">
                <a:schemeClr val="tx1"/>
              </a:fontRef>
            </p:style>
          </p:cxnSp>
          <p:cxnSp>
            <p:nvCxnSpPr>
              <p:cNvPr id="407" name="직선 화살표 연결선 406">
                <a:extLst>
                  <a:ext uri="{FF2B5EF4-FFF2-40B4-BE49-F238E27FC236}">
                    <a16:creationId xmlns:a16="http://schemas.microsoft.com/office/drawing/2014/main" id="{2218AB49-4485-46F5-AD13-1C97205BC805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754034" y="2783753"/>
                <a:ext cx="331142" cy="0"/>
              </a:xfrm>
              <a:prstGeom prst="straightConnector1">
                <a:avLst/>
              </a:prstGeom>
              <a:ln w="19050">
                <a:solidFill>
                  <a:srgbClr val="FF0000"/>
                </a:solidFill>
                <a:prstDash val="solid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63" name="그룹 362">
              <a:extLst>
                <a:ext uri="{FF2B5EF4-FFF2-40B4-BE49-F238E27FC236}">
                  <a16:creationId xmlns:a16="http://schemas.microsoft.com/office/drawing/2014/main" id="{86F7E7B0-BE36-40EF-BF21-6B4961334198}"/>
                </a:ext>
              </a:extLst>
            </p:cNvPr>
            <p:cNvGrpSpPr/>
            <p:nvPr/>
          </p:nvGrpSpPr>
          <p:grpSpPr>
            <a:xfrm rot="16200000">
              <a:off x="4492852" y="4559594"/>
              <a:ext cx="331142" cy="94580"/>
              <a:chOff x="1754034" y="2783753"/>
              <a:chExt cx="331142" cy="94580"/>
            </a:xfrm>
          </p:grpSpPr>
          <p:cxnSp>
            <p:nvCxnSpPr>
              <p:cNvPr id="402" name="직선 화살표 연결선 401">
                <a:extLst>
                  <a:ext uri="{FF2B5EF4-FFF2-40B4-BE49-F238E27FC236}">
                    <a16:creationId xmlns:a16="http://schemas.microsoft.com/office/drawing/2014/main" id="{28D974B8-F466-4B69-8E9F-274A310A5DC7}"/>
                  </a:ext>
                </a:extLst>
              </p:cNvPr>
              <p:cNvCxnSpPr/>
              <p:nvPr/>
            </p:nvCxnSpPr>
            <p:spPr>
              <a:xfrm>
                <a:off x="1754034" y="2878333"/>
                <a:ext cx="331142" cy="0"/>
              </a:xfrm>
              <a:prstGeom prst="straightConnector1">
                <a:avLst/>
              </a:prstGeom>
              <a:ln w="19050">
                <a:solidFill>
                  <a:srgbClr val="FF0000"/>
                </a:solidFill>
                <a:prstDash val="dash"/>
                <a:tailEnd type="triangle"/>
              </a:ln>
            </p:spPr>
            <p:style>
              <a:lnRef idx="1">
                <a:schemeClr val="accent4"/>
              </a:lnRef>
              <a:fillRef idx="0">
                <a:schemeClr val="accent4"/>
              </a:fillRef>
              <a:effectRef idx="0">
                <a:schemeClr val="accent4"/>
              </a:effectRef>
              <a:fontRef idx="minor">
                <a:schemeClr val="tx1"/>
              </a:fontRef>
            </p:style>
          </p:cxnSp>
          <p:cxnSp>
            <p:nvCxnSpPr>
              <p:cNvPr id="403" name="직선 화살표 연결선 402">
                <a:extLst>
                  <a:ext uri="{FF2B5EF4-FFF2-40B4-BE49-F238E27FC236}">
                    <a16:creationId xmlns:a16="http://schemas.microsoft.com/office/drawing/2014/main" id="{770DA10E-E9FE-47DE-8D52-839B55B1B884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754034" y="2783753"/>
                <a:ext cx="331142" cy="0"/>
              </a:xfrm>
              <a:prstGeom prst="straightConnector1">
                <a:avLst/>
              </a:prstGeom>
              <a:ln w="19050">
                <a:solidFill>
                  <a:srgbClr val="FF0000"/>
                </a:solidFill>
                <a:prstDash val="solid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66" name="그룹 365">
              <a:extLst>
                <a:ext uri="{FF2B5EF4-FFF2-40B4-BE49-F238E27FC236}">
                  <a16:creationId xmlns:a16="http://schemas.microsoft.com/office/drawing/2014/main" id="{2D2CE762-CBE7-4F3C-AD10-952BB5EBA66E}"/>
                </a:ext>
              </a:extLst>
            </p:cNvPr>
            <p:cNvGrpSpPr/>
            <p:nvPr/>
          </p:nvGrpSpPr>
          <p:grpSpPr>
            <a:xfrm>
              <a:off x="1332700" y="5352002"/>
              <a:ext cx="1738069" cy="389402"/>
              <a:chOff x="2418558" y="3150953"/>
              <a:chExt cx="1738069" cy="389402"/>
            </a:xfrm>
          </p:grpSpPr>
          <p:sp>
            <p:nvSpPr>
              <p:cNvPr id="387" name="TextBox 16">
                <a:extLst>
                  <a:ext uri="{FF2B5EF4-FFF2-40B4-BE49-F238E27FC236}">
                    <a16:creationId xmlns:a16="http://schemas.microsoft.com/office/drawing/2014/main" id="{6556B659-E328-43B3-A4EA-820BD73065F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753277" y="3150953"/>
                <a:ext cx="1403350" cy="38940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0" rIns="0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marL="0" marR="0" lvl="0" indent="0" defTabSz="914400" rtl="0" eaLnBrk="1" fontAlgn="base" latinLnBrk="0" hangingPunct="1">
                  <a:lnSpc>
                    <a:spcPct val="11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altLang="en-US" sz="900" dirty="0">
                    <a:solidFill>
                      <a:srgbClr val="FF0000"/>
                    </a:solidFill>
                    <a:latin typeface="+mn-ea"/>
                    <a:cs typeface="Arial" panose="020B0604020202020204" pitchFamily="34" charset="0"/>
                  </a:rPr>
                  <a:t>Instance Request</a:t>
                </a:r>
              </a:p>
              <a:p>
                <a:pPr marL="0" marR="0" lvl="0" indent="0" defTabSz="914400" rtl="0" eaLnBrk="1" fontAlgn="base" latinLnBrk="0" hangingPunct="1">
                  <a:lnSpc>
                    <a:spcPct val="11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altLang="en-US" sz="900" dirty="0">
                    <a:solidFill>
                      <a:srgbClr val="FF0000"/>
                    </a:solidFill>
                    <a:latin typeface="+mn-ea"/>
                    <a:cs typeface="Arial" panose="020B0604020202020204" pitchFamily="34" charset="0"/>
                  </a:rPr>
                  <a:t>External Host Response</a:t>
                </a:r>
              </a:p>
            </p:txBody>
          </p:sp>
          <p:cxnSp>
            <p:nvCxnSpPr>
              <p:cNvPr id="390" name="직선 화살표 연결선 389">
                <a:extLst>
                  <a:ext uri="{FF2B5EF4-FFF2-40B4-BE49-F238E27FC236}">
                    <a16:creationId xmlns:a16="http://schemas.microsoft.com/office/drawing/2014/main" id="{658CAF4F-8FC3-43EB-A9F5-3481D78E7F61}"/>
                  </a:ext>
                </a:extLst>
              </p:cNvPr>
              <p:cNvCxnSpPr/>
              <p:nvPr/>
            </p:nvCxnSpPr>
            <p:spPr>
              <a:xfrm>
                <a:off x="2418558" y="3419913"/>
                <a:ext cx="283792" cy="0"/>
              </a:xfrm>
              <a:prstGeom prst="straightConnector1">
                <a:avLst/>
              </a:prstGeom>
              <a:ln w="19050">
                <a:solidFill>
                  <a:srgbClr val="FF0000"/>
                </a:solidFill>
                <a:prstDash val="dash"/>
                <a:tailEnd type="triangle"/>
              </a:ln>
            </p:spPr>
            <p:style>
              <a:lnRef idx="1">
                <a:schemeClr val="accent4"/>
              </a:lnRef>
              <a:fillRef idx="0">
                <a:schemeClr val="accent4"/>
              </a:fillRef>
              <a:effectRef idx="0">
                <a:schemeClr val="accent4"/>
              </a:effectRef>
              <a:fontRef idx="minor">
                <a:schemeClr val="tx1"/>
              </a:fontRef>
            </p:style>
          </p:cxnSp>
          <p:cxnSp>
            <p:nvCxnSpPr>
              <p:cNvPr id="391" name="직선 화살표 연결선 390">
                <a:extLst>
                  <a:ext uri="{FF2B5EF4-FFF2-40B4-BE49-F238E27FC236}">
                    <a16:creationId xmlns:a16="http://schemas.microsoft.com/office/drawing/2014/main" id="{95212FE4-180A-49D6-B166-4FAD69A1371A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418558" y="3284856"/>
                <a:ext cx="283792" cy="0"/>
              </a:xfrm>
              <a:prstGeom prst="straightConnector1">
                <a:avLst/>
              </a:prstGeom>
              <a:ln w="19050">
                <a:solidFill>
                  <a:srgbClr val="FF0000"/>
                </a:solidFill>
                <a:prstDash val="solid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71" name="직사각형 370">
              <a:extLst>
                <a:ext uri="{FF2B5EF4-FFF2-40B4-BE49-F238E27FC236}">
                  <a16:creationId xmlns:a16="http://schemas.microsoft.com/office/drawing/2014/main" id="{8CF358B9-1A4A-480C-8909-C02CF104DC1C}"/>
                </a:ext>
              </a:extLst>
            </p:cNvPr>
            <p:cNvSpPr/>
            <p:nvPr/>
          </p:nvSpPr>
          <p:spPr>
            <a:xfrm>
              <a:off x="4075071" y="3121173"/>
              <a:ext cx="1178078" cy="972507"/>
            </a:xfrm>
            <a:prstGeom prst="rect">
              <a:avLst/>
            </a:prstGeom>
            <a:noFill/>
            <a:ln>
              <a:solidFill>
                <a:srgbClr val="00B0F0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00"/>
            </a:p>
          </p:txBody>
        </p:sp>
        <p:grpSp>
          <p:nvGrpSpPr>
            <p:cNvPr id="375" name="그룹 374">
              <a:extLst>
                <a:ext uri="{FF2B5EF4-FFF2-40B4-BE49-F238E27FC236}">
                  <a16:creationId xmlns:a16="http://schemas.microsoft.com/office/drawing/2014/main" id="{497F0A69-8C25-43D6-8816-8308867C48D9}"/>
                </a:ext>
              </a:extLst>
            </p:cNvPr>
            <p:cNvGrpSpPr/>
            <p:nvPr/>
          </p:nvGrpSpPr>
          <p:grpSpPr>
            <a:xfrm>
              <a:off x="2432279" y="3287982"/>
              <a:ext cx="1234766" cy="703421"/>
              <a:chOff x="3959051" y="2716930"/>
              <a:chExt cx="1234766" cy="703421"/>
            </a:xfrm>
          </p:grpSpPr>
          <p:pic>
            <p:nvPicPr>
              <p:cNvPr id="381" name="Graphic 75" descr="NAT gateway resource icon for the Amazon VPC service.&#10;">
                <a:extLst>
                  <a:ext uri="{FF2B5EF4-FFF2-40B4-BE49-F238E27FC236}">
                    <a16:creationId xmlns:a16="http://schemas.microsoft.com/office/drawing/2014/main" id="{50D00306-1CA4-41DC-9A90-D7940D5BAE8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/>
              </a:stretch>
            </p:blipFill>
            <p:spPr>
              <a:xfrm>
                <a:off x="4355307" y="2716930"/>
                <a:ext cx="457200" cy="457200"/>
              </a:xfrm>
              <a:prstGeom prst="rect">
                <a:avLst/>
              </a:prstGeom>
            </p:spPr>
          </p:pic>
          <p:sp>
            <p:nvSpPr>
              <p:cNvPr id="382" name="TextBox 17">
                <a:extLst>
                  <a:ext uri="{FF2B5EF4-FFF2-40B4-BE49-F238E27FC236}">
                    <a16:creationId xmlns:a16="http://schemas.microsoft.com/office/drawing/2014/main" id="{3CA34277-2D11-4016-9B33-FFCCC6CB6D6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959051" y="3174130"/>
                <a:ext cx="1234766" cy="24622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Amazon Ember" panose="020B0603020204020204" pitchFamily="34" charset="0"/>
                    <a:cs typeface="Arial" panose="020B0604020202020204" pitchFamily="34" charset="0"/>
                  </a:rPr>
                  <a:t>NAT gateway</a:t>
                </a:r>
              </a:p>
            </p:txBody>
          </p:sp>
        </p:grpSp>
        <p:grpSp>
          <p:nvGrpSpPr>
            <p:cNvPr id="134" name="그룹 133">
              <a:extLst>
                <a:ext uri="{FF2B5EF4-FFF2-40B4-BE49-F238E27FC236}">
                  <a16:creationId xmlns:a16="http://schemas.microsoft.com/office/drawing/2014/main" id="{A4247C42-3B0A-4342-AC3C-10C924C57A28}"/>
                </a:ext>
              </a:extLst>
            </p:cNvPr>
            <p:cNvGrpSpPr/>
            <p:nvPr/>
          </p:nvGrpSpPr>
          <p:grpSpPr>
            <a:xfrm>
              <a:off x="3404652" y="5006265"/>
              <a:ext cx="906998" cy="94580"/>
              <a:chOff x="1754034" y="2783753"/>
              <a:chExt cx="331142" cy="94580"/>
            </a:xfrm>
          </p:grpSpPr>
          <p:cxnSp>
            <p:nvCxnSpPr>
              <p:cNvPr id="135" name="직선 화살표 연결선 134">
                <a:extLst>
                  <a:ext uri="{FF2B5EF4-FFF2-40B4-BE49-F238E27FC236}">
                    <a16:creationId xmlns:a16="http://schemas.microsoft.com/office/drawing/2014/main" id="{41040170-051B-4001-AECD-A99574ACA553}"/>
                  </a:ext>
                </a:extLst>
              </p:cNvPr>
              <p:cNvCxnSpPr/>
              <p:nvPr/>
            </p:nvCxnSpPr>
            <p:spPr>
              <a:xfrm>
                <a:off x="1754034" y="2878333"/>
                <a:ext cx="331142" cy="0"/>
              </a:xfrm>
              <a:prstGeom prst="straightConnector1">
                <a:avLst/>
              </a:prstGeom>
              <a:ln w="19050">
                <a:solidFill>
                  <a:srgbClr val="FF0000"/>
                </a:solidFill>
                <a:prstDash val="dash"/>
                <a:tailEnd type="triangle"/>
              </a:ln>
            </p:spPr>
            <p:style>
              <a:lnRef idx="1">
                <a:schemeClr val="accent4"/>
              </a:lnRef>
              <a:fillRef idx="0">
                <a:schemeClr val="accent4"/>
              </a:fillRef>
              <a:effectRef idx="0">
                <a:schemeClr val="accent4"/>
              </a:effectRef>
              <a:fontRef idx="minor">
                <a:schemeClr val="tx1"/>
              </a:fontRef>
            </p:style>
          </p:cxnSp>
          <p:cxnSp>
            <p:nvCxnSpPr>
              <p:cNvPr id="136" name="직선 화살표 연결선 135">
                <a:extLst>
                  <a:ext uri="{FF2B5EF4-FFF2-40B4-BE49-F238E27FC236}">
                    <a16:creationId xmlns:a16="http://schemas.microsoft.com/office/drawing/2014/main" id="{668A9FCE-F0D8-4B7C-B40D-7E6BD1EAFDD5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754034" y="2783753"/>
                <a:ext cx="331142" cy="0"/>
              </a:xfrm>
              <a:prstGeom prst="straightConnector1">
                <a:avLst/>
              </a:prstGeom>
              <a:ln w="19050">
                <a:solidFill>
                  <a:srgbClr val="FF0000"/>
                </a:solidFill>
                <a:prstDash val="solid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37" name="그룹 136">
              <a:extLst>
                <a:ext uri="{FF2B5EF4-FFF2-40B4-BE49-F238E27FC236}">
                  <a16:creationId xmlns:a16="http://schemas.microsoft.com/office/drawing/2014/main" id="{77A3709E-DB15-4D8B-AE4F-72461497802C}"/>
                </a:ext>
              </a:extLst>
            </p:cNvPr>
            <p:cNvGrpSpPr/>
            <p:nvPr/>
          </p:nvGrpSpPr>
          <p:grpSpPr>
            <a:xfrm rot="5400000">
              <a:off x="2676321" y="4351825"/>
              <a:ext cx="746681" cy="94580"/>
              <a:chOff x="1754034" y="2783753"/>
              <a:chExt cx="331142" cy="94580"/>
            </a:xfrm>
          </p:grpSpPr>
          <p:cxnSp>
            <p:nvCxnSpPr>
              <p:cNvPr id="138" name="직선 화살표 연결선 137">
                <a:extLst>
                  <a:ext uri="{FF2B5EF4-FFF2-40B4-BE49-F238E27FC236}">
                    <a16:creationId xmlns:a16="http://schemas.microsoft.com/office/drawing/2014/main" id="{6F08F62B-E207-4EF3-A3ED-C7A0CD646ECE}"/>
                  </a:ext>
                </a:extLst>
              </p:cNvPr>
              <p:cNvCxnSpPr/>
              <p:nvPr/>
            </p:nvCxnSpPr>
            <p:spPr>
              <a:xfrm>
                <a:off x="1754034" y="2878333"/>
                <a:ext cx="331142" cy="0"/>
              </a:xfrm>
              <a:prstGeom prst="straightConnector1">
                <a:avLst/>
              </a:prstGeom>
              <a:ln w="19050">
                <a:solidFill>
                  <a:srgbClr val="FF0000"/>
                </a:solidFill>
                <a:prstDash val="dash"/>
                <a:tailEnd type="triangle"/>
              </a:ln>
            </p:spPr>
            <p:style>
              <a:lnRef idx="1">
                <a:schemeClr val="accent4"/>
              </a:lnRef>
              <a:fillRef idx="0">
                <a:schemeClr val="accent4"/>
              </a:fillRef>
              <a:effectRef idx="0">
                <a:schemeClr val="accent4"/>
              </a:effectRef>
              <a:fontRef idx="minor">
                <a:schemeClr val="tx1"/>
              </a:fontRef>
            </p:style>
          </p:cxnSp>
          <p:cxnSp>
            <p:nvCxnSpPr>
              <p:cNvPr id="139" name="직선 화살표 연결선 138">
                <a:extLst>
                  <a:ext uri="{FF2B5EF4-FFF2-40B4-BE49-F238E27FC236}">
                    <a16:creationId xmlns:a16="http://schemas.microsoft.com/office/drawing/2014/main" id="{6802D32B-CAF9-4327-AA8C-8C5DE1AABE8B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754034" y="2783753"/>
                <a:ext cx="331142" cy="0"/>
              </a:xfrm>
              <a:prstGeom prst="straightConnector1">
                <a:avLst/>
              </a:prstGeom>
              <a:ln w="19050">
                <a:solidFill>
                  <a:srgbClr val="FF0000"/>
                </a:solidFill>
                <a:prstDash val="solid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40" name="그룹 139">
              <a:extLst>
                <a:ext uri="{FF2B5EF4-FFF2-40B4-BE49-F238E27FC236}">
                  <a16:creationId xmlns:a16="http://schemas.microsoft.com/office/drawing/2014/main" id="{FAD6F90C-66B9-4C04-BD9C-A42C45CF45BA}"/>
                </a:ext>
              </a:extLst>
            </p:cNvPr>
            <p:cNvGrpSpPr/>
            <p:nvPr/>
          </p:nvGrpSpPr>
          <p:grpSpPr>
            <a:xfrm>
              <a:off x="1627679" y="3472885"/>
              <a:ext cx="611318" cy="94580"/>
              <a:chOff x="1754034" y="2783753"/>
              <a:chExt cx="331142" cy="94580"/>
            </a:xfrm>
          </p:grpSpPr>
          <p:cxnSp>
            <p:nvCxnSpPr>
              <p:cNvPr id="141" name="직선 화살표 연결선 140">
                <a:extLst>
                  <a:ext uri="{FF2B5EF4-FFF2-40B4-BE49-F238E27FC236}">
                    <a16:creationId xmlns:a16="http://schemas.microsoft.com/office/drawing/2014/main" id="{47E62B5F-4978-43CB-9FD7-46F100E8A91D}"/>
                  </a:ext>
                </a:extLst>
              </p:cNvPr>
              <p:cNvCxnSpPr/>
              <p:nvPr/>
            </p:nvCxnSpPr>
            <p:spPr>
              <a:xfrm>
                <a:off x="1754034" y="2878333"/>
                <a:ext cx="331142" cy="0"/>
              </a:xfrm>
              <a:prstGeom prst="straightConnector1">
                <a:avLst/>
              </a:prstGeom>
              <a:ln w="19050">
                <a:solidFill>
                  <a:srgbClr val="FF0000"/>
                </a:solidFill>
                <a:prstDash val="dash"/>
                <a:tailEnd type="triangle"/>
              </a:ln>
            </p:spPr>
            <p:style>
              <a:lnRef idx="1">
                <a:schemeClr val="accent4"/>
              </a:lnRef>
              <a:fillRef idx="0">
                <a:schemeClr val="accent4"/>
              </a:fillRef>
              <a:effectRef idx="0">
                <a:schemeClr val="accent4"/>
              </a:effectRef>
              <a:fontRef idx="minor">
                <a:schemeClr val="tx1"/>
              </a:fontRef>
            </p:style>
          </p:cxnSp>
          <p:cxnSp>
            <p:nvCxnSpPr>
              <p:cNvPr id="142" name="직선 화살표 연결선 141">
                <a:extLst>
                  <a:ext uri="{FF2B5EF4-FFF2-40B4-BE49-F238E27FC236}">
                    <a16:creationId xmlns:a16="http://schemas.microsoft.com/office/drawing/2014/main" id="{9F01C5AC-239C-418F-BFE7-259FC1FA9201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754034" y="2783753"/>
                <a:ext cx="331142" cy="0"/>
              </a:xfrm>
              <a:prstGeom prst="straightConnector1">
                <a:avLst/>
              </a:prstGeom>
              <a:ln w="19050">
                <a:solidFill>
                  <a:srgbClr val="FF0000"/>
                </a:solidFill>
                <a:prstDash val="solid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" name="그룹 1">
              <a:extLst>
                <a:ext uri="{FF2B5EF4-FFF2-40B4-BE49-F238E27FC236}">
                  <a16:creationId xmlns:a16="http://schemas.microsoft.com/office/drawing/2014/main" id="{18C335C3-2AF2-4153-B5DA-DF65D698121F}"/>
                </a:ext>
              </a:extLst>
            </p:cNvPr>
            <p:cNvGrpSpPr/>
            <p:nvPr/>
          </p:nvGrpSpPr>
          <p:grpSpPr>
            <a:xfrm>
              <a:off x="64655" y="3321185"/>
              <a:ext cx="788342" cy="673811"/>
              <a:chOff x="78322" y="3281605"/>
              <a:chExt cx="788342" cy="673811"/>
            </a:xfrm>
          </p:grpSpPr>
          <p:sp>
            <p:nvSpPr>
              <p:cNvPr id="421" name="TextBox 16">
                <a:extLst>
                  <a:ext uri="{FF2B5EF4-FFF2-40B4-BE49-F238E27FC236}">
                    <a16:creationId xmlns:a16="http://schemas.microsoft.com/office/drawing/2014/main" id="{89C8A901-3C00-4ACB-9F26-62BCC2EFDDF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8322" y="3709195"/>
                <a:ext cx="788342" cy="24622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0" rIns="0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000" b="0" i="0" u="none" strike="noStrike" kern="1200" cap="none" spc="0" normalizeH="0" baseline="0" noProof="0" dirty="0" err="1">
                    <a:ln>
                      <a:noFill/>
                    </a:ln>
                    <a:effectLst/>
                    <a:uLnTx/>
                    <a:uFillTx/>
                    <a:latin typeface="Arial" panose="020B0604020202020204" pitchFamily="34" charset="0"/>
                    <a:ea typeface="Amazon Ember" panose="020B0603020204020204" pitchFamily="34" charset="0"/>
                    <a:cs typeface="Arial" panose="020B0604020202020204" pitchFamily="34" charset="0"/>
                  </a:rPr>
                  <a:t>Extenal</a:t>
                </a:r>
                <a:r>
                  <a:rPr kumimoji="0" lang="en-US" altLang="en-US" sz="1000" b="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Arial" panose="020B0604020202020204" pitchFamily="34" charset="0"/>
                    <a:ea typeface="Amazon Ember" panose="020B0603020204020204" pitchFamily="34" charset="0"/>
                    <a:cs typeface="Arial" panose="020B0604020202020204" pitchFamily="34" charset="0"/>
                  </a:rPr>
                  <a:t> Host</a:t>
                </a:r>
              </a:p>
            </p:txBody>
          </p:sp>
          <p:pic>
            <p:nvPicPr>
              <p:cNvPr id="143" name="Graphic 68" descr="Client resource icon for the General Icons category.">
                <a:extLst>
                  <a:ext uri="{FF2B5EF4-FFF2-40B4-BE49-F238E27FC236}">
                    <a16:creationId xmlns:a16="http://schemas.microsoft.com/office/drawing/2014/main" id="{4A5A8E05-D381-4D72-9126-3EA215CF694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12"/>
                  </a:ext>
                </a:extLst>
              </a:blip>
              <a:stretch>
                <a:fillRect/>
              </a:stretch>
            </p:blipFill>
            <p:spPr>
              <a:xfrm>
                <a:off x="243893" y="3281605"/>
                <a:ext cx="457200" cy="457200"/>
              </a:xfrm>
              <a:prstGeom prst="rect">
                <a:avLst/>
              </a:prstGeom>
            </p:spPr>
          </p:pic>
        </p:grpSp>
        <p:grpSp>
          <p:nvGrpSpPr>
            <p:cNvPr id="121" name="그룹 120">
              <a:extLst>
                <a:ext uri="{FF2B5EF4-FFF2-40B4-BE49-F238E27FC236}">
                  <a16:creationId xmlns:a16="http://schemas.microsoft.com/office/drawing/2014/main" id="{2C0B6DA2-601F-40BF-A276-ABFC53C5FC43}"/>
                </a:ext>
              </a:extLst>
            </p:cNvPr>
            <p:cNvGrpSpPr/>
            <p:nvPr/>
          </p:nvGrpSpPr>
          <p:grpSpPr>
            <a:xfrm>
              <a:off x="2756385" y="4827004"/>
              <a:ext cx="591948" cy="704214"/>
              <a:chOff x="6229549" y="3743110"/>
              <a:chExt cx="591948" cy="704214"/>
            </a:xfrm>
          </p:grpSpPr>
          <p:pic>
            <p:nvPicPr>
              <p:cNvPr id="122" name="Graphic 71" descr="Router resource icon for the Amazon VPC service.&#10;">
                <a:extLst>
                  <a:ext uri="{FF2B5EF4-FFF2-40B4-BE49-F238E27FC236}">
                    <a16:creationId xmlns:a16="http://schemas.microsoft.com/office/drawing/2014/main" id="{616F18FC-4791-4352-B122-C8D66CE75A2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6293652" y="3743110"/>
                <a:ext cx="457200" cy="457200"/>
              </a:xfrm>
              <a:prstGeom prst="rect">
                <a:avLst/>
              </a:prstGeom>
            </p:spPr>
          </p:pic>
          <p:sp>
            <p:nvSpPr>
              <p:cNvPr id="123" name="TextBox 27">
                <a:extLst>
                  <a:ext uri="{FF2B5EF4-FFF2-40B4-BE49-F238E27FC236}">
                    <a16:creationId xmlns:a16="http://schemas.microsoft.com/office/drawing/2014/main" id="{27841DFE-1CD3-4B5B-AF03-A4BA8107458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229549" y="4201103"/>
                <a:ext cx="591948" cy="24622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Amazon Ember" panose="020B0603020204020204" pitchFamily="34" charset="0"/>
                    <a:cs typeface="Arial" panose="020B0604020202020204" pitchFamily="34" charset="0"/>
                  </a:rPr>
                  <a:t>Router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6813587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그룹 2">
            <a:extLst>
              <a:ext uri="{FF2B5EF4-FFF2-40B4-BE49-F238E27FC236}">
                <a16:creationId xmlns:a16="http://schemas.microsoft.com/office/drawing/2014/main" id="{9ADA8C07-08DB-48E4-A97A-A8BBDA4B597A}"/>
              </a:ext>
            </a:extLst>
          </p:cNvPr>
          <p:cNvGrpSpPr/>
          <p:nvPr/>
        </p:nvGrpSpPr>
        <p:grpSpPr>
          <a:xfrm>
            <a:off x="914399" y="1447800"/>
            <a:ext cx="9101139" cy="3438524"/>
            <a:chOff x="914399" y="1447800"/>
            <a:chExt cx="9101139" cy="3438524"/>
          </a:xfrm>
        </p:grpSpPr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AD88F493-9AF0-4B9A-835F-C018405FA98B}"/>
                </a:ext>
              </a:extLst>
            </p:cNvPr>
            <p:cNvSpPr/>
            <p:nvPr/>
          </p:nvSpPr>
          <p:spPr>
            <a:xfrm>
              <a:off x="914399" y="1447800"/>
              <a:ext cx="9101139" cy="3438524"/>
            </a:xfrm>
            <a:prstGeom prst="rect">
              <a:avLst/>
            </a:prstGeom>
            <a:pattFill prst="horzBrick">
              <a:fgClr>
                <a:schemeClr val="bg1">
                  <a:lumMod val="95000"/>
                </a:schemeClr>
              </a:fgClr>
              <a:bgClr>
                <a:schemeClr val="bg1"/>
              </a:bgClr>
            </a:patt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00"/>
            </a:p>
          </p:txBody>
        </p:sp>
        <p:grpSp>
          <p:nvGrpSpPr>
            <p:cNvPr id="30" name="그룹 29">
              <a:extLst>
                <a:ext uri="{FF2B5EF4-FFF2-40B4-BE49-F238E27FC236}">
                  <a16:creationId xmlns:a16="http://schemas.microsoft.com/office/drawing/2014/main" id="{C701BA5D-A49A-4E86-BF1A-C77DB532E85B}"/>
                </a:ext>
              </a:extLst>
            </p:cNvPr>
            <p:cNvGrpSpPr/>
            <p:nvPr/>
          </p:nvGrpSpPr>
          <p:grpSpPr>
            <a:xfrm>
              <a:off x="997829" y="2267067"/>
              <a:ext cx="457200" cy="703421"/>
              <a:chOff x="1296834" y="2412493"/>
              <a:chExt cx="457200" cy="703421"/>
            </a:xfrm>
          </p:grpSpPr>
          <p:pic>
            <p:nvPicPr>
              <p:cNvPr id="4" name="Graphic 22" descr="User resource icon for the General Icons category.">
                <a:extLst>
                  <a:ext uri="{FF2B5EF4-FFF2-40B4-BE49-F238E27FC236}">
                    <a16:creationId xmlns:a16="http://schemas.microsoft.com/office/drawing/2014/main" id="{D293F237-FE28-4B8C-8A87-131787862329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rcRect/>
              <a:stretch/>
            </p:blipFill>
            <p:spPr bwMode="auto">
              <a:xfrm>
                <a:off x="1296834" y="2412493"/>
                <a:ext cx="457200" cy="4572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24" name="TextBox 16">
                <a:extLst>
                  <a:ext uri="{FF2B5EF4-FFF2-40B4-BE49-F238E27FC236}">
                    <a16:creationId xmlns:a16="http://schemas.microsoft.com/office/drawing/2014/main" id="{566A5201-8E8F-49BC-95E5-AA1267F1D63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306605" y="2869693"/>
                <a:ext cx="426452" cy="24622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0" rIns="0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000" b="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Arial" panose="020B0604020202020204" pitchFamily="34" charset="0"/>
                    <a:ea typeface="Amazon Ember" panose="020B0603020204020204" pitchFamily="34" charset="0"/>
                    <a:cs typeface="Arial" panose="020B0604020202020204" pitchFamily="34" charset="0"/>
                  </a:rPr>
                  <a:t>User</a:t>
                </a:r>
              </a:p>
            </p:txBody>
          </p:sp>
        </p:grpSp>
        <p:grpSp>
          <p:nvGrpSpPr>
            <p:cNvPr id="31" name="그룹 30">
              <a:extLst>
                <a:ext uri="{FF2B5EF4-FFF2-40B4-BE49-F238E27FC236}">
                  <a16:creationId xmlns:a16="http://schemas.microsoft.com/office/drawing/2014/main" id="{409EFEC8-7CA7-46FC-AEC2-48BE428E6F5D}"/>
                </a:ext>
              </a:extLst>
            </p:cNvPr>
            <p:cNvGrpSpPr/>
            <p:nvPr/>
          </p:nvGrpSpPr>
          <p:grpSpPr>
            <a:xfrm>
              <a:off x="1631457" y="2267067"/>
              <a:ext cx="976192" cy="857310"/>
              <a:chOff x="3147866" y="2412493"/>
              <a:chExt cx="976192" cy="857310"/>
            </a:xfrm>
          </p:grpSpPr>
          <p:pic>
            <p:nvPicPr>
              <p:cNvPr id="9" name="Graphic 63" descr="Internet gateway resource icon for the Amazon VPC service.&#10;">
                <a:extLst>
                  <a:ext uri="{FF2B5EF4-FFF2-40B4-BE49-F238E27FC236}">
                    <a16:creationId xmlns:a16="http://schemas.microsoft.com/office/drawing/2014/main" id="{27D10B3B-D01E-4D75-8C60-8E8EA999ED0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3407362" y="2412493"/>
                <a:ext cx="457200" cy="457200"/>
              </a:xfrm>
              <a:prstGeom prst="rect">
                <a:avLst/>
              </a:prstGeom>
            </p:spPr>
          </p:pic>
          <p:sp>
            <p:nvSpPr>
              <p:cNvPr id="25" name="TextBox 16">
                <a:extLst>
                  <a:ext uri="{FF2B5EF4-FFF2-40B4-BE49-F238E27FC236}">
                    <a16:creationId xmlns:a16="http://schemas.microsoft.com/office/drawing/2014/main" id="{4C7BDD90-87CE-4258-8521-B7F753B9C65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147866" y="2869693"/>
                <a:ext cx="976192" cy="4001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0" rIns="0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000" b="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Arial" panose="020B0604020202020204" pitchFamily="34" charset="0"/>
                    <a:ea typeface="Amazon Ember" panose="020B0603020204020204" pitchFamily="34" charset="0"/>
                    <a:cs typeface="Arial" panose="020B0604020202020204" pitchFamily="34" charset="0"/>
                  </a:rPr>
                  <a:t>Internet</a:t>
                </a:r>
              </a:p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000" b="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Arial" panose="020B0604020202020204" pitchFamily="34" charset="0"/>
                    <a:ea typeface="Amazon Ember" panose="020B0603020204020204" pitchFamily="34" charset="0"/>
                    <a:cs typeface="Arial" panose="020B0604020202020204" pitchFamily="34" charset="0"/>
                  </a:rPr>
                  <a:t>Gateway</a:t>
                </a:r>
              </a:p>
            </p:txBody>
          </p:sp>
        </p:grpSp>
        <p:grpSp>
          <p:nvGrpSpPr>
            <p:cNvPr id="33" name="그룹 32">
              <a:extLst>
                <a:ext uri="{FF2B5EF4-FFF2-40B4-BE49-F238E27FC236}">
                  <a16:creationId xmlns:a16="http://schemas.microsoft.com/office/drawing/2014/main" id="{59465786-B24E-4CEF-AC25-A541161C404A}"/>
                </a:ext>
              </a:extLst>
            </p:cNvPr>
            <p:cNvGrpSpPr/>
            <p:nvPr/>
          </p:nvGrpSpPr>
          <p:grpSpPr>
            <a:xfrm>
              <a:off x="3516114" y="2267067"/>
              <a:ext cx="788342" cy="703421"/>
              <a:chOff x="5473229" y="2412493"/>
              <a:chExt cx="788342" cy="703421"/>
            </a:xfrm>
          </p:grpSpPr>
          <p:pic>
            <p:nvPicPr>
              <p:cNvPr id="19" name="Graphic 81" descr="Network access control list resource icon for the Amazon VPC service.&#10;">
                <a:extLst>
                  <a:ext uri="{FF2B5EF4-FFF2-40B4-BE49-F238E27FC236}">
                    <a16:creationId xmlns:a16="http://schemas.microsoft.com/office/drawing/2014/main" id="{17A658D6-7849-471E-B1D7-1A729D05035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>
                <a:off x="5638800" y="2412493"/>
                <a:ext cx="457200" cy="457200"/>
              </a:xfrm>
              <a:prstGeom prst="rect">
                <a:avLst/>
              </a:prstGeom>
            </p:spPr>
          </p:pic>
          <p:sp>
            <p:nvSpPr>
              <p:cNvPr id="27" name="TextBox 16">
                <a:extLst>
                  <a:ext uri="{FF2B5EF4-FFF2-40B4-BE49-F238E27FC236}">
                    <a16:creationId xmlns:a16="http://schemas.microsoft.com/office/drawing/2014/main" id="{171F02B5-ED2E-4F67-BAB7-1547860AECD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473229" y="2869693"/>
                <a:ext cx="788342" cy="24622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0" rIns="0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000" b="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Arial" panose="020B0604020202020204" pitchFamily="34" charset="0"/>
                    <a:ea typeface="Amazon Ember" panose="020B0603020204020204" pitchFamily="34" charset="0"/>
                    <a:cs typeface="Arial" panose="020B0604020202020204" pitchFamily="34" charset="0"/>
                  </a:rPr>
                  <a:t>Public NACL</a:t>
                </a:r>
              </a:p>
            </p:txBody>
          </p:sp>
        </p:grpSp>
        <p:sp>
          <p:nvSpPr>
            <p:cNvPr id="35" name="직사각형 34">
              <a:extLst>
                <a:ext uri="{FF2B5EF4-FFF2-40B4-BE49-F238E27FC236}">
                  <a16:creationId xmlns:a16="http://schemas.microsoft.com/office/drawing/2014/main" id="{97352FBE-0800-4229-98CB-67729947E659}"/>
                </a:ext>
              </a:extLst>
            </p:cNvPr>
            <p:cNvSpPr/>
            <p:nvPr/>
          </p:nvSpPr>
          <p:spPr>
            <a:xfrm>
              <a:off x="4569250" y="1996640"/>
              <a:ext cx="1464736" cy="2588059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00"/>
            </a:p>
          </p:txBody>
        </p:sp>
        <p:grpSp>
          <p:nvGrpSpPr>
            <p:cNvPr id="34" name="그룹 33">
              <a:extLst>
                <a:ext uri="{FF2B5EF4-FFF2-40B4-BE49-F238E27FC236}">
                  <a16:creationId xmlns:a16="http://schemas.microsoft.com/office/drawing/2014/main" id="{B9A1B768-AF00-4F06-AE90-8283C30DEEC8}"/>
                </a:ext>
              </a:extLst>
            </p:cNvPr>
            <p:cNvGrpSpPr/>
            <p:nvPr/>
          </p:nvGrpSpPr>
          <p:grpSpPr>
            <a:xfrm>
              <a:off x="4901760" y="2343267"/>
              <a:ext cx="788342" cy="703421"/>
              <a:chOff x="7029643" y="2412493"/>
              <a:chExt cx="788342" cy="703421"/>
            </a:xfrm>
          </p:grpSpPr>
          <p:pic>
            <p:nvPicPr>
              <p:cNvPr id="23" name="Graphic 60">
                <a:extLst>
                  <a:ext uri="{FF2B5EF4-FFF2-40B4-BE49-F238E27FC236}">
                    <a16:creationId xmlns:a16="http://schemas.microsoft.com/office/drawing/2014/main" id="{E2C68013-06EE-4E64-AFD8-48F7E3EB4B8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rcRect/>
              <a:stretch/>
            </p:blipFill>
            <p:spPr bwMode="auto">
              <a:xfrm>
                <a:off x="7195214" y="2412493"/>
                <a:ext cx="457200" cy="4572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29" name="TextBox 16">
                <a:extLst>
                  <a:ext uri="{FF2B5EF4-FFF2-40B4-BE49-F238E27FC236}">
                    <a16:creationId xmlns:a16="http://schemas.microsoft.com/office/drawing/2014/main" id="{490218DD-43CF-40DC-B6EF-95D7FCB5518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029643" y="2869693"/>
                <a:ext cx="788342" cy="24622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0" rIns="0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altLang="en-US" sz="1000" dirty="0">
                    <a:latin typeface="Arial" panose="020B0604020202020204" pitchFamily="34" charset="0"/>
                    <a:ea typeface="Amazon Ember" panose="020B0603020204020204" pitchFamily="34" charset="0"/>
                    <a:cs typeface="Arial" panose="020B0604020202020204" pitchFamily="34" charset="0"/>
                  </a:rPr>
                  <a:t>EC2 Instance</a:t>
                </a:r>
                <a:endParaRPr kumimoji="0" lang="en-US" altLang="en-US" sz="1000" b="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Arial" panose="020B0604020202020204" pitchFamily="34" charset="0"/>
                  <a:ea typeface="Amazon Ember" panose="020B0603020204020204" pitchFamily="34" charset="0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36" name="직사각형 35">
              <a:extLst>
                <a:ext uri="{FF2B5EF4-FFF2-40B4-BE49-F238E27FC236}">
                  <a16:creationId xmlns:a16="http://schemas.microsoft.com/office/drawing/2014/main" id="{E05326DD-4155-4C21-82A1-BFD6AED628A5}"/>
                </a:ext>
              </a:extLst>
            </p:cNvPr>
            <p:cNvSpPr/>
            <p:nvPr/>
          </p:nvSpPr>
          <p:spPr>
            <a:xfrm>
              <a:off x="6183698" y="1996641"/>
              <a:ext cx="1464736" cy="1447589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00"/>
            </a:p>
          </p:txBody>
        </p:sp>
        <p:grpSp>
          <p:nvGrpSpPr>
            <p:cNvPr id="37" name="그룹 36">
              <a:extLst>
                <a:ext uri="{FF2B5EF4-FFF2-40B4-BE49-F238E27FC236}">
                  <a16:creationId xmlns:a16="http://schemas.microsoft.com/office/drawing/2014/main" id="{CD83DCD0-BF75-4E79-AF51-CCBFC375FF31}"/>
                </a:ext>
              </a:extLst>
            </p:cNvPr>
            <p:cNvGrpSpPr/>
            <p:nvPr/>
          </p:nvGrpSpPr>
          <p:grpSpPr>
            <a:xfrm>
              <a:off x="6516208" y="2343267"/>
              <a:ext cx="788342" cy="703421"/>
              <a:chOff x="7029643" y="2412493"/>
              <a:chExt cx="788342" cy="703421"/>
            </a:xfrm>
          </p:grpSpPr>
          <p:pic>
            <p:nvPicPr>
              <p:cNvPr id="38" name="Graphic 60">
                <a:extLst>
                  <a:ext uri="{FF2B5EF4-FFF2-40B4-BE49-F238E27FC236}">
                    <a16:creationId xmlns:a16="http://schemas.microsoft.com/office/drawing/2014/main" id="{CA1140FD-438E-4B3C-9BAB-293C1F78355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rcRect/>
              <a:stretch/>
            </p:blipFill>
            <p:spPr bwMode="auto">
              <a:xfrm>
                <a:off x="7195214" y="2412493"/>
                <a:ext cx="457200" cy="4572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39" name="TextBox 16">
                <a:extLst>
                  <a:ext uri="{FF2B5EF4-FFF2-40B4-BE49-F238E27FC236}">
                    <a16:creationId xmlns:a16="http://schemas.microsoft.com/office/drawing/2014/main" id="{EE7E2CCA-DDA7-4478-8D0C-9A81AD9425E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029643" y="2869693"/>
                <a:ext cx="788342" cy="24622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0" rIns="0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altLang="en-US" sz="1000" dirty="0">
                    <a:latin typeface="Arial" panose="020B0604020202020204" pitchFamily="34" charset="0"/>
                    <a:ea typeface="Amazon Ember" panose="020B0603020204020204" pitchFamily="34" charset="0"/>
                    <a:cs typeface="Arial" panose="020B0604020202020204" pitchFamily="34" charset="0"/>
                  </a:rPr>
                  <a:t>EC2 Instance</a:t>
                </a:r>
                <a:endParaRPr kumimoji="0" lang="en-US" altLang="en-US" sz="1000" b="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Arial" panose="020B0604020202020204" pitchFamily="34" charset="0"/>
                  <a:ea typeface="Amazon Ember" panose="020B0603020204020204" pitchFamily="34" charset="0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40" name="직사각형 39">
              <a:extLst>
                <a:ext uri="{FF2B5EF4-FFF2-40B4-BE49-F238E27FC236}">
                  <a16:creationId xmlns:a16="http://schemas.microsoft.com/office/drawing/2014/main" id="{36215FE3-8DFA-4FE3-90FF-24FC736F39F1}"/>
                </a:ext>
              </a:extLst>
            </p:cNvPr>
            <p:cNvSpPr/>
            <p:nvPr/>
          </p:nvSpPr>
          <p:spPr>
            <a:xfrm>
              <a:off x="4717608" y="2098241"/>
              <a:ext cx="2759752" cy="1187669"/>
            </a:xfrm>
            <a:prstGeom prst="rect">
              <a:avLst/>
            </a:prstGeom>
            <a:noFill/>
            <a:ln>
              <a:solidFill>
                <a:srgbClr val="00B0F0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00"/>
            </a:p>
          </p:txBody>
        </p:sp>
        <p:sp>
          <p:nvSpPr>
            <p:cNvPr id="10" name="TextBox 12">
              <a:extLst>
                <a:ext uri="{FF2B5EF4-FFF2-40B4-BE49-F238E27FC236}">
                  <a16:creationId xmlns:a16="http://schemas.microsoft.com/office/drawing/2014/main" id="{DCC440D8-0460-420C-85D3-92ECF1AC6C1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395808" y="2103422"/>
              <a:ext cx="1403350" cy="2462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Amazon Ember" panose="020B0603020204020204" pitchFamily="34" charset="0"/>
                  <a:cs typeface="Arial" panose="020B0604020202020204" pitchFamily="34" charset="0"/>
                </a:rPr>
                <a:t>Security Group</a:t>
              </a:r>
            </a:p>
          </p:txBody>
        </p:sp>
        <p:sp>
          <p:nvSpPr>
            <p:cNvPr id="41" name="TextBox 12">
              <a:extLst>
                <a:ext uri="{FF2B5EF4-FFF2-40B4-BE49-F238E27FC236}">
                  <a16:creationId xmlns:a16="http://schemas.microsoft.com/office/drawing/2014/main" id="{A1B10D9B-99BF-4FAF-98C1-843AAC155D7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03783" y="1719641"/>
              <a:ext cx="1403350" cy="2462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Amazon Ember" panose="020B0603020204020204" pitchFamily="34" charset="0"/>
                  <a:cs typeface="Arial" panose="020B0604020202020204" pitchFamily="34" charset="0"/>
                </a:rPr>
                <a:t>Public Subnet</a:t>
              </a:r>
            </a:p>
          </p:txBody>
        </p:sp>
        <p:sp>
          <p:nvSpPr>
            <p:cNvPr id="42" name="TextBox 12">
              <a:extLst>
                <a:ext uri="{FF2B5EF4-FFF2-40B4-BE49-F238E27FC236}">
                  <a16:creationId xmlns:a16="http://schemas.microsoft.com/office/drawing/2014/main" id="{FB4175A0-9684-4378-9579-DAA6FCE7219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208704" y="1719641"/>
              <a:ext cx="1403350" cy="2462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Amazon Ember" panose="020B0603020204020204" pitchFamily="34" charset="0"/>
                  <a:cs typeface="Arial" panose="020B0604020202020204" pitchFamily="34" charset="0"/>
                </a:rPr>
                <a:t>Public Subnet</a:t>
              </a:r>
            </a:p>
          </p:txBody>
        </p:sp>
        <p:sp>
          <p:nvSpPr>
            <p:cNvPr id="104" name="직사각형 103">
              <a:extLst>
                <a:ext uri="{FF2B5EF4-FFF2-40B4-BE49-F238E27FC236}">
                  <a16:creationId xmlns:a16="http://schemas.microsoft.com/office/drawing/2014/main" id="{4C17DDCD-F785-4578-A779-0847EEDFA28E}"/>
                </a:ext>
              </a:extLst>
            </p:cNvPr>
            <p:cNvSpPr/>
            <p:nvPr/>
          </p:nvSpPr>
          <p:spPr>
            <a:xfrm>
              <a:off x="7785373" y="1996641"/>
              <a:ext cx="1464736" cy="1447590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00"/>
            </a:p>
          </p:txBody>
        </p:sp>
        <p:sp>
          <p:nvSpPr>
            <p:cNvPr id="105" name="TextBox 12">
              <a:extLst>
                <a:ext uri="{FF2B5EF4-FFF2-40B4-BE49-F238E27FC236}">
                  <a16:creationId xmlns:a16="http://schemas.microsoft.com/office/drawing/2014/main" id="{EB0A014A-E5D9-4F41-A46D-B7A1D89496D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816066" y="1719641"/>
              <a:ext cx="1403350" cy="2462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Amazon Ember" panose="020B0603020204020204" pitchFamily="34" charset="0"/>
                  <a:cs typeface="Arial" panose="020B0604020202020204" pitchFamily="34" charset="0"/>
                </a:rPr>
                <a:t>Private Subnet</a:t>
              </a:r>
            </a:p>
          </p:txBody>
        </p:sp>
        <p:grpSp>
          <p:nvGrpSpPr>
            <p:cNvPr id="50" name="Group 38" descr="Virtual private cloud (VPC) group.">
              <a:extLst>
                <a:ext uri="{FF2B5EF4-FFF2-40B4-BE49-F238E27FC236}">
                  <a16:creationId xmlns:a16="http://schemas.microsoft.com/office/drawing/2014/main" id="{4D98BC5F-0936-4298-8EFE-A6C7FB34AA6A}"/>
                </a:ext>
              </a:extLst>
            </p:cNvPr>
            <p:cNvGrpSpPr/>
            <p:nvPr/>
          </p:nvGrpSpPr>
          <p:grpSpPr>
            <a:xfrm>
              <a:off x="1980943" y="1605342"/>
              <a:ext cx="7807712" cy="3147633"/>
              <a:chOff x="2283292" y="2618864"/>
              <a:chExt cx="7807712" cy="3147633"/>
            </a:xfrm>
          </p:grpSpPr>
          <p:sp>
            <p:nvSpPr>
              <p:cNvPr id="51" name="Rectangle 39">
                <a:extLst>
                  <a:ext uri="{FF2B5EF4-FFF2-40B4-BE49-F238E27FC236}">
                    <a16:creationId xmlns:a16="http://schemas.microsoft.com/office/drawing/2014/main" id="{61CCC801-B733-4F9A-8F55-4329EEED3337}"/>
                  </a:ext>
                </a:extLst>
              </p:cNvPr>
              <p:cNvSpPr/>
              <p:nvPr/>
            </p:nvSpPr>
            <p:spPr>
              <a:xfrm>
                <a:off x="2283292" y="2618864"/>
                <a:ext cx="7807712" cy="3147633"/>
              </a:xfrm>
              <a:prstGeom prst="rect">
                <a:avLst/>
              </a:prstGeom>
              <a:noFill/>
              <a:ln w="15875">
                <a:solidFill>
                  <a:srgbClr val="8C4FF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502920" tIns="91440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000" b="0" i="0" u="none" strike="noStrike" kern="1200" cap="none" spc="0" normalizeH="0" baseline="0" noProof="0" dirty="0">
                    <a:ln w="0"/>
                    <a:solidFill>
                      <a:schemeClr val="tx1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VPC</a:t>
                </a:r>
              </a:p>
            </p:txBody>
          </p:sp>
          <p:pic>
            <p:nvPicPr>
              <p:cNvPr id="52" name="Graphic 40" descr="VPC group icon. ">
                <a:extLst>
                  <a:ext uri="{FF2B5EF4-FFF2-40B4-BE49-F238E27FC236}">
                    <a16:creationId xmlns:a16="http://schemas.microsoft.com/office/drawing/2014/main" id="{6789EC5B-3EC5-4E9F-AF63-F81C8DB398D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rcRect/>
              <a:stretch/>
            </p:blipFill>
            <p:spPr>
              <a:xfrm>
                <a:off x="2283292" y="2618865"/>
                <a:ext cx="381000" cy="381000"/>
              </a:xfrm>
              <a:prstGeom prst="rect">
                <a:avLst/>
              </a:prstGeom>
            </p:spPr>
          </p:pic>
        </p:grpSp>
        <p:grpSp>
          <p:nvGrpSpPr>
            <p:cNvPr id="216" name="그룹 215">
              <a:extLst>
                <a:ext uri="{FF2B5EF4-FFF2-40B4-BE49-F238E27FC236}">
                  <a16:creationId xmlns:a16="http://schemas.microsoft.com/office/drawing/2014/main" id="{14F7D07F-AD42-4C36-9C09-D5F26F7608BD}"/>
                </a:ext>
              </a:extLst>
            </p:cNvPr>
            <p:cNvGrpSpPr/>
            <p:nvPr/>
          </p:nvGrpSpPr>
          <p:grpSpPr>
            <a:xfrm>
              <a:off x="1455029" y="2389660"/>
              <a:ext cx="331142" cy="278595"/>
              <a:chOff x="1754034" y="2599738"/>
              <a:chExt cx="331142" cy="278595"/>
            </a:xfrm>
          </p:grpSpPr>
          <p:cxnSp>
            <p:nvCxnSpPr>
              <p:cNvPr id="87" name="직선 화살표 연결선 86">
                <a:extLst>
                  <a:ext uri="{FF2B5EF4-FFF2-40B4-BE49-F238E27FC236}">
                    <a16:creationId xmlns:a16="http://schemas.microsoft.com/office/drawing/2014/main" id="{19BB9F31-42CF-4FF6-82AB-D79B78DB5C82}"/>
                  </a:ext>
                </a:extLst>
              </p:cNvPr>
              <p:cNvCxnSpPr/>
              <p:nvPr/>
            </p:nvCxnSpPr>
            <p:spPr>
              <a:xfrm>
                <a:off x="1754034" y="2599738"/>
                <a:ext cx="331142" cy="0"/>
              </a:xfrm>
              <a:prstGeom prst="straightConnector1">
                <a:avLst/>
              </a:prstGeom>
              <a:ln w="19050">
                <a:solidFill>
                  <a:srgbClr val="00B0F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8" name="직선 화살표 연결선 87">
                <a:extLst>
                  <a:ext uri="{FF2B5EF4-FFF2-40B4-BE49-F238E27FC236}">
                    <a16:creationId xmlns:a16="http://schemas.microsoft.com/office/drawing/2014/main" id="{2D4BFD55-0261-4D35-8436-AE87DF6AE6A2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754034" y="2692101"/>
                <a:ext cx="331142" cy="0"/>
              </a:xfrm>
              <a:prstGeom prst="straightConnector1">
                <a:avLst/>
              </a:prstGeom>
              <a:ln w="19050">
                <a:solidFill>
                  <a:srgbClr val="00B0F0"/>
                </a:solidFill>
                <a:prstDash val="sysDash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9" name="직선 화살표 연결선 88">
                <a:extLst>
                  <a:ext uri="{FF2B5EF4-FFF2-40B4-BE49-F238E27FC236}">
                    <a16:creationId xmlns:a16="http://schemas.microsoft.com/office/drawing/2014/main" id="{7E8CEBDA-A12D-410C-A710-67183DFA6E54}"/>
                  </a:ext>
                </a:extLst>
              </p:cNvPr>
              <p:cNvCxnSpPr/>
              <p:nvPr/>
            </p:nvCxnSpPr>
            <p:spPr>
              <a:xfrm>
                <a:off x="1754034" y="2878333"/>
                <a:ext cx="331142" cy="0"/>
              </a:xfrm>
              <a:prstGeom prst="straightConnector1">
                <a:avLst/>
              </a:prstGeom>
              <a:ln w="19050">
                <a:solidFill>
                  <a:srgbClr val="FF0000"/>
                </a:solidFill>
                <a:prstDash val="dash"/>
                <a:tailEnd type="triangle"/>
              </a:ln>
            </p:spPr>
            <p:style>
              <a:lnRef idx="1">
                <a:schemeClr val="accent4"/>
              </a:lnRef>
              <a:fillRef idx="0">
                <a:schemeClr val="accent4"/>
              </a:fillRef>
              <a:effectRef idx="0">
                <a:schemeClr val="accent4"/>
              </a:effectRef>
              <a:fontRef idx="minor">
                <a:schemeClr val="tx1"/>
              </a:fontRef>
            </p:style>
          </p:cxnSp>
          <p:cxnSp>
            <p:nvCxnSpPr>
              <p:cNvPr id="215" name="직선 화살표 연결선 214">
                <a:extLst>
                  <a:ext uri="{FF2B5EF4-FFF2-40B4-BE49-F238E27FC236}">
                    <a16:creationId xmlns:a16="http://schemas.microsoft.com/office/drawing/2014/main" id="{DB929530-4441-4D25-B2DE-3F6071985A76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754034" y="2783753"/>
                <a:ext cx="331142" cy="0"/>
              </a:xfrm>
              <a:prstGeom prst="straightConnector1">
                <a:avLst/>
              </a:prstGeom>
              <a:ln w="19050">
                <a:solidFill>
                  <a:srgbClr val="FF0000"/>
                </a:solidFill>
                <a:prstDash val="solid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17" name="그룹 216">
              <a:extLst>
                <a:ext uri="{FF2B5EF4-FFF2-40B4-BE49-F238E27FC236}">
                  <a16:creationId xmlns:a16="http://schemas.microsoft.com/office/drawing/2014/main" id="{9145F4DF-2216-40A2-9005-469D605B072E}"/>
                </a:ext>
              </a:extLst>
            </p:cNvPr>
            <p:cNvGrpSpPr/>
            <p:nvPr/>
          </p:nvGrpSpPr>
          <p:grpSpPr>
            <a:xfrm>
              <a:off x="2403345" y="2389660"/>
              <a:ext cx="331142" cy="278595"/>
              <a:chOff x="1754034" y="2599738"/>
              <a:chExt cx="331142" cy="278595"/>
            </a:xfrm>
          </p:grpSpPr>
          <p:cxnSp>
            <p:nvCxnSpPr>
              <p:cNvPr id="218" name="직선 화살표 연결선 217">
                <a:extLst>
                  <a:ext uri="{FF2B5EF4-FFF2-40B4-BE49-F238E27FC236}">
                    <a16:creationId xmlns:a16="http://schemas.microsoft.com/office/drawing/2014/main" id="{EAC81845-AE39-43FB-8C38-2C0CB37C5ACF}"/>
                  </a:ext>
                </a:extLst>
              </p:cNvPr>
              <p:cNvCxnSpPr/>
              <p:nvPr/>
            </p:nvCxnSpPr>
            <p:spPr>
              <a:xfrm>
                <a:off x="1754034" y="2599738"/>
                <a:ext cx="331142" cy="0"/>
              </a:xfrm>
              <a:prstGeom prst="straightConnector1">
                <a:avLst/>
              </a:prstGeom>
              <a:ln w="19050">
                <a:solidFill>
                  <a:srgbClr val="00B0F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9" name="직선 화살표 연결선 218">
                <a:extLst>
                  <a:ext uri="{FF2B5EF4-FFF2-40B4-BE49-F238E27FC236}">
                    <a16:creationId xmlns:a16="http://schemas.microsoft.com/office/drawing/2014/main" id="{A19192E1-B4B2-43A9-9733-A795731AC5C4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754034" y="2692101"/>
                <a:ext cx="331142" cy="0"/>
              </a:xfrm>
              <a:prstGeom prst="straightConnector1">
                <a:avLst/>
              </a:prstGeom>
              <a:ln w="19050">
                <a:solidFill>
                  <a:srgbClr val="00B0F0"/>
                </a:solidFill>
                <a:prstDash val="sysDash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0" name="직선 화살표 연결선 219">
                <a:extLst>
                  <a:ext uri="{FF2B5EF4-FFF2-40B4-BE49-F238E27FC236}">
                    <a16:creationId xmlns:a16="http://schemas.microsoft.com/office/drawing/2014/main" id="{01A2C70D-36A2-4AE2-9338-4B318EE10001}"/>
                  </a:ext>
                </a:extLst>
              </p:cNvPr>
              <p:cNvCxnSpPr/>
              <p:nvPr/>
            </p:nvCxnSpPr>
            <p:spPr>
              <a:xfrm>
                <a:off x="1754034" y="2878333"/>
                <a:ext cx="331142" cy="0"/>
              </a:xfrm>
              <a:prstGeom prst="straightConnector1">
                <a:avLst/>
              </a:prstGeom>
              <a:ln w="19050">
                <a:solidFill>
                  <a:srgbClr val="FF0000"/>
                </a:solidFill>
                <a:prstDash val="dash"/>
                <a:tailEnd type="triangle"/>
              </a:ln>
            </p:spPr>
            <p:style>
              <a:lnRef idx="1">
                <a:schemeClr val="accent4"/>
              </a:lnRef>
              <a:fillRef idx="0">
                <a:schemeClr val="accent4"/>
              </a:fillRef>
              <a:effectRef idx="0">
                <a:schemeClr val="accent4"/>
              </a:effectRef>
              <a:fontRef idx="minor">
                <a:schemeClr val="tx1"/>
              </a:fontRef>
            </p:style>
          </p:cxnSp>
          <p:cxnSp>
            <p:nvCxnSpPr>
              <p:cNvPr id="221" name="직선 화살표 연결선 220">
                <a:extLst>
                  <a:ext uri="{FF2B5EF4-FFF2-40B4-BE49-F238E27FC236}">
                    <a16:creationId xmlns:a16="http://schemas.microsoft.com/office/drawing/2014/main" id="{83A125DE-7055-4B6C-B7C9-9C780EAC39AA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754034" y="2783753"/>
                <a:ext cx="331142" cy="0"/>
              </a:xfrm>
              <a:prstGeom prst="straightConnector1">
                <a:avLst/>
              </a:prstGeom>
              <a:ln w="19050">
                <a:solidFill>
                  <a:srgbClr val="FF0000"/>
                </a:solidFill>
                <a:prstDash val="solid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22" name="그룹 221">
              <a:extLst>
                <a:ext uri="{FF2B5EF4-FFF2-40B4-BE49-F238E27FC236}">
                  <a16:creationId xmlns:a16="http://schemas.microsoft.com/office/drawing/2014/main" id="{03046967-7E41-4625-B0A5-1E49AC72AB6E}"/>
                </a:ext>
              </a:extLst>
            </p:cNvPr>
            <p:cNvGrpSpPr/>
            <p:nvPr/>
          </p:nvGrpSpPr>
          <p:grpSpPr>
            <a:xfrm>
              <a:off x="3300837" y="2389660"/>
              <a:ext cx="331142" cy="278595"/>
              <a:chOff x="1754034" y="2599738"/>
              <a:chExt cx="331142" cy="278595"/>
            </a:xfrm>
          </p:grpSpPr>
          <p:cxnSp>
            <p:nvCxnSpPr>
              <p:cNvPr id="223" name="직선 화살표 연결선 222">
                <a:extLst>
                  <a:ext uri="{FF2B5EF4-FFF2-40B4-BE49-F238E27FC236}">
                    <a16:creationId xmlns:a16="http://schemas.microsoft.com/office/drawing/2014/main" id="{27279BDB-4852-4096-9FEB-F637D2A74E4D}"/>
                  </a:ext>
                </a:extLst>
              </p:cNvPr>
              <p:cNvCxnSpPr/>
              <p:nvPr/>
            </p:nvCxnSpPr>
            <p:spPr>
              <a:xfrm>
                <a:off x="1754034" y="2599738"/>
                <a:ext cx="331142" cy="0"/>
              </a:xfrm>
              <a:prstGeom prst="straightConnector1">
                <a:avLst/>
              </a:prstGeom>
              <a:ln w="19050">
                <a:solidFill>
                  <a:srgbClr val="00B0F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4" name="직선 화살표 연결선 223">
                <a:extLst>
                  <a:ext uri="{FF2B5EF4-FFF2-40B4-BE49-F238E27FC236}">
                    <a16:creationId xmlns:a16="http://schemas.microsoft.com/office/drawing/2014/main" id="{17077339-86B4-45F3-AEB3-32B99C524383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754034" y="2692101"/>
                <a:ext cx="331142" cy="0"/>
              </a:xfrm>
              <a:prstGeom prst="straightConnector1">
                <a:avLst/>
              </a:prstGeom>
              <a:ln w="19050">
                <a:solidFill>
                  <a:srgbClr val="00B0F0"/>
                </a:solidFill>
                <a:prstDash val="sysDash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5" name="직선 화살표 연결선 224">
                <a:extLst>
                  <a:ext uri="{FF2B5EF4-FFF2-40B4-BE49-F238E27FC236}">
                    <a16:creationId xmlns:a16="http://schemas.microsoft.com/office/drawing/2014/main" id="{A9213BC8-4418-4202-ABC3-A5932A6BB1C9}"/>
                  </a:ext>
                </a:extLst>
              </p:cNvPr>
              <p:cNvCxnSpPr/>
              <p:nvPr/>
            </p:nvCxnSpPr>
            <p:spPr>
              <a:xfrm>
                <a:off x="1754034" y="2878333"/>
                <a:ext cx="331142" cy="0"/>
              </a:xfrm>
              <a:prstGeom prst="straightConnector1">
                <a:avLst/>
              </a:prstGeom>
              <a:ln w="19050">
                <a:solidFill>
                  <a:srgbClr val="FF0000"/>
                </a:solidFill>
                <a:prstDash val="dash"/>
                <a:tailEnd type="triangle"/>
              </a:ln>
            </p:spPr>
            <p:style>
              <a:lnRef idx="1">
                <a:schemeClr val="accent4"/>
              </a:lnRef>
              <a:fillRef idx="0">
                <a:schemeClr val="accent4"/>
              </a:fillRef>
              <a:effectRef idx="0">
                <a:schemeClr val="accent4"/>
              </a:effectRef>
              <a:fontRef idx="minor">
                <a:schemeClr val="tx1"/>
              </a:fontRef>
            </p:style>
          </p:cxnSp>
          <p:cxnSp>
            <p:nvCxnSpPr>
              <p:cNvPr id="226" name="직선 화살표 연결선 225">
                <a:extLst>
                  <a:ext uri="{FF2B5EF4-FFF2-40B4-BE49-F238E27FC236}">
                    <a16:creationId xmlns:a16="http://schemas.microsoft.com/office/drawing/2014/main" id="{3D346008-ECF1-43C6-90F7-0F403E8D6FE9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754034" y="2783753"/>
                <a:ext cx="331142" cy="0"/>
              </a:xfrm>
              <a:prstGeom prst="straightConnector1">
                <a:avLst/>
              </a:prstGeom>
              <a:ln w="19050">
                <a:solidFill>
                  <a:srgbClr val="FF0000"/>
                </a:solidFill>
                <a:prstDash val="solid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27" name="그룹 226">
              <a:extLst>
                <a:ext uri="{FF2B5EF4-FFF2-40B4-BE49-F238E27FC236}">
                  <a16:creationId xmlns:a16="http://schemas.microsoft.com/office/drawing/2014/main" id="{BDCDFF7F-6AC3-49B5-91BB-E9E747A07934}"/>
                </a:ext>
              </a:extLst>
            </p:cNvPr>
            <p:cNvGrpSpPr/>
            <p:nvPr/>
          </p:nvGrpSpPr>
          <p:grpSpPr>
            <a:xfrm>
              <a:off x="4168141" y="2389660"/>
              <a:ext cx="331142" cy="278595"/>
              <a:chOff x="1754034" y="2599738"/>
              <a:chExt cx="331142" cy="278595"/>
            </a:xfrm>
          </p:grpSpPr>
          <p:cxnSp>
            <p:nvCxnSpPr>
              <p:cNvPr id="228" name="직선 화살표 연결선 227">
                <a:extLst>
                  <a:ext uri="{FF2B5EF4-FFF2-40B4-BE49-F238E27FC236}">
                    <a16:creationId xmlns:a16="http://schemas.microsoft.com/office/drawing/2014/main" id="{E83FDBE4-776E-4166-994C-9FDAF1D651DE}"/>
                  </a:ext>
                </a:extLst>
              </p:cNvPr>
              <p:cNvCxnSpPr/>
              <p:nvPr/>
            </p:nvCxnSpPr>
            <p:spPr>
              <a:xfrm>
                <a:off x="1754034" y="2599738"/>
                <a:ext cx="331142" cy="0"/>
              </a:xfrm>
              <a:prstGeom prst="straightConnector1">
                <a:avLst/>
              </a:prstGeom>
              <a:ln w="19050">
                <a:solidFill>
                  <a:srgbClr val="00B0F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9" name="직선 화살표 연결선 228">
                <a:extLst>
                  <a:ext uri="{FF2B5EF4-FFF2-40B4-BE49-F238E27FC236}">
                    <a16:creationId xmlns:a16="http://schemas.microsoft.com/office/drawing/2014/main" id="{7385D2B6-EE2B-43AB-A0E1-EDB7979CD87A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754034" y="2692101"/>
                <a:ext cx="331142" cy="0"/>
              </a:xfrm>
              <a:prstGeom prst="straightConnector1">
                <a:avLst/>
              </a:prstGeom>
              <a:ln w="19050">
                <a:solidFill>
                  <a:srgbClr val="00B0F0"/>
                </a:solidFill>
                <a:prstDash val="sysDash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0" name="직선 화살표 연결선 229">
                <a:extLst>
                  <a:ext uri="{FF2B5EF4-FFF2-40B4-BE49-F238E27FC236}">
                    <a16:creationId xmlns:a16="http://schemas.microsoft.com/office/drawing/2014/main" id="{B28D2690-81B0-46E2-9555-9F7B7396E3FF}"/>
                  </a:ext>
                </a:extLst>
              </p:cNvPr>
              <p:cNvCxnSpPr/>
              <p:nvPr/>
            </p:nvCxnSpPr>
            <p:spPr>
              <a:xfrm>
                <a:off x="1754034" y="2878333"/>
                <a:ext cx="331142" cy="0"/>
              </a:xfrm>
              <a:prstGeom prst="straightConnector1">
                <a:avLst/>
              </a:prstGeom>
              <a:ln w="19050">
                <a:solidFill>
                  <a:srgbClr val="FF0000"/>
                </a:solidFill>
                <a:prstDash val="dash"/>
                <a:tailEnd type="triangle"/>
              </a:ln>
            </p:spPr>
            <p:style>
              <a:lnRef idx="1">
                <a:schemeClr val="accent4"/>
              </a:lnRef>
              <a:fillRef idx="0">
                <a:schemeClr val="accent4"/>
              </a:fillRef>
              <a:effectRef idx="0">
                <a:schemeClr val="accent4"/>
              </a:effectRef>
              <a:fontRef idx="minor">
                <a:schemeClr val="tx1"/>
              </a:fontRef>
            </p:style>
          </p:cxnSp>
          <p:cxnSp>
            <p:nvCxnSpPr>
              <p:cNvPr id="231" name="직선 화살표 연결선 230">
                <a:extLst>
                  <a:ext uri="{FF2B5EF4-FFF2-40B4-BE49-F238E27FC236}">
                    <a16:creationId xmlns:a16="http://schemas.microsoft.com/office/drawing/2014/main" id="{43BE6508-F83F-4FE1-9FC7-C8767AFDA119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754034" y="2783753"/>
                <a:ext cx="331142" cy="0"/>
              </a:xfrm>
              <a:prstGeom prst="straightConnector1">
                <a:avLst/>
              </a:prstGeom>
              <a:ln w="19050">
                <a:solidFill>
                  <a:srgbClr val="FF0000"/>
                </a:solidFill>
                <a:prstDash val="solid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37" name="그룹 236">
              <a:extLst>
                <a:ext uri="{FF2B5EF4-FFF2-40B4-BE49-F238E27FC236}">
                  <a16:creationId xmlns:a16="http://schemas.microsoft.com/office/drawing/2014/main" id="{90079A86-8622-469E-B1E0-E9EC2921A6D2}"/>
                </a:ext>
              </a:extLst>
            </p:cNvPr>
            <p:cNvGrpSpPr/>
            <p:nvPr/>
          </p:nvGrpSpPr>
          <p:grpSpPr>
            <a:xfrm>
              <a:off x="2119553" y="4218803"/>
              <a:ext cx="1512426" cy="389402"/>
              <a:chOff x="2418558" y="3150953"/>
              <a:chExt cx="1512426" cy="389402"/>
            </a:xfrm>
          </p:grpSpPr>
          <p:sp>
            <p:nvSpPr>
              <p:cNvPr id="113" name="TextBox 16">
                <a:extLst>
                  <a:ext uri="{FF2B5EF4-FFF2-40B4-BE49-F238E27FC236}">
                    <a16:creationId xmlns:a16="http://schemas.microsoft.com/office/drawing/2014/main" id="{D8843C28-58B3-4197-99FC-CA5368F2B8D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753277" y="3150953"/>
                <a:ext cx="1177707" cy="38940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0" rIns="0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marL="0" marR="0" lvl="0" indent="0" defTabSz="914400" rtl="0" eaLnBrk="1" fontAlgn="base" latinLnBrk="0" hangingPunct="1">
                  <a:lnSpc>
                    <a:spcPct val="11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9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B0F0"/>
                    </a:solidFill>
                    <a:effectLst/>
                    <a:uLnTx/>
                    <a:uFillTx/>
                    <a:latin typeface="+mn-ea"/>
                    <a:cs typeface="Arial" panose="020B0604020202020204" pitchFamily="34" charset="0"/>
                  </a:rPr>
                  <a:t>External Host Request</a:t>
                </a:r>
              </a:p>
              <a:p>
                <a:pPr marL="0" marR="0" lvl="0" indent="0" defTabSz="914400" rtl="0" eaLnBrk="1" fontAlgn="base" latinLnBrk="0" hangingPunct="1">
                  <a:lnSpc>
                    <a:spcPct val="11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altLang="en-US" sz="900" dirty="0">
                    <a:solidFill>
                      <a:srgbClr val="00B0F0"/>
                    </a:solidFill>
                    <a:latin typeface="+mn-ea"/>
                    <a:cs typeface="Arial" panose="020B0604020202020204" pitchFamily="34" charset="0"/>
                  </a:rPr>
                  <a:t>Instance Response</a:t>
                </a:r>
              </a:p>
            </p:txBody>
          </p:sp>
          <p:cxnSp>
            <p:nvCxnSpPr>
              <p:cNvPr id="233" name="직선 화살표 연결선 232">
                <a:extLst>
                  <a:ext uri="{FF2B5EF4-FFF2-40B4-BE49-F238E27FC236}">
                    <a16:creationId xmlns:a16="http://schemas.microsoft.com/office/drawing/2014/main" id="{2698C12A-5726-454B-83AB-DC5D7442047B}"/>
                  </a:ext>
                </a:extLst>
              </p:cNvPr>
              <p:cNvCxnSpPr/>
              <p:nvPr/>
            </p:nvCxnSpPr>
            <p:spPr>
              <a:xfrm>
                <a:off x="2418558" y="3285178"/>
                <a:ext cx="283792" cy="0"/>
              </a:xfrm>
              <a:prstGeom prst="straightConnector1">
                <a:avLst/>
              </a:prstGeom>
              <a:ln w="19050">
                <a:solidFill>
                  <a:srgbClr val="00B0F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4" name="직선 화살표 연결선 233">
                <a:extLst>
                  <a:ext uri="{FF2B5EF4-FFF2-40B4-BE49-F238E27FC236}">
                    <a16:creationId xmlns:a16="http://schemas.microsoft.com/office/drawing/2014/main" id="{07DFF293-07C7-43C7-95A7-90D7B163D5C1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418558" y="3431336"/>
                <a:ext cx="283792" cy="0"/>
              </a:xfrm>
              <a:prstGeom prst="straightConnector1">
                <a:avLst/>
              </a:prstGeom>
              <a:ln w="19050">
                <a:solidFill>
                  <a:srgbClr val="00B0F0"/>
                </a:solidFill>
                <a:prstDash val="sysDash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06" name="그룹 105">
              <a:extLst>
                <a:ext uri="{FF2B5EF4-FFF2-40B4-BE49-F238E27FC236}">
                  <a16:creationId xmlns:a16="http://schemas.microsoft.com/office/drawing/2014/main" id="{E6F629A9-58F8-4F1F-BD4F-85719F8E816A}"/>
                </a:ext>
              </a:extLst>
            </p:cNvPr>
            <p:cNvGrpSpPr/>
            <p:nvPr/>
          </p:nvGrpSpPr>
          <p:grpSpPr>
            <a:xfrm>
              <a:off x="4678548" y="3754609"/>
              <a:ext cx="1234766" cy="703421"/>
              <a:chOff x="3959051" y="2716930"/>
              <a:chExt cx="1234766" cy="703421"/>
            </a:xfrm>
          </p:grpSpPr>
          <p:pic>
            <p:nvPicPr>
              <p:cNvPr id="107" name="Graphic 75" descr="NAT gateway resource icon for the Amazon VPC service.&#10;">
                <a:extLst>
                  <a:ext uri="{FF2B5EF4-FFF2-40B4-BE49-F238E27FC236}">
                    <a16:creationId xmlns:a16="http://schemas.microsoft.com/office/drawing/2014/main" id="{E8668E2D-AC86-4F93-9482-44864F9F374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p:blipFill>
            <p:spPr>
              <a:xfrm>
                <a:off x="4355307" y="2716930"/>
                <a:ext cx="457200" cy="457200"/>
              </a:xfrm>
              <a:prstGeom prst="rect">
                <a:avLst/>
              </a:prstGeom>
            </p:spPr>
          </p:pic>
          <p:sp>
            <p:nvSpPr>
              <p:cNvPr id="108" name="TextBox 17">
                <a:extLst>
                  <a:ext uri="{FF2B5EF4-FFF2-40B4-BE49-F238E27FC236}">
                    <a16:creationId xmlns:a16="http://schemas.microsoft.com/office/drawing/2014/main" id="{74419F5B-BFF4-4CFF-872D-3A7762232E8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959051" y="3174130"/>
                <a:ext cx="1234766" cy="24622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Amazon Ember" panose="020B0603020204020204" pitchFamily="34" charset="0"/>
                    <a:cs typeface="Arial" panose="020B0604020202020204" pitchFamily="34" charset="0"/>
                  </a:rPr>
                  <a:t>NAT Gateway</a:t>
                </a:r>
              </a:p>
            </p:txBody>
          </p:sp>
        </p:grpSp>
        <p:grpSp>
          <p:nvGrpSpPr>
            <p:cNvPr id="110" name="그룹 109">
              <a:extLst>
                <a:ext uri="{FF2B5EF4-FFF2-40B4-BE49-F238E27FC236}">
                  <a16:creationId xmlns:a16="http://schemas.microsoft.com/office/drawing/2014/main" id="{527F5F03-DB26-4344-9B7A-26508D4547D8}"/>
                </a:ext>
              </a:extLst>
            </p:cNvPr>
            <p:cNvGrpSpPr/>
            <p:nvPr/>
          </p:nvGrpSpPr>
          <p:grpSpPr>
            <a:xfrm>
              <a:off x="8123570" y="2343267"/>
              <a:ext cx="788342" cy="703421"/>
              <a:chOff x="7029643" y="2412493"/>
              <a:chExt cx="788342" cy="703421"/>
            </a:xfrm>
          </p:grpSpPr>
          <p:pic>
            <p:nvPicPr>
              <p:cNvPr id="111" name="Graphic 60">
                <a:extLst>
                  <a:ext uri="{FF2B5EF4-FFF2-40B4-BE49-F238E27FC236}">
                    <a16:creationId xmlns:a16="http://schemas.microsoft.com/office/drawing/2014/main" id="{169B2AC1-6041-454B-AC46-6A92FF83F4F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rcRect/>
              <a:stretch/>
            </p:blipFill>
            <p:spPr bwMode="auto">
              <a:xfrm>
                <a:off x="7195214" y="2412493"/>
                <a:ext cx="457200" cy="4572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12" name="TextBox 16">
                <a:extLst>
                  <a:ext uri="{FF2B5EF4-FFF2-40B4-BE49-F238E27FC236}">
                    <a16:creationId xmlns:a16="http://schemas.microsoft.com/office/drawing/2014/main" id="{013B8A27-CC28-454D-B793-F7DFFB28700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029643" y="2869693"/>
                <a:ext cx="788342" cy="24622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0" rIns="0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altLang="en-US" sz="1000" dirty="0">
                    <a:latin typeface="Arial" panose="020B0604020202020204" pitchFamily="34" charset="0"/>
                    <a:ea typeface="Amazon Ember" panose="020B0603020204020204" pitchFamily="34" charset="0"/>
                    <a:cs typeface="Arial" panose="020B0604020202020204" pitchFamily="34" charset="0"/>
                  </a:rPr>
                  <a:t>EC2 Instance</a:t>
                </a:r>
                <a:endParaRPr kumimoji="0" lang="en-US" altLang="en-US" sz="1000" b="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Arial" panose="020B0604020202020204" pitchFamily="34" charset="0"/>
                  <a:ea typeface="Amazon Ember" panose="020B0603020204020204" pitchFamily="34" charset="0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114" name="직사각형 113">
              <a:extLst>
                <a:ext uri="{FF2B5EF4-FFF2-40B4-BE49-F238E27FC236}">
                  <a16:creationId xmlns:a16="http://schemas.microsoft.com/office/drawing/2014/main" id="{FB01E882-E1D0-4461-8E0B-FD46BC1982C8}"/>
                </a:ext>
              </a:extLst>
            </p:cNvPr>
            <p:cNvSpPr/>
            <p:nvPr/>
          </p:nvSpPr>
          <p:spPr>
            <a:xfrm>
              <a:off x="7903994" y="2098241"/>
              <a:ext cx="1224059" cy="1187669"/>
            </a:xfrm>
            <a:prstGeom prst="rect">
              <a:avLst/>
            </a:prstGeom>
            <a:noFill/>
            <a:ln>
              <a:solidFill>
                <a:srgbClr val="00B0F0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00"/>
            </a:p>
          </p:txBody>
        </p:sp>
        <p:sp>
          <p:nvSpPr>
            <p:cNvPr id="115" name="TextBox 12">
              <a:extLst>
                <a:ext uri="{FF2B5EF4-FFF2-40B4-BE49-F238E27FC236}">
                  <a16:creationId xmlns:a16="http://schemas.microsoft.com/office/drawing/2014/main" id="{58779D1B-BAA2-4BE7-A8A0-F8D00436895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821024" y="2103422"/>
              <a:ext cx="1403350" cy="2462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Amazon Ember" panose="020B0603020204020204" pitchFamily="34" charset="0"/>
                  <a:cs typeface="Arial" panose="020B0604020202020204" pitchFamily="34" charset="0"/>
                </a:rPr>
                <a:t>Security Group</a:t>
              </a:r>
            </a:p>
          </p:txBody>
        </p:sp>
        <p:grpSp>
          <p:nvGrpSpPr>
            <p:cNvPr id="119" name="그룹 118">
              <a:extLst>
                <a:ext uri="{FF2B5EF4-FFF2-40B4-BE49-F238E27FC236}">
                  <a16:creationId xmlns:a16="http://schemas.microsoft.com/office/drawing/2014/main" id="{BB4EF1A5-FF44-4250-B2AE-87BEB206A6FD}"/>
                </a:ext>
              </a:extLst>
            </p:cNvPr>
            <p:cNvGrpSpPr/>
            <p:nvPr/>
          </p:nvGrpSpPr>
          <p:grpSpPr>
            <a:xfrm>
              <a:off x="6524953" y="3754609"/>
              <a:ext cx="788342" cy="703421"/>
              <a:chOff x="5473229" y="2412493"/>
              <a:chExt cx="788342" cy="703421"/>
            </a:xfrm>
          </p:grpSpPr>
          <p:pic>
            <p:nvPicPr>
              <p:cNvPr id="120" name="Graphic 81" descr="Network access control list resource icon for the Amazon VPC service.&#10;">
                <a:extLst>
                  <a:ext uri="{FF2B5EF4-FFF2-40B4-BE49-F238E27FC236}">
                    <a16:creationId xmlns:a16="http://schemas.microsoft.com/office/drawing/2014/main" id="{E65E3E25-AA68-4DA8-AA8D-CDEA14CF722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>
                <a:off x="5638800" y="2412493"/>
                <a:ext cx="457200" cy="457200"/>
              </a:xfrm>
              <a:prstGeom prst="rect">
                <a:avLst/>
              </a:prstGeom>
            </p:spPr>
          </p:pic>
          <p:sp>
            <p:nvSpPr>
              <p:cNvPr id="121" name="TextBox 16">
                <a:extLst>
                  <a:ext uri="{FF2B5EF4-FFF2-40B4-BE49-F238E27FC236}">
                    <a16:creationId xmlns:a16="http://schemas.microsoft.com/office/drawing/2014/main" id="{756B34F6-4412-4674-B863-B978844BF8B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473229" y="2869693"/>
                <a:ext cx="788342" cy="24622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0" rIns="0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000" b="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Arial" panose="020B0604020202020204" pitchFamily="34" charset="0"/>
                    <a:ea typeface="Amazon Ember" panose="020B0603020204020204" pitchFamily="34" charset="0"/>
                    <a:cs typeface="Arial" panose="020B0604020202020204" pitchFamily="34" charset="0"/>
                  </a:rPr>
                  <a:t>Private</a:t>
                </a:r>
                <a:r>
                  <a:rPr kumimoji="0" lang="ko-KR" altLang="en-US" sz="1000" b="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Arial" panose="020B0604020202020204" pitchFamily="34" charset="0"/>
                    <a:ea typeface="Amazon Ember" panose="020B0603020204020204" pitchFamily="34" charset="0"/>
                    <a:cs typeface="Arial" panose="020B0604020202020204" pitchFamily="34" charset="0"/>
                  </a:rPr>
                  <a:t> </a:t>
                </a:r>
                <a:r>
                  <a:rPr kumimoji="0" lang="en-US" altLang="en-US" sz="1000" b="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Arial" panose="020B0604020202020204" pitchFamily="34" charset="0"/>
                    <a:ea typeface="Amazon Ember" panose="020B0603020204020204" pitchFamily="34" charset="0"/>
                    <a:cs typeface="Arial" panose="020B0604020202020204" pitchFamily="34" charset="0"/>
                  </a:rPr>
                  <a:t>NACL</a:t>
                </a:r>
              </a:p>
            </p:txBody>
          </p:sp>
        </p:grpSp>
        <p:grpSp>
          <p:nvGrpSpPr>
            <p:cNvPr id="5" name="그룹 4">
              <a:extLst>
                <a:ext uri="{FF2B5EF4-FFF2-40B4-BE49-F238E27FC236}">
                  <a16:creationId xmlns:a16="http://schemas.microsoft.com/office/drawing/2014/main" id="{6762CF11-0679-46A5-B6C4-59954554D30B}"/>
                </a:ext>
              </a:extLst>
            </p:cNvPr>
            <p:cNvGrpSpPr/>
            <p:nvPr/>
          </p:nvGrpSpPr>
          <p:grpSpPr>
            <a:xfrm>
              <a:off x="7192569" y="3935919"/>
              <a:ext cx="1034156" cy="94580"/>
              <a:chOff x="2373266" y="3150254"/>
              <a:chExt cx="331142" cy="94580"/>
            </a:xfrm>
          </p:grpSpPr>
          <p:cxnSp>
            <p:nvCxnSpPr>
              <p:cNvPr id="122" name="직선 화살표 연결선 121">
                <a:extLst>
                  <a:ext uri="{FF2B5EF4-FFF2-40B4-BE49-F238E27FC236}">
                    <a16:creationId xmlns:a16="http://schemas.microsoft.com/office/drawing/2014/main" id="{F7ED8FFD-5355-400A-8ED8-B820BAE1F128}"/>
                  </a:ext>
                </a:extLst>
              </p:cNvPr>
              <p:cNvCxnSpPr/>
              <p:nvPr/>
            </p:nvCxnSpPr>
            <p:spPr>
              <a:xfrm>
                <a:off x="2373266" y="3244834"/>
                <a:ext cx="331142" cy="0"/>
              </a:xfrm>
              <a:prstGeom prst="straightConnector1">
                <a:avLst/>
              </a:prstGeom>
              <a:ln w="19050">
                <a:solidFill>
                  <a:srgbClr val="FF0000"/>
                </a:solidFill>
                <a:prstDash val="dash"/>
                <a:tailEnd type="triangle"/>
              </a:ln>
            </p:spPr>
            <p:style>
              <a:lnRef idx="1">
                <a:schemeClr val="accent4"/>
              </a:lnRef>
              <a:fillRef idx="0">
                <a:schemeClr val="accent4"/>
              </a:fillRef>
              <a:effectRef idx="0">
                <a:schemeClr val="accent4"/>
              </a:effectRef>
              <a:fontRef idx="minor">
                <a:schemeClr val="tx1"/>
              </a:fontRef>
            </p:style>
          </p:cxnSp>
          <p:cxnSp>
            <p:nvCxnSpPr>
              <p:cNvPr id="123" name="직선 화살표 연결선 122">
                <a:extLst>
                  <a:ext uri="{FF2B5EF4-FFF2-40B4-BE49-F238E27FC236}">
                    <a16:creationId xmlns:a16="http://schemas.microsoft.com/office/drawing/2014/main" id="{72D1F071-EECB-4620-9427-1AA4E9ED0F23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373266" y="3150254"/>
                <a:ext cx="331142" cy="0"/>
              </a:xfrm>
              <a:prstGeom prst="straightConnector1">
                <a:avLst/>
              </a:prstGeom>
              <a:ln w="19050">
                <a:solidFill>
                  <a:srgbClr val="FF0000"/>
                </a:solidFill>
                <a:prstDash val="solid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24" name="그룹 123">
              <a:extLst>
                <a:ext uri="{FF2B5EF4-FFF2-40B4-BE49-F238E27FC236}">
                  <a16:creationId xmlns:a16="http://schemas.microsoft.com/office/drawing/2014/main" id="{66462966-7415-49A1-8C14-4EF8FE86D22F}"/>
                </a:ext>
              </a:extLst>
            </p:cNvPr>
            <p:cNvGrpSpPr/>
            <p:nvPr/>
          </p:nvGrpSpPr>
          <p:grpSpPr>
            <a:xfrm>
              <a:off x="5574790" y="3935919"/>
              <a:ext cx="1055396" cy="94580"/>
              <a:chOff x="2373266" y="3150254"/>
              <a:chExt cx="331142" cy="94580"/>
            </a:xfrm>
          </p:grpSpPr>
          <p:cxnSp>
            <p:nvCxnSpPr>
              <p:cNvPr id="125" name="직선 화살표 연결선 124">
                <a:extLst>
                  <a:ext uri="{FF2B5EF4-FFF2-40B4-BE49-F238E27FC236}">
                    <a16:creationId xmlns:a16="http://schemas.microsoft.com/office/drawing/2014/main" id="{A7793DC0-4DFC-40DC-8CD1-337F80B05199}"/>
                  </a:ext>
                </a:extLst>
              </p:cNvPr>
              <p:cNvCxnSpPr/>
              <p:nvPr/>
            </p:nvCxnSpPr>
            <p:spPr>
              <a:xfrm>
                <a:off x="2373266" y="3244834"/>
                <a:ext cx="331142" cy="0"/>
              </a:xfrm>
              <a:prstGeom prst="straightConnector1">
                <a:avLst/>
              </a:prstGeom>
              <a:ln w="19050">
                <a:solidFill>
                  <a:srgbClr val="FF0000"/>
                </a:solidFill>
                <a:prstDash val="dash"/>
                <a:tailEnd type="triangle"/>
              </a:ln>
            </p:spPr>
            <p:style>
              <a:lnRef idx="1">
                <a:schemeClr val="accent4"/>
              </a:lnRef>
              <a:fillRef idx="0">
                <a:schemeClr val="accent4"/>
              </a:fillRef>
              <a:effectRef idx="0">
                <a:schemeClr val="accent4"/>
              </a:effectRef>
              <a:fontRef idx="minor">
                <a:schemeClr val="tx1"/>
              </a:fontRef>
            </p:style>
          </p:cxnSp>
          <p:cxnSp>
            <p:nvCxnSpPr>
              <p:cNvPr id="126" name="직선 화살표 연결선 125">
                <a:extLst>
                  <a:ext uri="{FF2B5EF4-FFF2-40B4-BE49-F238E27FC236}">
                    <a16:creationId xmlns:a16="http://schemas.microsoft.com/office/drawing/2014/main" id="{E9C74957-C42C-447F-A5DB-501565CEA53F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373266" y="3150254"/>
                <a:ext cx="331142" cy="0"/>
              </a:xfrm>
              <a:prstGeom prst="straightConnector1">
                <a:avLst/>
              </a:prstGeom>
              <a:ln w="19050">
                <a:solidFill>
                  <a:srgbClr val="FF0000"/>
                </a:solidFill>
                <a:prstDash val="solid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27" name="그룹 126">
              <a:extLst>
                <a:ext uri="{FF2B5EF4-FFF2-40B4-BE49-F238E27FC236}">
                  <a16:creationId xmlns:a16="http://schemas.microsoft.com/office/drawing/2014/main" id="{8B92E6FF-7D4E-45E8-88BF-BD978D3F0BD8}"/>
                </a:ext>
              </a:extLst>
            </p:cNvPr>
            <p:cNvGrpSpPr/>
            <p:nvPr/>
          </p:nvGrpSpPr>
          <p:grpSpPr>
            <a:xfrm rot="16200000">
              <a:off x="8390851" y="3565947"/>
              <a:ext cx="263696" cy="94580"/>
              <a:chOff x="2373266" y="3150254"/>
              <a:chExt cx="331142" cy="94580"/>
            </a:xfrm>
          </p:grpSpPr>
          <p:cxnSp>
            <p:nvCxnSpPr>
              <p:cNvPr id="128" name="직선 화살표 연결선 127">
                <a:extLst>
                  <a:ext uri="{FF2B5EF4-FFF2-40B4-BE49-F238E27FC236}">
                    <a16:creationId xmlns:a16="http://schemas.microsoft.com/office/drawing/2014/main" id="{1EA59E5E-B3D4-4941-90DC-DED5EB2A01B1}"/>
                  </a:ext>
                </a:extLst>
              </p:cNvPr>
              <p:cNvCxnSpPr/>
              <p:nvPr/>
            </p:nvCxnSpPr>
            <p:spPr>
              <a:xfrm>
                <a:off x="2373266" y="3244834"/>
                <a:ext cx="331142" cy="0"/>
              </a:xfrm>
              <a:prstGeom prst="straightConnector1">
                <a:avLst/>
              </a:prstGeom>
              <a:ln w="19050">
                <a:solidFill>
                  <a:srgbClr val="FF0000"/>
                </a:solidFill>
                <a:prstDash val="sysDash"/>
                <a:tailEnd type="triangle"/>
              </a:ln>
            </p:spPr>
            <p:style>
              <a:lnRef idx="1">
                <a:schemeClr val="accent4"/>
              </a:lnRef>
              <a:fillRef idx="0">
                <a:schemeClr val="accent4"/>
              </a:fillRef>
              <a:effectRef idx="0">
                <a:schemeClr val="accent4"/>
              </a:effectRef>
              <a:fontRef idx="minor">
                <a:schemeClr val="tx1"/>
              </a:fontRef>
            </p:style>
          </p:cxnSp>
          <p:cxnSp>
            <p:nvCxnSpPr>
              <p:cNvPr id="129" name="직선 화살표 연결선 128">
                <a:extLst>
                  <a:ext uri="{FF2B5EF4-FFF2-40B4-BE49-F238E27FC236}">
                    <a16:creationId xmlns:a16="http://schemas.microsoft.com/office/drawing/2014/main" id="{520095D1-40F2-45AC-93DF-3110CB27F190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373266" y="3150254"/>
                <a:ext cx="331142" cy="0"/>
              </a:xfrm>
              <a:prstGeom prst="straightConnector1">
                <a:avLst/>
              </a:prstGeom>
              <a:ln w="19050">
                <a:solidFill>
                  <a:srgbClr val="FF0000"/>
                </a:solidFill>
                <a:prstDash val="solid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30" name="Freeform 62" descr="Ninety degree arrow pointing down to the left.">
              <a:extLst>
                <a:ext uri="{FF2B5EF4-FFF2-40B4-BE49-F238E27FC236}">
                  <a16:creationId xmlns:a16="http://schemas.microsoft.com/office/drawing/2014/main" id="{E826B317-BA84-4428-B5B1-AF8F21FF33BC}"/>
                </a:ext>
              </a:extLst>
            </p:cNvPr>
            <p:cNvSpPr/>
            <p:nvPr/>
          </p:nvSpPr>
          <p:spPr>
            <a:xfrm rot="16200000" flipH="1">
              <a:off x="3141347" y="2102585"/>
              <a:ext cx="802788" cy="2846372"/>
            </a:xfrm>
            <a:custGeom>
              <a:avLst/>
              <a:gdLst>
                <a:gd name="connsiteX0" fmla="*/ 1371600 w 1371600"/>
                <a:gd name="connsiteY0" fmla="*/ 711200 h 711200"/>
                <a:gd name="connsiteX1" fmla="*/ 1371600 w 1371600"/>
                <a:gd name="connsiteY1" fmla="*/ 0 h 711200"/>
                <a:gd name="connsiteX2" fmla="*/ 0 w 1371600"/>
                <a:gd name="connsiteY2" fmla="*/ 0 h 711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371600" h="711200">
                  <a:moveTo>
                    <a:pt x="1371600" y="711200"/>
                  </a:moveTo>
                  <a:lnTo>
                    <a:pt x="1371600" y="0"/>
                  </a:ln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FF0000"/>
              </a:solidFill>
              <a:headEnd type="none" w="med" len="sm"/>
              <a:tailEnd type="arrow" w="med" len="sm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131" name="Freeform 62" descr="Ninety degree arrow pointing down to the left.">
              <a:extLst>
                <a:ext uri="{FF2B5EF4-FFF2-40B4-BE49-F238E27FC236}">
                  <a16:creationId xmlns:a16="http://schemas.microsoft.com/office/drawing/2014/main" id="{7931BD19-7BCA-4B7C-AFB4-205A513D4E15}"/>
                </a:ext>
              </a:extLst>
            </p:cNvPr>
            <p:cNvSpPr/>
            <p:nvPr/>
          </p:nvSpPr>
          <p:spPr>
            <a:xfrm rot="16200000" flipH="1">
              <a:off x="3061828" y="2121847"/>
              <a:ext cx="890441" cy="2922387"/>
            </a:xfrm>
            <a:custGeom>
              <a:avLst/>
              <a:gdLst>
                <a:gd name="connsiteX0" fmla="*/ 1371600 w 1371600"/>
                <a:gd name="connsiteY0" fmla="*/ 711200 h 711200"/>
                <a:gd name="connsiteX1" fmla="*/ 1371600 w 1371600"/>
                <a:gd name="connsiteY1" fmla="*/ 0 h 711200"/>
                <a:gd name="connsiteX2" fmla="*/ 0 w 1371600"/>
                <a:gd name="connsiteY2" fmla="*/ 0 h 711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371600" h="711200">
                  <a:moveTo>
                    <a:pt x="1371600" y="711200"/>
                  </a:moveTo>
                  <a:lnTo>
                    <a:pt x="1371600" y="0"/>
                  </a:ln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FF0000"/>
              </a:solidFill>
              <a:prstDash val="dash"/>
              <a:headEnd type="triangle" w="med" len="sm"/>
              <a:tailEnd type="none" w="med" len="sm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grpSp>
          <p:nvGrpSpPr>
            <p:cNvPr id="132" name="그룹 131">
              <a:extLst>
                <a:ext uri="{FF2B5EF4-FFF2-40B4-BE49-F238E27FC236}">
                  <a16:creationId xmlns:a16="http://schemas.microsoft.com/office/drawing/2014/main" id="{663D807B-EF92-4524-92CA-040208FEA314}"/>
                </a:ext>
              </a:extLst>
            </p:cNvPr>
            <p:cNvGrpSpPr/>
            <p:nvPr/>
          </p:nvGrpSpPr>
          <p:grpSpPr>
            <a:xfrm>
              <a:off x="3562054" y="4218803"/>
              <a:ext cx="1466664" cy="389402"/>
              <a:chOff x="2551908" y="3150953"/>
              <a:chExt cx="1466664" cy="389402"/>
            </a:xfrm>
          </p:grpSpPr>
          <p:sp>
            <p:nvSpPr>
              <p:cNvPr id="133" name="TextBox 16">
                <a:extLst>
                  <a:ext uri="{FF2B5EF4-FFF2-40B4-BE49-F238E27FC236}">
                    <a16:creationId xmlns:a16="http://schemas.microsoft.com/office/drawing/2014/main" id="{836C9836-DEF9-4330-A743-C6AC675DA73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886627" y="3150953"/>
                <a:ext cx="1131945" cy="38940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0" rIns="0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marL="0" marR="0" lvl="0" indent="0" defTabSz="914400" rtl="0" eaLnBrk="1" fontAlgn="base" latinLnBrk="0" hangingPunct="1">
                  <a:lnSpc>
                    <a:spcPct val="11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altLang="en-US" sz="900" dirty="0">
                    <a:solidFill>
                      <a:srgbClr val="FF0000"/>
                    </a:solidFill>
                    <a:latin typeface="+mn-ea"/>
                    <a:cs typeface="Arial" panose="020B0604020202020204" pitchFamily="34" charset="0"/>
                  </a:rPr>
                  <a:t>Instance Request</a:t>
                </a:r>
              </a:p>
              <a:p>
                <a:pPr marL="0" marR="0" lvl="0" indent="0" defTabSz="914400" rtl="0" eaLnBrk="1" fontAlgn="base" latinLnBrk="0" hangingPunct="1">
                  <a:lnSpc>
                    <a:spcPct val="11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altLang="en-US" sz="900" dirty="0">
                    <a:solidFill>
                      <a:srgbClr val="FF0000"/>
                    </a:solidFill>
                    <a:latin typeface="+mn-ea"/>
                    <a:cs typeface="Arial" panose="020B0604020202020204" pitchFamily="34" charset="0"/>
                  </a:rPr>
                  <a:t>External host Response</a:t>
                </a:r>
              </a:p>
            </p:txBody>
          </p:sp>
          <p:cxnSp>
            <p:nvCxnSpPr>
              <p:cNvPr id="146" name="직선 화살표 연결선 145">
                <a:extLst>
                  <a:ext uri="{FF2B5EF4-FFF2-40B4-BE49-F238E27FC236}">
                    <a16:creationId xmlns:a16="http://schemas.microsoft.com/office/drawing/2014/main" id="{E512D850-EB02-432A-A8A3-E1D4A064CD1B}"/>
                  </a:ext>
                </a:extLst>
              </p:cNvPr>
              <p:cNvCxnSpPr/>
              <p:nvPr/>
            </p:nvCxnSpPr>
            <p:spPr>
              <a:xfrm>
                <a:off x="2551908" y="3427941"/>
                <a:ext cx="283792" cy="0"/>
              </a:xfrm>
              <a:prstGeom prst="straightConnector1">
                <a:avLst/>
              </a:prstGeom>
              <a:ln w="19050">
                <a:solidFill>
                  <a:srgbClr val="FF0000"/>
                </a:solidFill>
                <a:prstDash val="sysDash"/>
                <a:tailEnd type="triangle"/>
              </a:ln>
            </p:spPr>
            <p:style>
              <a:lnRef idx="1">
                <a:schemeClr val="accent4"/>
              </a:lnRef>
              <a:fillRef idx="0">
                <a:schemeClr val="accent4"/>
              </a:fillRef>
              <a:effectRef idx="0">
                <a:schemeClr val="accent4"/>
              </a:effectRef>
              <a:fontRef idx="minor">
                <a:schemeClr val="tx1"/>
              </a:fontRef>
            </p:style>
          </p:cxnSp>
          <p:cxnSp>
            <p:nvCxnSpPr>
              <p:cNvPr id="147" name="직선 화살표 연결선 146">
                <a:extLst>
                  <a:ext uri="{FF2B5EF4-FFF2-40B4-BE49-F238E27FC236}">
                    <a16:creationId xmlns:a16="http://schemas.microsoft.com/office/drawing/2014/main" id="{E4F3EC5F-8A7B-43A7-B1FB-59E28AEC393D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551908" y="3292884"/>
                <a:ext cx="283792" cy="0"/>
              </a:xfrm>
              <a:prstGeom prst="straightConnector1">
                <a:avLst/>
              </a:prstGeom>
              <a:ln w="19050">
                <a:solidFill>
                  <a:srgbClr val="FF0000"/>
                </a:solidFill>
                <a:prstDash val="solid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90" name="그룹 89">
              <a:extLst>
                <a:ext uri="{FF2B5EF4-FFF2-40B4-BE49-F238E27FC236}">
                  <a16:creationId xmlns:a16="http://schemas.microsoft.com/office/drawing/2014/main" id="{D1AF0A56-1BB2-4FEE-B035-C921A1091591}"/>
                </a:ext>
              </a:extLst>
            </p:cNvPr>
            <p:cNvGrpSpPr/>
            <p:nvPr/>
          </p:nvGrpSpPr>
          <p:grpSpPr>
            <a:xfrm>
              <a:off x="8226725" y="3753816"/>
              <a:ext cx="591948" cy="704214"/>
              <a:chOff x="6229549" y="3743110"/>
              <a:chExt cx="591948" cy="704214"/>
            </a:xfrm>
          </p:grpSpPr>
          <p:pic>
            <p:nvPicPr>
              <p:cNvPr id="91" name="Graphic 71" descr="Router resource icon for the Amazon VPC service.&#10;">
                <a:extLst>
                  <a:ext uri="{FF2B5EF4-FFF2-40B4-BE49-F238E27FC236}">
                    <a16:creationId xmlns:a16="http://schemas.microsoft.com/office/drawing/2014/main" id="{5FA177AD-2857-4F01-A9E4-337D997CE09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/>
              </a:stretch>
            </p:blipFill>
            <p:spPr>
              <a:xfrm>
                <a:off x="6293652" y="3743110"/>
                <a:ext cx="457200" cy="457200"/>
              </a:xfrm>
              <a:prstGeom prst="rect">
                <a:avLst/>
              </a:prstGeom>
            </p:spPr>
          </p:pic>
          <p:sp>
            <p:nvSpPr>
              <p:cNvPr id="92" name="TextBox 27">
                <a:extLst>
                  <a:ext uri="{FF2B5EF4-FFF2-40B4-BE49-F238E27FC236}">
                    <a16:creationId xmlns:a16="http://schemas.microsoft.com/office/drawing/2014/main" id="{7584CC57-2D10-4FFB-BA8E-C4AAF95D36A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229549" y="4201103"/>
                <a:ext cx="591948" cy="24622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Amazon Ember" panose="020B0603020204020204" pitchFamily="34" charset="0"/>
                    <a:cs typeface="Arial" panose="020B0604020202020204" pitchFamily="34" charset="0"/>
                  </a:rPr>
                  <a:t>Router</a:t>
                </a:r>
              </a:p>
            </p:txBody>
          </p:sp>
        </p:grpSp>
        <p:grpSp>
          <p:nvGrpSpPr>
            <p:cNvPr id="95" name="그룹 94">
              <a:extLst>
                <a:ext uri="{FF2B5EF4-FFF2-40B4-BE49-F238E27FC236}">
                  <a16:creationId xmlns:a16="http://schemas.microsoft.com/office/drawing/2014/main" id="{A9BF4F14-A090-4AE8-8C27-D8ABDA635442}"/>
                </a:ext>
              </a:extLst>
            </p:cNvPr>
            <p:cNvGrpSpPr/>
            <p:nvPr/>
          </p:nvGrpSpPr>
          <p:grpSpPr>
            <a:xfrm>
              <a:off x="2702235" y="2265951"/>
              <a:ext cx="591948" cy="704214"/>
              <a:chOff x="6229549" y="3743110"/>
              <a:chExt cx="591948" cy="704214"/>
            </a:xfrm>
          </p:grpSpPr>
          <p:pic>
            <p:nvPicPr>
              <p:cNvPr id="96" name="Graphic 71" descr="Router resource icon for the Amazon VPC service.&#10;">
                <a:extLst>
                  <a:ext uri="{FF2B5EF4-FFF2-40B4-BE49-F238E27FC236}">
                    <a16:creationId xmlns:a16="http://schemas.microsoft.com/office/drawing/2014/main" id="{506D3BC0-C30C-4B31-85DB-7C871856E0D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/>
              </a:stretch>
            </p:blipFill>
            <p:spPr>
              <a:xfrm>
                <a:off x="6293652" y="3743110"/>
                <a:ext cx="457200" cy="457200"/>
              </a:xfrm>
              <a:prstGeom prst="rect">
                <a:avLst/>
              </a:prstGeom>
            </p:spPr>
          </p:pic>
          <p:sp>
            <p:nvSpPr>
              <p:cNvPr id="97" name="TextBox 27">
                <a:extLst>
                  <a:ext uri="{FF2B5EF4-FFF2-40B4-BE49-F238E27FC236}">
                    <a16:creationId xmlns:a16="http://schemas.microsoft.com/office/drawing/2014/main" id="{16F6D442-FF08-40CA-8F73-E53C5B3344E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229549" y="4201103"/>
                <a:ext cx="591948" cy="24622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Amazon Ember" panose="020B0603020204020204" pitchFamily="34" charset="0"/>
                    <a:cs typeface="Arial" panose="020B0604020202020204" pitchFamily="34" charset="0"/>
                  </a:rPr>
                  <a:t>Router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4570183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>
            <a:extLst>
              <a:ext uri="{FF2B5EF4-FFF2-40B4-BE49-F238E27FC236}">
                <a16:creationId xmlns:a16="http://schemas.microsoft.com/office/drawing/2014/main" id="{B77CB994-F58C-476A-8D73-1EC6C1361AD8}"/>
              </a:ext>
            </a:extLst>
          </p:cNvPr>
          <p:cNvSpPr txBox="1"/>
          <p:nvPr/>
        </p:nvSpPr>
        <p:spPr>
          <a:xfrm>
            <a:off x="347132" y="169333"/>
            <a:ext cx="44450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ALB </a:t>
            </a:r>
            <a:r>
              <a:rPr lang="ko-KR" altLang="en-US" dirty="0"/>
              <a:t>도입 후 웹서비스 데이터 흐름</a:t>
            </a:r>
          </a:p>
        </p:txBody>
      </p:sp>
      <p:grpSp>
        <p:nvGrpSpPr>
          <p:cNvPr id="32" name="그룹 31">
            <a:extLst>
              <a:ext uri="{FF2B5EF4-FFF2-40B4-BE49-F238E27FC236}">
                <a16:creationId xmlns:a16="http://schemas.microsoft.com/office/drawing/2014/main" id="{F54F1B96-131B-4645-B653-4567835FA752}"/>
              </a:ext>
            </a:extLst>
          </p:cNvPr>
          <p:cNvGrpSpPr/>
          <p:nvPr/>
        </p:nvGrpSpPr>
        <p:grpSpPr>
          <a:xfrm>
            <a:off x="9580032" y="1376739"/>
            <a:ext cx="788342" cy="918865"/>
            <a:chOff x="4247957" y="2412493"/>
            <a:chExt cx="788342" cy="918865"/>
          </a:xfrm>
        </p:grpSpPr>
        <p:pic>
          <p:nvPicPr>
            <p:cNvPr id="21" name="Graphic 80" descr="Route table resource icon for the Amazon Route 53 service.">
              <a:extLst>
                <a:ext uri="{FF2B5EF4-FFF2-40B4-BE49-F238E27FC236}">
                  <a16:creationId xmlns:a16="http://schemas.microsoft.com/office/drawing/2014/main" id="{F22DA57B-3A53-4777-B491-99FBA0DC09C4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4413528" y="2412493"/>
              <a:ext cx="457200" cy="457200"/>
            </a:xfrm>
            <a:prstGeom prst="rect">
              <a:avLst/>
            </a:prstGeom>
          </p:spPr>
        </p:pic>
        <p:sp>
          <p:nvSpPr>
            <p:cNvPr id="26" name="TextBox 16">
              <a:extLst>
                <a:ext uri="{FF2B5EF4-FFF2-40B4-BE49-F238E27FC236}">
                  <a16:creationId xmlns:a16="http://schemas.microsoft.com/office/drawing/2014/main" id="{A010DB61-6421-40AF-9E06-7E33F03168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47957" y="2869693"/>
              <a:ext cx="788342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rIns="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200" b="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Arial" panose="020B0604020202020204" pitchFamily="34" charset="0"/>
                  <a:ea typeface="Amazon Ember" panose="020B0603020204020204" pitchFamily="34" charset="0"/>
                  <a:cs typeface="Arial" panose="020B0604020202020204" pitchFamily="34" charset="0"/>
                </a:rPr>
                <a:t>Public</a:t>
              </a:r>
            </a:p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200" b="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Arial" panose="020B0604020202020204" pitchFamily="34" charset="0"/>
                  <a:ea typeface="Amazon Ember" panose="020B0603020204020204" pitchFamily="34" charset="0"/>
                  <a:cs typeface="Arial" panose="020B0604020202020204" pitchFamily="34" charset="0"/>
                </a:rPr>
                <a:t>RT</a:t>
              </a:r>
            </a:p>
          </p:txBody>
        </p:sp>
      </p:grp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B01E34BE-C2B1-40F4-AA0B-FEFF6CFE9DE3}"/>
              </a:ext>
            </a:extLst>
          </p:cNvPr>
          <p:cNvGrpSpPr/>
          <p:nvPr/>
        </p:nvGrpSpPr>
        <p:grpSpPr>
          <a:xfrm>
            <a:off x="1086576" y="4935268"/>
            <a:ext cx="743786" cy="712722"/>
            <a:chOff x="1086576" y="4935268"/>
            <a:chExt cx="743786" cy="712722"/>
          </a:xfrm>
        </p:grpSpPr>
        <p:pic>
          <p:nvPicPr>
            <p:cNvPr id="295" name="Graphic 36" descr="Application Load Balancer resource icon for the Elastic Load Balancing service.">
              <a:extLst>
                <a:ext uri="{FF2B5EF4-FFF2-40B4-BE49-F238E27FC236}">
                  <a16:creationId xmlns:a16="http://schemas.microsoft.com/office/drawing/2014/main" id="{7238B0E1-F14A-4D24-9DF6-7AB82640F8F9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229869" y="4935268"/>
              <a:ext cx="457200" cy="457200"/>
            </a:xfrm>
            <a:prstGeom prst="rect">
              <a:avLst/>
            </a:prstGeom>
          </p:spPr>
        </p:pic>
        <p:sp>
          <p:nvSpPr>
            <p:cNvPr id="296" name="TextBox 19">
              <a:extLst>
                <a:ext uri="{FF2B5EF4-FFF2-40B4-BE49-F238E27FC236}">
                  <a16:creationId xmlns:a16="http://schemas.microsoft.com/office/drawing/2014/main" id="{BAD19452-8305-44CA-81DF-8348B5D2593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86576" y="5370991"/>
              <a:ext cx="743786" cy="276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Amazon Ember" panose="020B0603020204020204" pitchFamily="34" charset="0"/>
                  <a:cs typeface="Arial" panose="020B0604020202020204" pitchFamily="34" charset="0"/>
                </a:rPr>
                <a:t>ALB</a:t>
              </a:r>
            </a:p>
          </p:txBody>
        </p:sp>
      </p:grp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2B7A143E-9BC0-46E2-99B2-F50BBBABDFE0}"/>
              </a:ext>
            </a:extLst>
          </p:cNvPr>
          <p:cNvGrpSpPr/>
          <p:nvPr/>
        </p:nvGrpSpPr>
        <p:grpSpPr>
          <a:xfrm>
            <a:off x="2790925" y="4935268"/>
            <a:ext cx="788342" cy="918865"/>
            <a:chOff x="2254654" y="4940602"/>
            <a:chExt cx="788342" cy="918865"/>
          </a:xfrm>
        </p:grpSpPr>
        <p:pic>
          <p:nvPicPr>
            <p:cNvPr id="297" name="Graphic 60">
              <a:extLst>
                <a:ext uri="{FF2B5EF4-FFF2-40B4-BE49-F238E27FC236}">
                  <a16:creationId xmlns:a16="http://schemas.microsoft.com/office/drawing/2014/main" id="{43EA3340-3600-4584-9E4A-1817F531F7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/>
          </p:blipFill>
          <p:spPr bwMode="auto">
            <a:xfrm>
              <a:off x="2420225" y="4940602"/>
              <a:ext cx="45720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98" name="TextBox 16">
              <a:extLst>
                <a:ext uri="{FF2B5EF4-FFF2-40B4-BE49-F238E27FC236}">
                  <a16:creationId xmlns:a16="http://schemas.microsoft.com/office/drawing/2014/main" id="{3D7561AC-308F-46DB-8769-F510007809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54654" y="5397802"/>
              <a:ext cx="788342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rIns="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en-US" sz="1200" dirty="0">
                  <a:latin typeface="Arial" panose="020B0604020202020204" pitchFamily="34" charset="0"/>
                  <a:ea typeface="Amazon Ember" panose="020B0603020204020204" pitchFamily="34" charset="0"/>
                  <a:cs typeface="Arial" panose="020B0604020202020204" pitchFamily="34" charset="0"/>
                </a:rPr>
                <a:t>WEB</a:t>
              </a:r>
            </a:p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en-US" sz="1200" dirty="0">
                  <a:latin typeface="Arial" panose="020B0604020202020204" pitchFamily="34" charset="0"/>
                  <a:ea typeface="Amazon Ember" panose="020B0603020204020204" pitchFamily="34" charset="0"/>
                  <a:cs typeface="Arial" panose="020B0604020202020204" pitchFamily="34" charset="0"/>
                </a:rPr>
                <a:t>Instance</a:t>
              </a:r>
              <a:endParaRPr kumimoji="0" lang="en-US" altLang="en-US" sz="1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299" name="그룹 298">
            <a:extLst>
              <a:ext uri="{FF2B5EF4-FFF2-40B4-BE49-F238E27FC236}">
                <a16:creationId xmlns:a16="http://schemas.microsoft.com/office/drawing/2014/main" id="{5F88BF7A-1526-4561-B761-5F7E35CE75D2}"/>
              </a:ext>
            </a:extLst>
          </p:cNvPr>
          <p:cNvGrpSpPr/>
          <p:nvPr/>
        </p:nvGrpSpPr>
        <p:grpSpPr>
          <a:xfrm>
            <a:off x="4073611" y="4935268"/>
            <a:ext cx="788342" cy="918865"/>
            <a:chOff x="2254654" y="4940602"/>
            <a:chExt cx="788342" cy="918865"/>
          </a:xfrm>
        </p:grpSpPr>
        <p:pic>
          <p:nvPicPr>
            <p:cNvPr id="300" name="Graphic 60">
              <a:extLst>
                <a:ext uri="{FF2B5EF4-FFF2-40B4-BE49-F238E27FC236}">
                  <a16:creationId xmlns:a16="http://schemas.microsoft.com/office/drawing/2014/main" id="{BE290C09-D31E-45A7-9001-98B127D4244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/>
          </p:blipFill>
          <p:spPr bwMode="auto">
            <a:xfrm>
              <a:off x="2420225" y="4940602"/>
              <a:ext cx="45720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01" name="TextBox 16">
              <a:extLst>
                <a:ext uri="{FF2B5EF4-FFF2-40B4-BE49-F238E27FC236}">
                  <a16:creationId xmlns:a16="http://schemas.microsoft.com/office/drawing/2014/main" id="{83B695BC-ADB7-40AF-9F12-9A8ECF78B03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54654" y="5397802"/>
              <a:ext cx="788342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rIns="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en-US" sz="1200" dirty="0">
                  <a:latin typeface="Arial" panose="020B0604020202020204" pitchFamily="34" charset="0"/>
                  <a:ea typeface="Amazon Ember" panose="020B0603020204020204" pitchFamily="34" charset="0"/>
                  <a:cs typeface="Arial" panose="020B0604020202020204" pitchFamily="34" charset="0"/>
                </a:rPr>
                <a:t>WAS</a:t>
              </a:r>
            </a:p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en-US" sz="1200" dirty="0">
                  <a:latin typeface="Arial" panose="020B0604020202020204" pitchFamily="34" charset="0"/>
                  <a:ea typeface="Amazon Ember" panose="020B0603020204020204" pitchFamily="34" charset="0"/>
                  <a:cs typeface="Arial" panose="020B0604020202020204" pitchFamily="34" charset="0"/>
                </a:rPr>
                <a:t>Instance</a:t>
              </a:r>
              <a:endParaRPr kumimoji="0" lang="en-US" altLang="en-US" sz="1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18" name="TextBox 17">
            <a:extLst>
              <a:ext uri="{FF2B5EF4-FFF2-40B4-BE49-F238E27FC236}">
                <a16:creationId xmlns:a16="http://schemas.microsoft.com/office/drawing/2014/main" id="{EC8B7975-61F9-439E-8186-79CDA2B9BB71}"/>
              </a:ext>
            </a:extLst>
          </p:cNvPr>
          <p:cNvSpPr txBox="1"/>
          <p:nvPr/>
        </p:nvSpPr>
        <p:spPr>
          <a:xfrm>
            <a:off x="855025" y="5854133"/>
            <a:ext cx="1352335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b="1" dirty="0"/>
              <a:t>[name: </a:t>
            </a:r>
            <a:r>
              <a:rPr lang="en-US" altLang="ko-KR" sz="1000" b="1" dirty="0" err="1"/>
              <a:t>alb</a:t>
            </a:r>
            <a:r>
              <a:rPr lang="en-US" altLang="ko-KR" sz="1000" b="1" dirty="0"/>
              <a:t>-sg]</a:t>
            </a:r>
          </a:p>
          <a:p>
            <a:pPr marL="85725" indent="-85725">
              <a:buFont typeface="Arial" panose="020B0604020202020204" pitchFamily="34" charset="0"/>
              <a:buChar char="•"/>
            </a:pPr>
            <a:r>
              <a:rPr lang="en-US" altLang="ko-KR" sz="1000" dirty="0"/>
              <a:t>http: 0.0.0.0/0</a:t>
            </a:r>
          </a:p>
          <a:p>
            <a:pPr marL="85725" indent="-85725">
              <a:buFont typeface="Arial" panose="020B0604020202020204" pitchFamily="34" charset="0"/>
              <a:buChar char="•"/>
            </a:pPr>
            <a:r>
              <a:rPr lang="en-US" altLang="ko-KR" sz="1000" dirty="0"/>
              <a:t>https: 0.0.0.0/24</a:t>
            </a:r>
            <a:endParaRPr lang="ko-KR" altLang="en-US" sz="1000" dirty="0"/>
          </a:p>
        </p:txBody>
      </p:sp>
      <p:sp>
        <p:nvSpPr>
          <p:cNvPr id="303" name="TextBox 302">
            <a:extLst>
              <a:ext uri="{FF2B5EF4-FFF2-40B4-BE49-F238E27FC236}">
                <a16:creationId xmlns:a16="http://schemas.microsoft.com/office/drawing/2014/main" id="{BAB94716-5F78-4026-A824-B50D86836AF0}"/>
              </a:ext>
            </a:extLst>
          </p:cNvPr>
          <p:cNvSpPr txBox="1"/>
          <p:nvPr/>
        </p:nvSpPr>
        <p:spPr>
          <a:xfrm>
            <a:off x="2696181" y="5854133"/>
            <a:ext cx="1352335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b="1" dirty="0"/>
              <a:t>[name: web-sg]</a:t>
            </a:r>
          </a:p>
          <a:p>
            <a:pPr marL="85725" indent="-85725">
              <a:buFont typeface="Arial" panose="020B0604020202020204" pitchFamily="34" charset="0"/>
              <a:buChar char="•"/>
            </a:pPr>
            <a:r>
              <a:rPr lang="en-US" altLang="ko-KR" sz="1000" dirty="0"/>
              <a:t>http: 0.0.0.0/0</a:t>
            </a:r>
          </a:p>
          <a:p>
            <a:pPr marL="85725" indent="-85725">
              <a:buFont typeface="Arial" panose="020B0604020202020204" pitchFamily="34" charset="0"/>
              <a:buChar char="•"/>
            </a:pPr>
            <a:r>
              <a:rPr lang="en-US" altLang="ko-KR" sz="1000" dirty="0"/>
              <a:t>https: 0.0.0.0/24</a:t>
            </a:r>
            <a:endParaRPr lang="ko-KR" altLang="en-US" sz="1000" dirty="0"/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A82E4448-0795-A2C9-E9D5-3FA5ABF3CB54}"/>
              </a:ext>
            </a:extLst>
          </p:cNvPr>
          <p:cNvGrpSpPr/>
          <p:nvPr/>
        </p:nvGrpSpPr>
        <p:grpSpPr>
          <a:xfrm>
            <a:off x="7575475" y="4840702"/>
            <a:ext cx="1468727" cy="1103531"/>
            <a:chOff x="2609706" y="2803525"/>
            <a:chExt cx="1468727" cy="1103531"/>
          </a:xfrm>
        </p:grpSpPr>
        <p:pic>
          <p:nvPicPr>
            <p:cNvPr id="5" name="Graphic 6" descr="Endpoint resource icon for the Amazon API Gateway service.">
              <a:extLst>
                <a:ext uri="{FF2B5EF4-FFF2-40B4-BE49-F238E27FC236}">
                  <a16:creationId xmlns:a16="http://schemas.microsoft.com/office/drawing/2014/main" id="{64644E15-2278-E750-07B2-20D987550A2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rcRect/>
            <a:stretch/>
          </p:blipFill>
          <p:spPr bwMode="auto">
            <a:xfrm>
              <a:off x="3123554" y="2803525"/>
              <a:ext cx="45720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6" name="TextBox 16">
              <a:extLst>
                <a:ext uri="{FF2B5EF4-FFF2-40B4-BE49-F238E27FC236}">
                  <a16:creationId xmlns:a16="http://schemas.microsoft.com/office/drawing/2014/main" id="{A80C5F5B-EEA8-A656-37C5-8A8F7A64C59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09706" y="3260725"/>
              <a:ext cx="1468727" cy="6463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en-US" sz="1200" dirty="0">
                  <a:solidFill>
                    <a:srgbClr val="000000"/>
                  </a:solidFill>
                  <a:latin typeface="Arial" panose="020B0604020202020204" pitchFamily="34" charset="0"/>
                  <a:ea typeface="Amazon Ember" panose="020B0603020204020204" pitchFamily="34" charset="0"/>
                  <a:cs typeface="Arial" panose="020B0604020202020204" pitchFamily="34" charset="0"/>
                </a:rPr>
                <a:t>Gateway</a:t>
              </a:r>
            </a:p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Amazon Ember" panose="020B0603020204020204" pitchFamily="34" charset="0"/>
                  <a:cs typeface="Arial" panose="020B0604020202020204" pitchFamily="34" charset="0"/>
                </a:rPr>
                <a:t>Endpoint</a:t>
              </a:r>
              <a:br>
                <a:rPr kumimoji="0" lang="en-US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Amazon Ember" panose="020B0603020204020204" pitchFamily="34" charset="0"/>
                  <a:cs typeface="Arial" panose="020B0604020202020204" pitchFamily="34" charset="0"/>
                </a:rPr>
              </a:br>
              <a:r>
                <a:rPr kumimoji="0" lang="en-US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Amazon Ember" panose="020B0603020204020204" pitchFamily="34" charset="0"/>
                  <a:cs typeface="Arial" panose="020B0604020202020204" pitchFamily="34" charset="0"/>
                </a:rPr>
                <a:t>(GEP)</a:t>
              </a:r>
            </a:p>
          </p:txBody>
        </p:sp>
      </p:grpSp>
      <p:grpSp>
        <p:nvGrpSpPr>
          <p:cNvPr id="30" name="그룹 29">
            <a:extLst>
              <a:ext uri="{FF2B5EF4-FFF2-40B4-BE49-F238E27FC236}">
                <a16:creationId xmlns:a16="http://schemas.microsoft.com/office/drawing/2014/main" id="{C701BA5D-A49A-4E86-BF1A-C77DB532E85B}"/>
              </a:ext>
            </a:extLst>
          </p:cNvPr>
          <p:cNvGrpSpPr/>
          <p:nvPr/>
        </p:nvGrpSpPr>
        <p:grpSpPr>
          <a:xfrm>
            <a:off x="239387" y="1376739"/>
            <a:ext cx="585140" cy="734199"/>
            <a:chOff x="1227261" y="2412493"/>
            <a:chExt cx="585140" cy="734199"/>
          </a:xfrm>
        </p:grpSpPr>
        <p:pic>
          <p:nvPicPr>
            <p:cNvPr id="4" name="Graphic 22" descr="User resource icon for the General Icons category.">
              <a:extLst>
                <a:ext uri="{FF2B5EF4-FFF2-40B4-BE49-F238E27FC236}">
                  <a16:creationId xmlns:a16="http://schemas.microsoft.com/office/drawing/2014/main" id="{D293F237-FE28-4B8C-8A87-13178786232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/>
            <a:stretch/>
          </p:blipFill>
          <p:spPr bwMode="auto">
            <a:xfrm>
              <a:off x="1296834" y="2412493"/>
              <a:ext cx="45720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4" name="TextBox 16">
              <a:extLst>
                <a:ext uri="{FF2B5EF4-FFF2-40B4-BE49-F238E27FC236}">
                  <a16:creationId xmlns:a16="http://schemas.microsoft.com/office/drawing/2014/main" id="{566A5201-8E8F-49BC-95E5-AA1267F1D6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27261" y="2869693"/>
              <a:ext cx="585140" cy="276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rIns="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200" b="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Arial" panose="020B0604020202020204" pitchFamily="34" charset="0"/>
                  <a:ea typeface="Amazon Ember" panose="020B0603020204020204" pitchFamily="34" charset="0"/>
                  <a:cs typeface="Arial" panose="020B0604020202020204" pitchFamily="34" charset="0"/>
                </a:rPr>
                <a:t>User</a:t>
              </a:r>
            </a:p>
          </p:txBody>
        </p:sp>
      </p:grpSp>
      <p:grpSp>
        <p:nvGrpSpPr>
          <p:cNvPr id="31" name="그룹 30">
            <a:extLst>
              <a:ext uri="{FF2B5EF4-FFF2-40B4-BE49-F238E27FC236}">
                <a16:creationId xmlns:a16="http://schemas.microsoft.com/office/drawing/2014/main" id="{409EFEC8-7CA7-46FC-AEC2-48BE428E6F5D}"/>
              </a:ext>
            </a:extLst>
          </p:cNvPr>
          <p:cNvGrpSpPr/>
          <p:nvPr/>
        </p:nvGrpSpPr>
        <p:grpSpPr>
          <a:xfrm>
            <a:off x="1036513" y="1376739"/>
            <a:ext cx="788342" cy="734199"/>
            <a:chOff x="3241791" y="2412493"/>
            <a:chExt cx="788342" cy="734199"/>
          </a:xfrm>
        </p:grpSpPr>
        <p:pic>
          <p:nvPicPr>
            <p:cNvPr id="9" name="Graphic 63" descr="Internet gateway resource icon for the Amazon VPC service.&#10;">
              <a:extLst>
                <a:ext uri="{FF2B5EF4-FFF2-40B4-BE49-F238E27FC236}">
                  <a16:creationId xmlns:a16="http://schemas.microsoft.com/office/drawing/2014/main" id="{27D10B3B-D01E-4D75-8C60-8E8EA999ED0D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3407362" y="2412493"/>
              <a:ext cx="457200" cy="457200"/>
            </a:xfrm>
            <a:prstGeom prst="rect">
              <a:avLst/>
            </a:prstGeom>
          </p:spPr>
        </p:pic>
        <p:sp>
          <p:nvSpPr>
            <p:cNvPr id="25" name="TextBox 16">
              <a:extLst>
                <a:ext uri="{FF2B5EF4-FFF2-40B4-BE49-F238E27FC236}">
                  <a16:creationId xmlns:a16="http://schemas.microsoft.com/office/drawing/2014/main" id="{4C7BDD90-87CE-4258-8521-B7F753B9C65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41791" y="2869693"/>
              <a:ext cx="788342" cy="276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rIns="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200" b="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Arial" panose="020B0604020202020204" pitchFamily="34" charset="0"/>
                  <a:ea typeface="Amazon Ember" panose="020B0603020204020204" pitchFamily="34" charset="0"/>
                  <a:cs typeface="Arial" panose="020B0604020202020204" pitchFamily="34" charset="0"/>
                </a:rPr>
                <a:t>IGW</a:t>
              </a:r>
            </a:p>
          </p:txBody>
        </p:sp>
      </p:grpSp>
      <p:grpSp>
        <p:nvGrpSpPr>
          <p:cNvPr id="33" name="그룹 32">
            <a:extLst>
              <a:ext uri="{FF2B5EF4-FFF2-40B4-BE49-F238E27FC236}">
                <a16:creationId xmlns:a16="http://schemas.microsoft.com/office/drawing/2014/main" id="{59465786-B24E-4CEF-AC25-A541161C404A}"/>
              </a:ext>
            </a:extLst>
          </p:cNvPr>
          <p:cNvGrpSpPr/>
          <p:nvPr/>
        </p:nvGrpSpPr>
        <p:grpSpPr>
          <a:xfrm>
            <a:off x="2827812" y="1376739"/>
            <a:ext cx="788342" cy="918865"/>
            <a:chOff x="5473229" y="2412493"/>
            <a:chExt cx="788342" cy="918865"/>
          </a:xfrm>
        </p:grpSpPr>
        <p:pic>
          <p:nvPicPr>
            <p:cNvPr id="19" name="Graphic 81" descr="Network access control list resource icon for the Amazon VPC service.&#10;">
              <a:extLst>
                <a:ext uri="{FF2B5EF4-FFF2-40B4-BE49-F238E27FC236}">
                  <a16:creationId xmlns:a16="http://schemas.microsoft.com/office/drawing/2014/main" id="{17A658D6-7849-471E-B1D7-1A729D050353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5638800" y="2412493"/>
              <a:ext cx="457200" cy="457200"/>
            </a:xfrm>
            <a:prstGeom prst="rect">
              <a:avLst/>
            </a:prstGeom>
          </p:spPr>
        </p:pic>
        <p:sp>
          <p:nvSpPr>
            <p:cNvPr id="27" name="TextBox 16">
              <a:extLst>
                <a:ext uri="{FF2B5EF4-FFF2-40B4-BE49-F238E27FC236}">
                  <a16:creationId xmlns:a16="http://schemas.microsoft.com/office/drawing/2014/main" id="{171F02B5-ED2E-4F67-BAB7-1547860AEC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473229" y="2869693"/>
              <a:ext cx="788342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rIns="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200" b="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Arial" panose="020B0604020202020204" pitchFamily="34" charset="0"/>
                  <a:ea typeface="Amazon Ember" panose="020B0603020204020204" pitchFamily="34" charset="0"/>
                  <a:cs typeface="Arial" panose="020B0604020202020204" pitchFamily="34" charset="0"/>
                </a:rPr>
                <a:t>Public</a:t>
              </a:r>
            </a:p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200" b="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Arial" panose="020B0604020202020204" pitchFamily="34" charset="0"/>
                  <a:ea typeface="Amazon Ember" panose="020B0603020204020204" pitchFamily="34" charset="0"/>
                  <a:cs typeface="Arial" panose="020B0604020202020204" pitchFamily="34" charset="0"/>
                </a:rPr>
                <a:t>NACL</a:t>
              </a:r>
            </a:p>
          </p:txBody>
        </p:sp>
      </p:grp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97352FBE-0800-4229-98CB-67729947E659}"/>
              </a:ext>
            </a:extLst>
          </p:cNvPr>
          <p:cNvSpPr/>
          <p:nvPr/>
        </p:nvSpPr>
        <p:spPr>
          <a:xfrm>
            <a:off x="3931851" y="1106313"/>
            <a:ext cx="1464736" cy="118929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E05326DD-4155-4C21-82A1-BFD6AED628A5}"/>
              </a:ext>
            </a:extLst>
          </p:cNvPr>
          <p:cNvSpPr/>
          <p:nvPr/>
        </p:nvSpPr>
        <p:spPr>
          <a:xfrm>
            <a:off x="5546299" y="1106313"/>
            <a:ext cx="1464736" cy="118929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36215FE3-8DFA-4FE3-90FF-24FC736F39F1}"/>
              </a:ext>
            </a:extLst>
          </p:cNvPr>
          <p:cNvSpPr/>
          <p:nvPr/>
        </p:nvSpPr>
        <p:spPr>
          <a:xfrm>
            <a:off x="4080209" y="1207914"/>
            <a:ext cx="2759752" cy="951610"/>
          </a:xfrm>
          <a:prstGeom prst="rect">
            <a:avLst/>
          </a:prstGeom>
          <a:noFill/>
          <a:ln>
            <a:solidFill>
              <a:srgbClr val="00B0F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TextBox 12">
            <a:extLst>
              <a:ext uri="{FF2B5EF4-FFF2-40B4-BE49-F238E27FC236}">
                <a16:creationId xmlns:a16="http://schemas.microsoft.com/office/drawing/2014/main" id="{DCC440D8-0460-420C-85D3-92ECF1AC6C1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58409" y="1213094"/>
            <a:ext cx="1403350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Security Group</a:t>
            </a:r>
          </a:p>
        </p:txBody>
      </p:sp>
      <p:sp>
        <p:nvSpPr>
          <p:cNvPr id="41" name="TextBox 12">
            <a:extLst>
              <a:ext uri="{FF2B5EF4-FFF2-40B4-BE49-F238E27FC236}">
                <a16:creationId xmlns:a16="http://schemas.microsoft.com/office/drawing/2014/main" id="{A1B10D9B-99BF-4FAF-98C1-843AAC155D7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62544" y="845678"/>
            <a:ext cx="1403350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Public Subnet</a:t>
            </a:r>
          </a:p>
        </p:txBody>
      </p:sp>
      <p:sp>
        <p:nvSpPr>
          <p:cNvPr id="42" name="TextBox 12">
            <a:extLst>
              <a:ext uri="{FF2B5EF4-FFF2-40B4-BE49-F238E27FC236}">
                <a16:creationId xmlns:a16="http://schemas.microsoft.com/office/drawing/2014/main" id="{FB4175A0-9684-4378-9579-DAA6FCE721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71305" y="845678"/>
            <a:ext cx="1403350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Public Subnet</a:t>
            </a:r>
          </a:p>
        </p:txBody>
      </p:sp>
      <p:grpSp>
        <p:nvGrpSpPr>
          <p:cNvPr id="50" name="Group 38" descr="Virtual private cloud (VPC) group.">
            <a:extLst>
              <a:ext uri="{FF2B5EF4-FFF2-40B4-BE49-F238E27FC236}">
                <a16:creationId xmlns:a16="http://schemas.microsoft.com/office/drawing/2014/main" id="{4D98BC5F-0936-4298-8EFE-A6C7FB34AA6A}"/>
              </a:ext>
            </a:extLst>
          </p:cNvPr>
          <p:cNvGrpSpPr/>
          <p:nvPr/>
        </p:nvGrpSpPr>
        <p:grpSpPr>
          <a:xfrm>
            <a:off x="1292074" y="809397"/>
            <a:ext cx="5863106" cy="3223921"/>
            <a:chOff x="2283292" y="2618865"/>
            <a:chExt cx="5863106" cy="3223921"/>
          </a:xfrm>
        </p:grpSpPr>
        <p:sp>
          <p:nvSpPr>
            <p:cNvPr id="51" name="Rectangle 39">
              <a:extLst>
                <a:ext uri="{FF2B5EF4-FFF2-40B4-BE49-F238E27FC236}">
                  <a16:creationId xmlns:a16="http://schemas.microsoft.com/office/drawing/2014/main" id="{61CCC801-B733-4F9A-8F55-4329EEED3337}"/>
                </a:ext>
              </a:extLst>
            </p:cNvPr>
            <p:cNvSpPr/>
            <p:nvPr/>
          </p:nvSpPr>
          <p:spPr>
            <a:xfrm>
              <a:off x="2283292" y="2618865"/>
              <a:ext cx="5863106" cy="3223921"/>
            </a:xfrm>
            <a:prstGeom prst="rect">
              <a:avLst/>
            </a:prstGeom>
            <a:noFill/>
            <a:ln w="15875">
              <a:solidFill>
                <a:srgbClr val="8C4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502920" tIns="9144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 w="0"/>
                  <a:solidFill>
                    <a:schemeClr val="tx1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VPC</a:t>
              </a:r>
            </a:p>
          </p:txBody>
        </p:sp>
        <p:pic>
          <p:nvPicPr>
            <p:cNvPr id="52" name="Graphic 40" descr="VPC group icon. ">
              <a:extLst>
                <a:ext uri="{FF2B5EF4-FFF2-40B4-BE49-F238E27FC236}">
                  <a16:creationId xmlns:a16="http://schemas.microsoft.com/office/drawing/2014/main" id="{6789EC5B-3EC5-4E9F-AF63-F81C8DB398DC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rcRect/>
            <a:stretch/>
          </p:blipFill>
          <p:spPr>
            <a:xfrm>
              <a:off x="2283292" y="2618865"/>
              <a:ext cx="381000" cy="381000"/>
            </a:xfrm>
            <a:prstGeom prst="rect">
              <a:avLst/>
            </a:prstGeom>
          </p:spPr>
        </p:pic>
      </p:grpSp>
      <p:grpSp>
        <p:nvGrpSpPr>
          <p:cNvPr id="216" name="그룹 215">
            <a:extLst>
              <a:ext uri="{FF2B5EF4-FFF2-40B4-BE49-F238E27FC236}">
                <a16:creationId xmlns:a16="http://schemas.microsoft.com/office/drawing/2014/main" id="{14F7D07F-AD42-4C36-9C09-D5F26F7608BD}"/>
              </a:ext>
            </a:extLst>
          </p:cNvPr>
          <p:cNvGrpSpPr/>
          <p:nvPr/>
        </p:nvGrpSpPr>
        <p:grpSpPr>
          <a:xfrm>
            <a:off x="766160" y="1554748"/>
            <a:ext cx="331142" cy="92363"/>
            <a:chOff x="1754034" y="2599738"/>
            <a:chExt cx="331142" cy="92363"/>
          </a:xfrm>
        </p:grpSpPr>
        <p:cxnSp>
          <p:nvCxnSpPr>
            <p:cNvPr id="87" name="직선 화살표 연결선 86">
              <a:extLst>
                <a:ext uri="{FF2B5EF4-FFF2-40B4-BE49-F238E27FC236}">
                  <a16:creationId xmlns:a16="http://schemas.microsoft.com/office/drawing/2014/main" id="{19BB9F31-42CF-4FF6-82AB-D79B78DB5C82}"/>
                </a:ext>
              </a:extLst>
            </p:cNvPr>
            <p:cNvCxnSpPr/>
            <p:nvPr/>
          </p:nvCxnSpPr>
          <p:spPr>
            <a:xfrm>
              <a:off x="1754034" y="2599738"/>
              <a:ext cx="331142" cy="0"/>
            </a:xfrm>
            <a:prstGeom prst="straightConnector1">
              <a:avLst/>
            </a:prstGeom>
            <a:ln w="19050">
              <a:solidFill>
                <a:srgbClr val="00B0F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직선 화살표 연결선 87">
              <a:extLst>
                <a:ext uri="{FF2B5EF4-FFF2-40B4-BE49-F238E27FC236}">
                  <a16:creationId xmlns:a16="http://schemas.microsoft.com/office/drawing/2014/main" id="{2D4BFD55-0261-4D35-8436-AE87DF6AE6A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754034" y="2692101"/>
              <a:ext cx="331142" cy="0"/>
            </a:xfrm>
            <a:prstGeom prst="straightConnector1">
              <a:avLst/>
            </a:prstGeom>
            <a:ln w="19050">
              <a:solidFill>
                <a:srgbClr val="00B0F0"/>
              </a:solidFill>
              <a:prstDash val="sys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7" name="그룹 216">
            <a:extLst>
              <a:ext uri="{FF2B5EF4-FFF2-40B4-BE49-F238E27FC236}">
                <a16:creationId xmlns:a16="http://schemas.microsoft.com/office/drawing/2014/main" id="{9145F4DF-2216-40A2-9005-469D605B072E}"/>
              </a:ext>
            </a:extLst>
          </p:cNvPr>
          <p:cNvGrpSpPr/>
          <p:nvPr/>
        </p:nvGrpSpPr>
        <p:grpSpPr>
          <a:xfrm>
            <a:off x="1714476" y="1554748"/>
            <a:ext cx="331142" cy="92363"/>
            <a:chOff x="1754034" y="2599738"/>
            <a:chExt cx="331142" cy="92363"/>
          </a:xfrm>
        </p:grpSpPr>
        <p:cxnSp>
          <p:nvCxnSpPr>
            <p:cNvPr id="218" name="직선 화살표 연결선 217">
              <a:extLst>
                <a:ext uri="{FF2B5EF4-FFF2-40B4-BE49-F238E27FC236}">
                  <a16:creationId xmlns:a16="http://schemas.microsoft.com/office/drawing/2014/main" id="{EAC81845-AE39-43FB-8C38-2C0CB37C5ACF}"/>
                </a:ext>
              </a:extLst>
            </p:cNvPr>
            <p:cNvCxnSpPr/>
            <p:nvPr/>
          </p:nvCxnSpPr>
          <p:spPr>
            <a:xfrm>
              <a:off x="1754034" y="2599738"/>
              <a:ext cx="331142" cy="0"/>
            </a:xfrm>
            <a:prstGeom prst="straightConnector1">
              <a:avLst/>
            </a:prstGeom>
            <a:ln w="19050">
              <a:solidFill>
                <a:srgbClr val="00B0F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9" name="직선 화살표 연결선 218">
              <a:extLst>
                <a:ext uri="{FF2B5EF4-FFF2-40B4-BE49-F238E27FC236}">
                  <a16:creationId xmlns:a16="http://schemas.microsoft.com/office/drawing/2014/main" id="{A19192E1-B4B2-43A9-9733-A795731AC5C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754034" y="2692101"/>
              <a:ext cx="331142" cy="0"/>
            </a:xfrm>
            <a:prstGeom prst="straightConnector1">
              <a:avLst/>
            </a:prstGeom>
            <a:ln w="19050">
              <a:solidFill>
                <a:srgbClr val="00B0F0"/>
              </a:solidFill>
              <a:prstDash val="sys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23" name="직선 화살표 연결선 222">
            <a:extLst>
              <a:ext uri="{FF2B5EF4-FFF2-40B4-BE49-F238E27FC236}">
                <a16:creationId xmlns:a16="http://schemas.microsoft.com/office/drawing/2014/main" id="{27279BDB-4852-4096-9FEB-F637D2A74E4D}"/>
              </a:ext>
            </a:extLst>
          </p:cNvPr>
          <p:cNvCxnSpPr/>
          <p:nvPr/>
        </p:nvCxnSpPr>
        <p:spPr>
          <a:xfrm>
            <a:off x="2611968" y="1554748"/>
            <a:ext cx="331142" cy="0"/>
          </a:xfrm>
          <a:prstGeom prst="straightConnector1">
            <a:avLst/>
          </a:prstGeom>
          <a:ln w="1905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8" name="직선 화살표 연결선 227">
            <a:extLst>
              <a:ext uri="{FF2B5EF4-FFF2-40B4-BE49-F238E27FC236}">
                <a16:creationId xmlns:a16="http://schemas.microsoft.com/office/drawing/2014/main" id="{E83FDBE4-776E-4166-994C-9FDAF1D651DE}"/>
              </a:ext>
            </a:extLst>
          </p:cNvPr>
          <p:cNvCxnSpPr/>
          <p:nvPr/>
        </p:nvCxnSpPr>
        <p:spPr>
          <a:xfrm>
            <a:off x="3532654" y="1554748"/>
            <a:ext cx="331142" cy="0"/>
          </a:xfrm>
          <a:prstGeom prst="straightConnector1">
            <a:avLst/>
          </a:prstGeom>
          <a:ln w="1905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37" name="그룹 236">
            <a:extLst>
              <a:ext uri="{FF2B5EF4-FFF2-40B4-BE49-F238E27FC236}">
                <a16:creationId xmlns:a16="http://schemas.microsoft.com/office/drawing/2014/main" id="{90079A86-8622-469E-B1E0-E9EC2921A6D2}"/>
              </a:ext>
            </a:extLst>
          </p:cNvPr>
          <p:cNvGrpSpPr/>
          <p:nvPr/>
        </p:nvGrpSpPr>
        <p:grpSpPr>
          <a:xfrm>
            <a:off x="1405831" y="3620609"/>
            <a:ext cx="1593707" cy="389402"/>
            <a:chOff x="2418558" y="3150953"/>
            <a:chExt cx="1593707" cy="389402"/>
          </a:xfrm>
        </p:grpSpPr>
        <p:sp>
          <p:nvSpPr>
            <p:cNvPr id="113" name="TextBox 16">
              <a:extLst>
                <a:ext uri="{FF2B5EF4-FFF2-40B4-BE49-F238E27FC236}">
                  <a16:creationId xmlns:a16="http://schemas.microsoft.com/office/drawing/2014/main" id="{D8843C28-58B3-4197-99FC-CA5368F2B8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53277" y="3150953"/>
              <a:ext cx="1258988" cy="3894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rIns="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marL="0" marR="0" lvl="0" indent="0" defTabSz="914400" rtl="0" eaLnBrk="1" fontAlgn="base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900" b="0" i="0" u="none" strike="noStrike" kern="1200" cap="none" spc="0" normalizeH="0" baseline="0" noProof="0" dirty="0">
                  <a:ln>
                    <a:noFill/>
                  </a:ln>
                  <a:solidFill>
                    <a:srgbClr val="00B0F0"/>
                  </a:solidFill>
                  <a:effectLst/>
                  <a:uLnTx/>
                  <a:uFillTx/>
                  <a:latin typeface="+mn-ea"/>
                  <a:cs typeface="Arial" panose="020B0604020202020204" pitchFamily="34" charset="0"/>
                </a:rPr>
                <a:t>External Host Request</a:t>
              </a:r>
            </a:p>
            <a:p>
              <a:pPr marL="0" marR="0" lvl="0" indent="0" defTabSz="914400" rtl="0" eaLnBrk="1" fontAlgn="base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en-US" sz="900" dirty="0">
                  <a:solidFill>
                    <a:srgbClr val="00B0F0"/>
                  </a:solidFill>
                  <a:latin typeface="+mn-ea"/>
                  <a:cs typeface="Arial" panose="020B0604020202020204" pitchFamily="34" charset="0"/>
                </a:rPr>
                <a:t>Instance Response</a:t>
              </a:r>
            </a:p>
          </p:txBody>
        </p:sp>
        <p:cxnSp>
          <p:nvCxnSpPr>
            <p:cNvPr id="233" name="직선 화살표 연결선 232">
              <a:extLst>
                <a:ext uri="{FF2B5EF4-FFF2-40B4-BE49-F238E27FC236}">
                  <a16:creationId xmlns:a16="http://schemas.microsoft.com/office/drawing/2014/main" id="{2698C12A-5726-454B-83AB-DC5D7442047B}"/>
                </a:ext>
              </a:extLst>
            </p:cNvPr>
            <p:cNvCxnSpPr/>
            <p:nvPr/>
          </p:nvCxnSpPr>
          <p:spPr>
            <a:xfrm>
              <a:off x="2418558" y="3285178"/>
              <a:ext cx="283792" cy="0"/>
            </a:xfrm>
            <a:prstGeom prst="straightConnector1">
              <a:avLst/>
            </a:prstGeom>
            <a:ln w="19050">
              <a:solidFill>
                <a:srgbClr val="00B0F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4" name="직선 화살표 연결선 233">
              <a:extLst>
                <a:ext uri="{FF2B5EF4-FFF2-40B4-BE49-F238E27FC236}">
                  <a16:creationId xmlns:a16="http://schemas.microsoft.com/office/drawing/2014/main" id="{07DFF293-07C7-43C7-95A7-90D7B163D5C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418558" y="3431336"/>
              <a:ext cx="283792" cy="0"/>
            </a:xfrm>
            <a:prstGeom prst="straightConnector1">
              <a:avLst/>
            </a:prstGeom>
            <a:ln w="19050">
              <a:solidFill>
                <a:srgbClr val="00B0F0"/>
              </a:solidFill>
              <a:prstDash val="sys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1" name="직사각형 60">
            <a:extLst>
              <a:ext uri="{FF2B5EF4-FFF2-40B4-BE49-F238E27FC236}">
                <a16:creationId xmlns:a16="http://schemas.microsoft.com/office/drawing/2014/main" id="{D78DCBF9-4812-429D-B5E8-5613A46B4FE3}"/>
              </a:ext>
            </a:extLst>
          </p:cNvPr>
          <p:cNvSpPr/>
          <p:nvPr/>
        </p:nvSpPr>
        <p:spPr>
          <a:xfrm>
            <a:off x="3931851" y="2458846"/>
            <a:ext cx="1464736" cy="1283643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62" name="그룹 61">
            <a:extLst>
              <a:ext uri="{FF2B5EF4-FFF2-40B4-BE49-F238E27FC236}">
                <a16:creationId xmlns:a16="http://schemas.microsoft.com/office/drawing/2014/main" id="{4A0FAF57-D968-4B24-BDEB-7CEB50608541}"/>
              </a:ext>
            </a:extLst>
          </p:cNvPr>
          <p:cNvGrpSpPr/>
          <p:nvPr/>
        </p:nvGrpSpPr>
        <p:grpSpPr>
          <a:xfrm>
            <a:off x="4270048" y="2729272"/>
            <a:ext cx="788342" cy="918865"/>
            <a:chOff x="7029643" y="2412493"/>
            <a:chExt cx="788342" cy="918865"/>
          </a:xfrm>
        </p:grpSpPr>
        <p:pic>
          <p:nvPicPr>
            <p:cNvPr id="71" name="Graphic 60">
              <a:extLst>
                <a:ext uri="{FF2B5EF4-FFF2-40B4-BE49-F238E27FC236}">
                  <a16:creationId xmlns:a16="http://schemas.microsoft.com/office/drawing/2014/main" id="{844528C9-C8F5-4480-A6B1-807EA964818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/>
          </p:blipFill>
          <p:spPr bwMode="auto">
            <a:xfrm>
              <a:off x="7195214" y="2412493"/>
              <a:ext cx="45720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72" name="TextBox 16">
              <a:extLst>
                <a:ext uri="{FF2B5EF4-FFF2-40B4-BE49-F238E27FC236}">
                  <a16:creationId xmlns:a16="http://schemas.microsoft.com/office/drawing/2014/main" id="{9729C67D-C984-465E-9008-6687430B4E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029643" y="2869693"/>
              <a:ext cx="788342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rIns="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en-US" sz="1200" dirty="0">
                  <a:latin typeface="Arial" panose="020B0604020202020204" pitchFamily="34" charset="0"/>
                  <a:ea typeface="Amazon Ember" panose="020B0603020204020204" pitchFamily="34" charset="0"/>
                  <a:cs typeface="Arial" panose="020B0604020202020204" pitchFamily="34" charset="0"/>
                </a:rPr>
                <a:t>WEB</a:t>
              </a:r>
            </a:p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en-US" sz="1200" dirty="0">
                  <a:latin typeface="Arial" panose="020B0604020202020204" pitchFamily="34" charset="0"/>
                  <a:ea typeface="Amazon Ember" panose="020B0603020204020204" pitchFamily="34" charset="0"/>
                  <a:cs typeface="Arial" panose="020B0604020202020204" pitchFamily="34" charset="0"/>
                </a:rPr>
                <a:t>Instance</a:t>
              </a:r>
              <a:endParaRPr kumimoji="0" lang="en-US" altLang="en-US" sz="1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63" name="직사각형 62">
            <a:extLst>
              <a:ext uri="{FF2B5EF4-FFF2-40B4-BE49-F238E27FC236}">
                <a16:creationId xmlns:a16="http://schemas.microsoft.com/office/drawing/2014/main" id="{1FBD9C64-AC5E-4211-BE8D-EEDF512D4E08}"/>
              </a:ext>
            </a:extLst>
          </p:cNvPr>
          <p:cNvSpPr/>
          <p:nvPr/>
        </p:nvSpPr>
        <p:spPr>
          <a:xfrm>
            <a:off x="5546299" y="2458846"/>
            <a:ext cx="1464736" cy="1283643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64" name="그룹 63">
            <a:extLst>
              <a:ext uri="{FF2B5EF4-FFF2-40B4-BE49-F238E27FC236}">
                <a16:creationId xmlns:a16="http://schemas.microsoft.com/office/drawing/2014/main" id="{D30196EF-413C-4177-B699-C50AC2AD7957}"/>
              </a:ext>
            </a:extLst>
          </p:cNvPr>
          <p:cNvGrpSpPr/>
          <p:nvPr/>
        </p:nvGrpSpPr>
        <p:grpSpPr>
          <a:xfrm>
            <a:off x="5878809" y="2729272"/>
            <a:ext cx="788342" cy="918865"/>
            <a:chOff x="7029643" y="2412493"/>
            <a:chExt cx="788342" cy="918865"/>
          </a:xfrm>
        </p:grpSpPr>
        <p:pic>
          <p:nvPicPr>
            <p:cNvPr id="69" name="Graphic 60">
              <a:extLst>
                <a:ext uri="{FF2B5EF4-FFF2-40B4-BE49-F238E27FC236}">
                  <a16:creationId xmlns:a16="http://schemas.microsoft.com/office/drawing/2014/main" id="{4CD55D31-D54B-47B4-81E8-2933E73553B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/>
          </p:blipFill>
          <p:spPr bwMode="auto">
            <a:xfrm>
              <a:off x="7195214" y="2412493"/>
              <a:ext cx="45720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70" name="TextBox 16">
              <a:extLst>
                <a:ext uri="{FF2B5EF4-FFF2-40B4-BE49-F238E27FC236}">
                  <a16:creationId xmlns:a16="http://schemas.microsoft.com/office/drawing/2014/main" id="{C2352901-9CFB-4F60-8D2C-933B449EB6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029643" y="2869693"/>
              <a:ext cx="788342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rIns="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en-US" sz="1200" dirty="0">
                  <a:latin typeface="Arial" panose="020B0604020202020204" pitchFamily="34" charset="0"/>
                  <a:ea typeface="Amazon Ember" panose="020B0603020204020204" pitchFamily="34" charset="0"/>
                  <a:cs typeface="Arial" panose="020B0604020202020204" pitchFamily="34" charset="0"/>
                </a:rPr>
                <a:t>WEB</a:t>
              </a:r>
            </a:p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en-US" sz="1200" dirty="0">
                  <a:latin typeface="Arial" panose="020B0604020202020204" pitchFamily="34" charset="0"/>
                  <a:ea typeface="Amazon Ember" panose="020B0603020204020204" pitchFamily="34" charset="0"/>
                  <a:cs typeface="Arial" panose="020B0604020202020204" pitchFamily="34" charset="0"/>
                </a:rPr>
                <a:t>Instance</a:t>
              </a:r>
              <a:endParaRPr kumimoji="0" lang="en-US" altLang="en-US" sz="1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65" name="직사각형 64">
            <a:extLst>
              <a:ext uri="{FF2B5EF4-FFF2-40B4-BE49-F238E27FC236}">
                <a16:creationId xmlns:a16="http://schemas.microsoft.com/office/drawing/2014/main" id="{E587505C-4CA3-4085-8486-5319D0548F2D}"/>
              </a:ext>
            </a:extLst>
          </p:cNvPr>
          <p:cNvSpPr/>
          <p:nvPr/>
        </p:nvSpPr>
        <p:spPr>
          <a:xfrm>
            <a:off x="4080209" y="2560446"/>
            <a:ext cx="2759752" cy="1087691"/>
          </a:xfrm>
          <a:prstGeom prst="rect">
            <a:avLst/>
          </a:prstGeom>
          <a:noFill/>
          <a:ln>
            <a:solidFill>
              <a:srgbClr val="00B0F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6" name="TextBox 12">
            <a:extLst>
              <a:ext uri="{FF2B5EF4-FFF2-40B4-BE49-F238E27FC236}">
                <a16:creationId xmlns:a16="http://schemas.microsoft.com/office/drawing/2014/main" id="{4B35C79C-CF31-491F-B2E3-9F84634751A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58409" y="2565627"/>
            <a:ext cx="1403350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Security Group</a:t>
            </a:r>
          </a:p>
        </p:txBody>
      </p:sp>
      <p:sp>
        <p:nvSpPr>
          <p:cNvPr id="67" name="TextBox 12">
            <a:extLst>
              <a:ext uri="{FF2B5EF4-FFF2-40B4-BE49-F238E27FC236}">
                <a16:creationId xmlns:a16="http://schemas.microsoft.com/office/drawing/2014/main" id="{CE4526D9-2F10-4080-9FCE-E2B335E7CBB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62544" y="3733012"/>
            <a:ext cx="1403350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Private Subnet</a:t>
            </a:r>
          </a:p>
        </p:txBody>
      </p:sp>
      <p:sp>
        <p:nvSpPr>
          <p:cNvPr id="68" name="TextBox 12">
            <a:extLst>
              <a:ext uri="{FF2B5EF4-FFF2-40B4-BE49-F238E27FC236}">
                <a16:creationId xmlns:a16="http://schemas.microsoft.com/office/drawing/2014/main" id="{2EB33696-6618-4722-B72C-7C16B97DC0F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71305" y="3733012"/>
            <a:ext cx="1403350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Private Subnet</a:t>
            </a: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6F16B92D-04BF-4F4A-A2EA-E2F9BF75B4E3}"/>
              </a:ext>
            </a:extLst>
          </p:cNvPr>
          <p:cNvGrpSpPr/>
          <p:nvPr/>
        </p:nvGrpSpPr>
        <p:grpSpPr>
          <a:xfrm>
            <a:off x="4292326" y="1353692"/>
            <a:ext cx="743786" cy="712722"/>
            <a:chOff x="9550835" y="3481947"/>
            <a:chExt cx="743786" cy="712722"/>
          </a:xfrm>
        </p:grpSpPr>
        <p:pic>
          <p:nvPicPr>
            <p:cNvPr id="76" name="Graphic 36" descr="Application Load Balancer resource icon for the Elastic Load Balancing service.">
              <a:extLst>
                <a:ext uri="{FF2B5EF4-FFF2-40B4-BE49-F238E27FC236}">
                  <a16:creationId xmlns:a16="http://schemas.microsoft.com/office/drawing/2014/main" id="{B3F748A8-935C-46F1-A1D0-A2269CFFBF62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694128" y="3481947"/>
              <a:ext cx="457200" cy="457200"/>
            </a:xfrm>
            <a:prstGeom prst="rect">
              <a:avLst/>
            </a:prstGeom>
          </p:spPr>
        </p:pic>
        <p:sp>
          <p:nvSpPr>
            <p:cNvPr id="77" name="TextBox 19">
              <a:extLst>
                <a:ext uri="{FF2B5EF4-FFF2-40B4-BE49-F238E27FC236}">
                  <a16:creationId xmlns:a16="http://schemas.microsoft.com/office/drawing/2014/main" id="{F96E5EAE-C86E-4FB7-B4FF-16DD2B242D0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550835" y="3917670"/>
              <a:ext cx="743786" cy="276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Amazon Ember" panose="020B0603020204020204" pitchFamily="34" charset="0"/>
                  <a:cs typeface="Arial" panose="020B0604020202020204" pitchFamily="34" charset="0"/>
                </a:rPr>
                <a:t>ALB</a:t>
              </a:r>
            </a:p>
          </p:txBody>
        </p:sp>
      </p:grpSp>
      <p:grpSp>
        <p:nvGrpSpPr>
          <p:cNvPr id="201" name="그룹 200">
            <a:extLst>
              <a:ext uri="{FF2B5EF4-FFF2-40B4-BE49-F238E27FC236}">
                <a16:creationId xmlns:a16="http://schemas.microsoft.com/office/drawing/2014/main" id="{4048E190-B8A6-4CA3-A9CB-261972DA4322}"/>
              </a:ext>
            </a:extLst>
          </p:cNvPr>
          <p:cNvGrpSpPr/>
          <p:nvPr/>
        </p:nvGrpSpPr>
        <p:grpSpPr>
          <a:xfrm>
            <a:off x="5820385" y="1353692"/>
            <a:ext cx="743786" cy="712722"/>
            <a:chOff x="9550835" y="3481947"/>
            <a:chExt cx="743786" cy="712722"/>
          </a:xfrm>
        </p:grpSpPr>
        <p:pic>
          <p:nvPicPr>
            <p:cNvPr id="202" name="Graphic 36" descr="Application Load Balancer resource icon for the Elastic Load Balancing service.">
              <a:extLst>
                <a:ext uri="{FF2B5EF4-FFF2-40B4-BE49-F238E27FC236}">
                  <a16:creationId xmlns:a16="http://schemas.microsoft.com/office/drawing/2014/main" id="{20A7DAE3-1E58-4F4D-A35A-C7276397670B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694128" y="3481947"/>
              <a:ext cx="457200" cy="457200"/>
            </a:xfrm>
            <a:prstGeom prst="rect">
              <a:avLst/>
            </a:prstGeom>
          </p:spPr>
        </p:pic>
        <p:sp>
          <p:nvSpPr>
            <p:cNvPr id="203" name="TextBox 19">
              <a:extLst>
                <a:ext uri="{FF2B5EF4-FFF2-40B4-BE49-F238E27FC236}">
                  <a16:creationId xmlns:a16="http://schemas.microsoft.com/office/drawing/2014/main" id="{E96628F0-1EEB-4D17-A1D0-E7C45855CF0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550835" y="3917670"/>
              <a:ext cx="743786" cy="276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Amazon Ember" panose="020B0603020204020204" pitchFamily="34" charset="0"/>
                  <a:cs typeface="Arial" panose="020B0604020202020204" pitchFamily="34" charset="0"/>
                </a:rPr>
                <a:t>ALB</a:t>
              </a:r>
            </a:p>
          </p:txBody>
        </p:sp>
      </p:grpSp>
      <p:grpSp>
        <p:nvGrpSpPr>
          <p:cNvPr id="204" name="그룹 203">
            <a:extLst>
              <a:ext uri="{FF2B5EF4-FFF2-40B4-BE49-F238E27FC236}">
                <a16:creationId xmlns:a16="http://schemas.microsoft.com/office/drawing/2014/main" id="{ECA9BF95-0BC8-4A41-AD9A-174189B7FC81}"/>
              </a:ext>
            </a:extLst>
          </p:cNvPr>
          <p:cNvGrpSpPr/>
          <p:nvPr/>
        </p:nvGrpSpPr>
        <p:grpSpPr>
          <a:xfrm>
            <a:off x="2824863" y="2729272"/>
            <a:ext cx="788342" cy="918865"/>
            <a:chOff x="5473229" y="2412493"/>
            <a:chExt cx="788342" cy="918865"/>
          </a:xfrm>
        </p:grpSpPr>
        <p:pic>
          <p:nvPicPr>
            <p:cNvPr id="205" name="Graphic 81" descr="Network access control list resource icon for the Amazon VPC service.&#10;">
              <a:extLst>
                <a:ext uri="{FF2B5EF4-FFF2-40B4-BE49-F238E27FC236}">
                  <a16:creationId xmlns:a16="http://schemas.microsoft.com/office/drawing/2014/main" id="{77DF3F2F-AAA3-48B9-99A2-CC0F09BEE998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5638800" y="2412493"/>
              <a:ext cx="457200" cy="457200"/>
            </a:xfrm>
            <a:prstGeom prst="rect">
              <a:avLst/>
            </a:prstGeom>
          </p:spPr>
        </p:pic>
        <p:sp>
          <p:nvSpPr>
            <p:cNvPr id="206" name="TextBox 16">
              <a:extLst>
                <a:ext uri="{FF2B5EF4-FFF2-40B4-BE49-F238E27FC236}">
                  <a16:creationId xmlns:a16="http://schemas.microsoft.com/office/drawing/2014/main" id="{2BFD355C-F917-4E03-B95C-70686D5101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473229" y="2869693"/>
              <a:ext cx="788342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rIns="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200" b="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Arial" panose="020B0604020202020204" pitchFamily="34" charset="0"/>
                  <a:ea typeface="Amazon Ember" panose="020B0603020204020204" pitchFamily="34" charset="0"/>
                  <a:cs typeface="Arial" panose="020B0604020202020204" pitchFamily="34" charset="0"/>
                </a:rPr>
                <a:t>Private</a:t>
              </a:r>
            </a:p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200" b="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Arial" panose="020B0604020202020204" pitchFamily="34" charset="0"/>
                  <a:ea typeface="Amazon Ember" panose="020B0603020204020204" pitchFamily="34" charset="0"/>
                  <a:cs typeface="Arial" panose="020B0604020202020204" pitchFamily="34" charset="0"/>
                </a:rPr>
                <a:t>NACL</a:t>
              </a:r>
            </a:p>
          </p:txBody>
        </p:sp>
      </p:grpSp>
      <p:sp>
        <p:nvSpPr>
          <p:cNvPr id="207" name="Freeform 62" descr="Ninety degree arrow pointing down to the left.">
            <a:extLst>
              <a:ext uri="{FF2B5EF4-FFF2-40B4-BE49-F238E27FC236}">
                <a16:creationId xmlns:a16="http://schemas.microsoft.com/office/drawing/2014/main" id="{1301C6A0-5BB9-4850-9BEE-E1F3ACE9A914}"/>
              </a:ext>
            </a:extLst>
          </p:cNvPr>
          <p:cNvSpPr/>
          <p:nvPr/>
        </p:nvSpPr>
        <p:spPr>
          <a:xfrm rot="10800000">
            <a:off x="2271713" y="2096300"/>
            <a:ext cx="680500" cy="893669"/>
          </a:xfrm>
          <a:custGeom>
            <a:avLst/>
            <a:gdLst>
              <a:gd name="connsiteX0" fmla="*/ 1371600 w 1371600"/>
              <a:gd name="connsiteY0" fmla="*/ 711200 h 711200"/>
              <a:gd name="connsiteX1" fmla="*/ 1371600 w 1371600"/>
              <a:gd name="connsiteY1" fmla="*/ 0 h 711200"/>
              <a:gd name="connsiteX2" fmla="*/ 0 w 1371600"/>
              <a:gd name="connsiteY2" fmla="*/ 0 h 711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371600" h="711200">
                <a:moveTo>
                  <a:pt x="1371600" y="711200"/>
                </a:moveTo>
                <a:lnTo>
                  <a:pt x="1371600" y="0"/>
                </a:lnTo>
                <a:lnTo>
                  <a:pt x="0" y="0"/>
                </a:lnTo>
              </a:path>
            </a:pathLst>
          </a:custGeom>
          <a:noFill/>
          <a:ln w="15875">
            <a:solidFill>
              <a:srgbClr val="00B0F0"/>
            </a:solidFill>
            <a:headEnd type="none" w="med" len="sm"/>
            <a:tailEnd type="arrow" w="med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09" name="Freeform 62" descr="Ninety degree arrow pointing down to the left.">
            <a:extLst>
              <a:ext uri="{FF2B5EF4-FFF2-40B4-BE49-F238E27FC236}">
                <a16:creationId xmlns:a16="http://schemas.microsoft.com/office/drawing/2014/main" id="{C2463D84-C97A-4007-A7B5-E5A289DD9F8D}"/>
              </a:ext>
            </a:extLst>
          </p:cNvPr>
          <p:cNvSpPr/>
          <p:nvPr/>
        </p:nvSpPr>
        <p:spPr>
          <a:xfrm rot="10800000">
            <a:off x="2344002" y="2110938"/>
            <a:ext cx="608213" cy="809975"/>
          </a:xfrm>
          <a:custGeom>
            <a:avLst/>
            <a:gdLst>
              <a:gd name="connsiteX0" fmla="*/ 1371600 w 1371600"/>
              <a:gd name="connsiteY0" fmla="*/ 711200 h 711200"/>
              <a:gd name="connsiteX1" fmla="*/ 1371600 w 1371600"/>
              <a:gd name="connsiteY1" fmla="*/ 0 h 711200"/>
              <a:gd name="connsiteX2" fmla="*/ 0 w 1371600"/>
              <a:gd name="connsiteY2" fmla="*/ 0 h 711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371600" h="711200">
                <a:moveTo>
                  <a:pt x="1371600" y="711200"/>
                </a:moveTo>
                <a:lnTo>
                  <a:pt x="1371600" y="0"/>
                </a:lnTo>
                <a:lnTo>
                  <a:pt x="0" y="0"/>
                </a:lnTo>
              </a:path>
            </a:pathLst>
          </a:custGeom>
          <a:noFill/>
          <a:ln w="15875">
            <a:solidFill>
              <a:srgbClr val="00B0F0"/>
            </a:solidFill>
            <a:prstDash val="dash"/>
            <a:headEnd type="triangle" w="med" len="sm"/>
            <a:tailEnd type="none" w="med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grpSp>
        <p:nvGrpSpPr>
          <p:cNvPr id="292" name="그룹 291">
            <a:extLst>
              <a:ext uri="{FF2B5EF4-FFF2-40B4-BE49-F238E27FC236}">
                <a16:creationId xmlns:a16="http://schemas.microsoft.com/office/drawing/2014/main" id="{8AA0C26D-7893-4B44-9EC1-51BC270ACA8A}"/>
              </a:ext>
            </a:extLst>
          </p:cNvPr>
          <p:cNvGrpSpPr/>
          <p:nvPr/>
        </p:nvGrpSpPr>
        <p:grpSpPr>
          <a:xfrm flipV="1">
            <a:off x="3532654" y="2891034"/>
            <a:ext cx="331142" cy="92363"/>
            <a:chOff x="1754034" y="2599738"/>
            <a:chExt cx="331142" cy="92363"/>
          </a:xfrm>
        </p:grpSpPr>
        <p:cxnSp>
          <p:nvCxnSpPr>
            <p:cNvPr id="293" name="직선 화살표 연결선 292">
              <a:extLst>
                <a:ext uri="{FF2B5EF4-FFF2-40B4-BE49-F238E27FC236}">
                  <a16:creationId xmlns:a16="http://schemas.microsoft.com/office/drawing/2014/main" id="{64B35BFA-4158-44B5-9302-47F94FDF20E4}"/>
                </a:ext>
              </a:extLst>
            </p:cNvPr>
            <p:cNvCxnSpPr/>
            <p:nvPr/>
          </p:nvCxnSpPr>
          <p:spPr>
            <a:xfrm>
              <a:off x="1754034" y="2599738"/>
              <a:ext cx="331142" cy="0"/>
            </a:xfrm>
            <a:prstGeom prst="straightConnector1">
              <a:avLst/>
            </a:prstGeom>
            <a:ln w="19050">
              <a:solidFill>
                <a:srgbClr val="00B0F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4" name="직선 화살표 연결선 293">
              <a:extLst>
                <a:ext uri="{FF2B5EF4-FFF2-40B4-BE49-F238E27FC236}">
                  <a16:creationId xmlns:a16="http://schemas.microsoft.com/office/drawing/2014/main" id="{92C451CF-EE18-46C2-AFE7-37A8AB97A6D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754034" y="2692101"/>
              <a:ext cx="331142" cy="0"/>
            </a:xfrm>
            <a:prstGeom prst="straightConnector1">
              <a:avLst/>
            </a:prstGeom>
            <a:ln w="19050">
              <a:solidFill>
                <a:srgbClr val="00B0F0"/>
              </a:solidFill>
              <a:prstDash val="sys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3" name="그룹 82">
            <a:extLst>
              <a:ext uri="{FF2B5EF4-FFF2-40B4-BE49-F238E27FC236}">
                <a16:creationId xmlns:a16="http://schemas.microsoft.com/office/drawing/2014/main" id="{6658EFC0-635B-42D5-B7F1-6504B03D097B}"/>
              </a:ext>
            </a:extLst>
          </p:cNvPr>
          <p:cNvGrpSpPr/>
          <p:nvPr/>
        </p:nvGrpSpPr>
        <p:grpSpPr>
          <a:xfrm>
            <a:off x="2036841" y="1376739"/>
            <a:ext cx="591948" cy="704214"/>
            <a:chOff x="6229549" y="3743110"/>
            <a:chExt cx="591948" cy="704214"/>
          </a:xfrm>
        </p:grpSpPr>
        <p:pic>
          <p:nvPicPr>
            <p:cNvPr id="84" name="Graphic 71" descr="Router resource icon for the Amazon VPC service.&#10;">
              <a:extLst>
                <a:ext uri="{FF2B5EF4-FFF2-40B4-BE49-F238E27FC236}">
                  <a16:creationId xmlns:a16="http://schemas.microsoft.com/office/drawing/2014/main" id="{64311810-784B-4B10-A295-EF60C8C6352C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6293652" y="3743110"/>
              <a:ext cx="457200" cy="457200"/>
            </a:xfrm>
            <a:prstGeom prst="rect">
              <a:avLst/>
            </a:prstGeom>
          </p:spPr>
        </p:pic>
        <p:sp>
          <p:nvSpPr>
            <p:cNvPr id="85" name="TextBox 27">
              <a:extLst>
                <a:ext uri="{FF2B5EF4-FFF2-40B4-BE49-F238E27FC236}">
                  <a16:creationId xmlns:a16="http://schemas.microsoft.com/office/drawing/2014/main" id="{458FD41C-2FBF-4C24-AC11-4459A10EFF6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229549" y="4201103"/>
              <a:ext cx="591948" cy="2462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Amazon Ember" panose="020B0603020204020204" pitchFamily="34" charset="0"/>
                  <a:cs typeface="Arial" panose="020B0604020202020204" pitchFamily="34" charset="0"/>
                </a:rPr>
                <a:t>Router</a:t>
              </a:r>
            </a:p>
          </p:txBody>
        </p:sp>
      </p:grpSp>
      <p:sp>
        <p:nvSpPr>
          <p:cNvPr id="23" name="자유형 22">
            <a:extLst>
              <a:ext uri="{FF2B5EF4-FFF2-40B4-BE49-F238E27FC236}">
                <a16:creationId xmlns:a16="http://schemas.microsoft.com/office/drawing/2014/main" id="{9D18CA20-9AAD-77AF-5E29-76767F3ED1CB}"/>
              </a:ext>
            </a:extLst>
          </p:cNvPr>
          <p:cNvSpPr/>
          <p:nvPr/>
        </p:nvSpPr>
        <p:spPr>
          <a:xfrm>
            <a:off x="2633133" y="1646951"/>
            <a:ext cx="1244600" cy="665613"/>
          </a:xfrm>
          <a:custGeom>
            <a:avLst/>
            <a:gdLst>
              <a:gd name="csX0" fmla="*/ 1244600 w 1244600"/>
              <a:gd name="csY0" fmla="*/ 8466 h 558800"/>
              <a:gd name="csX1" fmla="*/ 922867 w 1244600"/>
              <a:gd name="csY1" fmla="*/ 8466 h 558800"/>
              <a:gd name="csX2" fmla="*/ 922867 w 1244600"/>
              <a:gd name="csY2" fmla="*/ 558800 h 558800"/>
              <a:gd name="csX3" fmla="*/ 330200 w 1244600"/>
              <a:gd name="csY3" fmla="*/ 558800 h 558800"/>
              <a:gd name="csX4" fmla="*/ 330200 w 1244600"/>
              <a:gd name="csY4" fmla="*/ 0 h 558800"/>
              <a:gd name="csX5" fmla="*/ 0 w 1244600"/>
              <a:gd name="csY5" fmla="*/ 0 h 5588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</a:cxnLst>
            <a:rect l="l" t="t" r="r" b="b"/>
            <a:pathLst>
              <a:path w="1244600" h="558800">
                <a:moveTo>
                  <a:pt x="1244600" y="8466"/>
                </a:moveTo>
                <a:lnTo>
                  <a:pt x="922867" y="8466"/>
                </a:lnTo>
                <a:lnTo>
                  <a:pt x="922867" y="558800"/>
                </a:lnTo>
                <a:lnTo>
                  <a:pt x="330200" y="558800"/>
                </a:lnTo>
                <a:lnTo>
                  <a:pt x="330200" y="0"/>
                </a:lnTo>
                <a:lnTo>
                  <a:pt x="0" y="0"/>
                </a:lnTo>
              </a:path>
            </a:pathLst>
          </a:custGeom>
          <a:noFill/>
          <a:ln w="15875">
            <a:solidFill>
              <a:srgbClr val="00B0F0"/>
            </a:solidFill>
            <a:prstDash val="dash"/>
            <a:headEnd type="none"/>
            <a:tailEnd type="triangle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28" name="자유형 27">
            <a:extLst>
              <a:ext uri="{FF2B5EF4-FFF2-40B4-BE49-F238E27FC236}">
                <a16:creationId xmlns:a16="http://schemas.microsoft.com/office/drawing/2014/main" id="{994A30F0-D482-12C5-05D0-163B2A2730DF}"/>
              </a:ext>
            </a:extLst>
          </p:cNvPr>
          <p:cNvSpPr/>
          <p:nvPr/>
        </p:nvSpPr>
        <p:spPr>
          <a:xfrm flipH="1">
            <a:off x="2548322" y="1740186"/>
            <a:ext cx="1414222" cy="665613"/>
          </a:xfrm>
          <a:custGeom>
            <a:avLst/>
            <a:gdLst>
              <a:gd name="csX0" fmla="*/ 1244600 w 1244600"/>
              <a:gd name="csY0" fmla="*/ 8466 h 558800"/>
              <a:gd name="csX1" fmla="*/ 922867 w 1244600"/>
              <a:gd name="csY1" fmla="*/ 8466 h 558800"/>
              <a:gd name="csX2" fmla="*/ 922867 w 1244600"/>
              <a:gd name="csY2" fmla="*/ 558800 h 558800"/>
              <a:gd name="csX3" fmla="*/ 330200 w 1244600"/>
              <a:gd name="csY3" fmla="*/ 558800 h 558800"/>
              <a:gd name="csX4" fmla="*/ 330200 w 1244600"/>
              <a:gd name="csY4" fmla="*/ 0 h 558800"/>
              <a:gd name="csX5" fmla="*/ 0 w 1244600"/>
              <a:gd name="csY5" fmla="*/ 0 h 5588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</a:cxnLst>
            <a:rect l="l" t="t" r="r" b="b"/>
            <a:pathLst>
              <a:path w="1244600" h="558800">
                <a:moveTo>
                  <a:pt x="1244600" y="8466"/>
                </a:moveTo>
                <a:lnTo>
                  <a:pt x="922867" y="8466"/>
                </a:lnTo>
                <a:lnTo>
                  <a:pt x="922867" y="558800"/>
                </a:lnTo>
                <a:lnTo>
                  <a:pt x="330200" y="558800"/>
                </a:lnTo>
                <a:lnTo>
                  <a:pt x="330200" y="0"/>
                </a:lnTo>
                <a:lnTo>
                  <a:pt x="0" y="0"/>
                </a:lnTo>
              </a:path>
            </a:pathLst>
          </a:custGeom>
          <a:noFill/>
          <a:ln w="15875">
            <a:solidFill>
              <a:srgbClr val="00B0F0"/>
            </a:solidFill>
            <a:prstDash val="dash"/>
            <a:headEnd type="none"/>
            <a:tailEnd type="triangle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87E2046-34A1-369F-FB26-9C939147CD5C}"/>
              </a:ext>
            </a:extLst>
          </p:cNvPr>
          <p:cNvSpPr txBox="1"/>
          <p:nvPr/>
        </p:nvSpPr>
        <p:spPr>
          <a:xfrm>
            <a:off x="1036513" y="4272897"/>
            <a:ext cx="1046612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dirty="0"/>
              <a:t>User </a:t>
            </a:r>
            <a:r>
              <a:rPr kumimoji="1" lang="en-US" altLang="ko-KR" dirty="0">
                <a:sym typeface="Wingdings" pitchFamily="2" charset="2"/>
              </a:rPr>
              <a:t> IGW  Router  Public NACL  ALB  Private NACL  Private Web Instance  Private NACL  ALB  Public NACL  Router  IGW  User</a:t>
            </a:r>
          </a:p>
        </p:txBody>
      </p:sp>
    </p:spTree>
    <p:extLst>
      <p:ext uri="{BB962C8B-B14F-4D97-AF65-F5344CB8AC3E}">
        <p14:creationId xmlns:p14="http://schemas.microsoft.com/office/powerpoint/2010/main" val="29914515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60" descr="Region group">
            <a:extLst>
              <a:ext uri="{FF2B5EF4-FFF2-40B4-BE49-F238E27FC236}">
                <a16:creationId xmlns:a16="http://schemas.microsoft.com/office/drawing/2014/main" id="{9699BF98-F783-4F31-0EC5-80E219CA2C15}"/>
              </a:ext>
            </a:extLst>
          </p:cNvPr>
          <p:cNvSpPr/>
          <p:nvPr/>
        </p:nvSpPr>
        <p:spPr>
          <a:xfrm>
            <a:off x="403292" y="1053894"/>
            <a:ext cx="6060958" cy="2922644"/>
          </a:xfrm>
          <a:prstGeom prst="rect">
            <a:avLst/>
          </a:prstGeom>
          <a:solidFill>
            <a:schemeClr val="bg1"/>
          </a:solidFill>
          <a:ln w="15875">
            <a:solidFill>
              <a:srgbClr val="00A4A6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2920" tIns="9144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Region</a:t>
            </a:r>
            <a:endParaRPr lang="en-US" dirty="0"/>
          </a:p>
        </p:txBody>
      </p:sp>
      <p:pic>
        <p:nvPicPr>
          <p:cNvPr id="22" name="Graphic 61" descr="Region group icon.">
            <a:extLst>
              <a:ext uri="{FF2B5EF4-FFF2-40B4-BE49-F238E27FC236}">
                <a16:creationId xmlns:a16="http://schemas.microsoft.com/office/drawing/2014/main" id="{09677ADA-BD23-8363-B911-302B59BC054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403292" y="1053894"/>
            <a:ext cx="381000" cy="381000"/>
          </a:xfrm>
          <a:prstGeom prst="rect">
            <a:avLst/>
          </a:prstGeom>
        </p:spPr>
      </p:pic>
      <p:grpSp>
        <p:nvGrpSpPr>
          <p:cNvPr id="4" name="그룹 3">
            <a:extLst>
              <a:ext uri="{FF2B5EF4-FFF2-40B4-BE49-F238E27FC236}">
                <a16:creationId xmlns:a16="http://schemas.microsoft.com/office/drawing/2014/main" id="{E3A998F9-30A8-92CD-AD20-1D6A04F60504}"/>
              </a:ext>
            </a:extLst>
          </p:cNvPr>
          <p:cNvGrpSpPr/>
          <p:nvPr/>
        </p:nvGrpSpPr>
        <p:grpSpPr>
          <a:xfrm>
            <a:off x="784292" y="1540779"/>
            <a:ext cx="1236856" cy="825580"/>
            <a:chOff x="2725642" y="2435145"/>
            <a:chExt cx="1236856" cy="825580"/>
          </a:xfrm>
        </p:grpSpPr>
        <p:pic>
          <p:nvPicPr>
            <p:cNvPr id="5" name="Graphic 6" descr="Endpoint resource icon for the Amazon API Gateway service.">
              <a:extLst>
                <a:ext uri="{FF2B5EF4-FFF2-40B4-BE49-F238E27FC236}">
                  <a16:creationId xmlns:a16="http://schemas.microsoft.com/office/drawing/2014/main" id="{A28364C5-BC0E-B99B-38F6-E5A7B5BC8D5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/>
          </p:blipFill>
          <p:spPr bwMode="auto">
            <a:xfrm>
              <a:off x="3123554" y="2803525"/>
              <a:ext cx="45720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6" name="TextBox 16">
              <a:extLst>
                <a:ext uri="{FF2B5EF4-FFF2-40B4-BE49-F238E27FC236}">
                  <a16:creationId xmlns:a16="http://schemas.microsoft.com/office/drawing/2014/main" id="{ED03B112-A2E9-2DD1-4EC5-7AA9D494B92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25642" y="2435145"/>
              <a:ext cx="1236856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en-US" sz="1000" dirty="0">
                  <a:solidFill>
                    <a:srgbClr val="000000"/>
                  </a:solidFill>
                  <a:latin typeface="Arial" panose="020B0604020202020204" pitchFamily="34" charset="0"/>
                  <a:ea typeface="Amazon Ember" panose="020B0603020204020204" pitchFamily="34" charset="0"/>
                  <a:cs typeface="Arial" panose="020B0604020202020204" pitchFamily="34" charset="0"/>
                </a:rPr>
                <a:t>Gateway </a:t>
              </a:r>
              <a:r>
                <a:rPr kumimoji="0" lang="en-US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Amazon Ember" panose="020B0603020204020204" pitchFamily="34" charset="0"/>
                  <a:cs typeface="Arial" panose="020B0604020202020204" pitchFamily="34" charset="0"/>
                </a:rPr>
                <a:t>Endpoint</a:t>
              </a:r>
              <a:br>
                <a:rPr kumimoji="0" lang="en-US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Amazon Ember" panose="020B0603020204020204" pitchFamily="34" charset="0"/>
                  <a:cs typeface="Arial" panose="020B0604020202020204" pitchFamily="34" charset="0"/>
                </a:rPr>
              </a:br>
              <a:r>
                <a:rPr kumimoji="0" lang="en-US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Amazon Ember" panose="020B0603020204020204" pitchFamily="34" charset="0"/>
                  <a:cs typeface="Arial" panose="020B0604020202020204" pitchFamily="34" charset="0"/>
                </a:rPr>
                <a:t>(GEP)</a:t>
              </a:r>
            </a:p>
          </p:txBody>
        </p:sp>
      </p:grp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3B29A9C5-075C-56E1-5AE2-4A2330F663D0}"/>
              </a:ext>
            </a:extLst>
          </p:cNvPr>
          <p:cNvGrpSpPr/>
          <p:nvPr/>
        </p:nvGrpSpPr>
        <p:grpSpPr>
          <a:xfrm>
            <a:off x="403290" y="3155187"/>
            <a:ext cx="887656" cy="711358"/>
            <a:chOff x="2506898" y="2816367"/>
            <a:chExt cx="887656" cy="711358"/>
          </a:xfrm>
        </p:grpSpPr>
        <p:pic>
          <p:nvPicPr>
            <p:cNvPr id="14" name="Graphic 68" descr="S3 Standard storage class icon for the Amazon S3 service.">
              <a:extLst>
                <a:ext uri="{FF2B5EF4-FFF2-40B4-BE49-F238E27FC236}">
                  <a16:creationId xmlns:a16="http://schemas.microsoft.com/office/drawing/2014/main" id="{3EE1D07D-AFCB-29B1-19CD-D6060F2D4973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2726800" y="2816367"/>
              <a:ext cx="457200" cy="457200"/>
            </a:xfrm>
            <a:prstGeom prst="rect">
              <a:avLst/>
            </a:prstGeom>
          </p:spPr>
        </p:pic>
        <p:sp>
          <p:nvSpPr>
            <p:cNvPr id="15" name="TextBox 62">
              <a:extLst>
                <a:ext uri="{FF2B5EF4-FFF2-40B4-BE49-F238E27FC236}">
                  <a16:creationId xmlns:a16="http://schemas.microsoft.com/office/drawing/2014/main" id="{BE156E08-EF7C-339A-4731-65B6EF2B2FC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06898" y="3281504"/>
              <a:ext cx="887656" cy="2462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Amazon Ember" panose="020B0603020204020204" pitchFamily="34" charset="0"/>
                  <a:cs typeface="Arial" panose="020B0604020202020204" pitchFamily="34" charset="0"/>
                </a:rPr>
                <a:t>S3 Standard</a:t>
              </a:r>
            </a:p>
          </p:txBody>
        </p:sp>
      </p:grp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2895AEA1-8746-2280-854B-57E3E12F8E5D}"/>
              </a:ext>
            </a:extLst>
          </p:cNvPr>
          <p:cNvSpPr/>
          <p:nvPr/>
        </p:nvSpPr>
        <p:spPr>
          <a:xfrm>
            <a:off x="4525008" y="1415318"/>
            <a:ext cx="1728803" cy="1258513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en-US" sz="1000" dirty="0">
                <a:solidFill>
                  <a:srgbClr val="000000"/>
                </a:solidFill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Subnet</a:t>
            </a:r>
            <a:endParaRPr lang="ko-KR" altLang="en-US" sz="1000" dirty="0"/>
          </a:p>
        </p:txBody>
      </p:sp>
      <p:grpSp>
        <p:nvGrpSpPr>
          <p:cNvPr id="19" name="그룹 18">
            <a:extLst>
              <a:ext uri="{FF2B5EF4-FFF2-40B4-BE49-F238E27FC236}">
                <a16:creationId xmlns:a16="http://schemas.microsoft.com/office/drawing/2014/main" id="{091A9017-C2DE-1BF4-6688-1829B4987EE6}"/>
              </a:ext>
            </a:extLst>
          </p:cNvPr>
          <p:cNvGrpSpPr/>
          <p:nvPr/>
        </p:nvGrpSpPr>
        <p:grpSpPr>
          <a:xfrm>
            <a:off x="1640148" y="1191507"/>
            <a:ext cx="4737792" cy="2619093"/>
            <a:chOff x="1980943" y="1605342"/>
            <a:chExt cx="4737792" cy="2619093"/>
          </a:xfrm>
        </p:grpSpPr>
        <p:sp>
          <p:nvSpPr>
            <p:cNvPr id="17" name="Rectangle 39">
              <a:extLst>
                <a:ext uri="{FF2B5EF4-FFF2-40B4-BE49-F238E27FC236}">
                  <a16:creationId xmlns:a16="http://schemas.microsoft.com/office/drawing/2014/main" id="{3528268C-0590-16E1-64AF-AE3493FEBC05}"/>
                </a:ext>
              </a:extLst>
            </p:cNvPr>
            <p:cNvSpPr/>
            <p:nvPr/>
          </p:nvSpPr>
          <p:spPr>
            <a:xfrm>
              <a:off x="1980943" y="1605342"/>
              <a:ext cx="4737792" cy="2619093"/>
            </a:xfrm>
            <a:prstGeom prst="rect">
              <a:avLst/>
            </a:prstGeom>
            <a:noFill/>
            <a:ln w="15875">
              <a:solidFill>
                <a:srgbClr val="8C4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502920" tIns="9144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1200" cap="none" spc="0" normalizeH="0" baseline="0" noProof="0" dirty="0">
                  <a:ln w="0"/>
                  <a:solidFill>
                    <a:schemeClr val="tx1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VPC</a:t>
              </a:r>
            </a:p>
          </p:txBody>
        </p:sp>
        <p:pic>
          <p:nvPicPr>
            <p:cNvPr id="18" name="Graphic 40" descr="VPC group icon. ">
              <a:extLst>
                <a:ext uri="{FF2B5EF4-FFF2-40B4-BE49-F238E27FC236}">
                  <a16:creationId xmlns:a16="http://schemas.microsoft.com/office/drawing/2014/main" id="{8CBDABDD-DFBB-6A48-C8A5-776435D5E268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rcRect/>
            <a:stretch/>
          </p:blipFill>
          <p:spPr>
            <a:xfrm>
              <a:off x="1980943" y="1605343"/>
              <a:ext cx="381000" cy="381000"/>
            </a:xfrm>
            <a:prstGeom prst="rect">
              <a:avLst/>
            </a:prstGeom>
          </p:spPr>
        </p:pic>
      </p:grp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F732EA2E-3FFD-8078-41F9-563A08788CFF}"/>
              </a:ext>
            </a:extLst>
          </p:cNvPr>
          <p:cNvSpPr/>
          <p:nvPr/>
        </p:nvSpPr>
        <p:spPr>
          <a:xfrm>
            <a:off x="4536716" y="2810860"/>
            <a:ext cx="1728803" cy="89028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1"/>
          <a:lstStyle/>
          <a:p>
            <a:pPr algn="ctr"/>
            <a:r>
              <a:rPr lang="en-US" altLang="en-US" sz="1000" dirty="0">
                <a:solidFill>
                  <a:srgbClr val="000000"/>
                </a:solidFill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Subnet</a:t>
            </a:r>
            <a:endParaRPr lang="ko-KR" altLang="en-US" sz="1000" dirty="0"/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7F31EC29-7037-F205-BBFC-C5E7BB2DB778}"/>
              </a:ext>
            </a:extLst>
          </p:cNvPr>
          <p:cNvSpPr/>
          <p:nvPr/>
        </p:nvSpPr>
        <p:spPr>
          <a:xfrm>
            <a:off x="4693291" y="1671832"/>
            <a:ext cx="1446119" cy="1803666"/>
          </a:xfrm>
          <a:prstGeom prst="rect">
            <a:avLst/>
          </a:prstGeom>
          <a:noFill/>
          <a:ln>
            <a:solidFill>
              <a:schemeClr val="accent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lvl="0" algn="ctr" fontAlgn="base" latinLnBrk="0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en-US" sz="1000" dirty="0">
                <a:solidFill>
                  <a:srgbClr val="000000"/>
                </a:solidFill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Security Group</a:t>
            </a:r>
          </a:p>
        </p:txBody>
      </p:sp>
      <p:grpSp>
        <p:nvGrpSpPr>
          <p:cNvPr id="25" name="그룹 24">
            <a:extLst>
              <a:ext uri="{FF2B5EF4-FFF2-40B4-BE49-F238E27FC236}">
                <a16:creationId xmlns:a16="http://schemas.microsoft.com/office/drawing/2014/main" id="{87E26DA2-A405-10C7-E236-5441F2B30B8F}"/>
              </a:ext>
            </a:extLst>
          </p:cNvPr>
          <p:cNvGrpSpPr/>
          <p:nvPr/>
        </p:nvGrpSpPr>
        <p:grpSpPr>
          <a:xfrm>
            <a:off x="5078885" y="1909159"/>
            <a:ext cx="788342" cy="703421"/>
            <a:chOff x="7029643" y="2412493"/>
            <a:chExt cx="788342" cy="703421"/>
          </a:xfrm>
        </p:grpSpPr>
        <p:pic>
          <p:nvPicPr>
            <p:cNvPr id="26" name="Graphic 60">
              <a:extLst>
                <a:ext uri="{FF2B5EF4-FFF2-40B4-BE49-F238E27FC236}">
                  <a16:creationId xmlns:a16="http://schemas.microsoft.com/office/drawing/2014/main" id="{9903B932-A67F-60B4-AE21-A534588BF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/>
            <a:stretch/>
          </p:blipFill>
          <p:spPr bwMode="auto">
            <a:xfrm>
              <a:off x="7195214" y="2412493"/>
              <a:ext cx="45720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7" name="TextBox 16">
              <a:extLst>
                <a:ext uri="{FF2B5EF4-FFF2-40B4-BE49-F238E27FC236}">
                  <a16:creationId xmlns:a16="http://schemas.microsoft.com/office/drawing/2014/main" id="{3B3733A7-35BA-6083-C4AB-72FB6B36CAA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029643" y="2869693"/>
              <a:ext cx="788342" cy="2462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rIns="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en-US" sz="1000" dirty="0">
                  <a:latin typeface="Arial" panose="020B0604020202020204" pitchFamily="34" charset="0"/>
                  <a:ea typeface="Amazon Ember" panose="020B0603020204020204" pitchFamily="34" charset="0"/>
                  <a:cs typeface="Arial" panose="020B0604020202020204" pitchFamily="34" charset="0"/>
                </a:rPr>
                <a:t>Instance</a:t>
              </a:r>
              <a:endParaRPr kumimoji="0" lang="en-US" altLang="en-US" sz="1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3B9E354B-7DB4-35C5-B1E0-D7AFCBA8654D}"/>
              </a:ext>
            </a:extLst>
          </p:cNvPr>
          <p:cNvGrpSpPr/>
          <p:nvPr/>
        </p:nvGrpSpPr>
        <p:grpSpPr>
          <a:xfrm>
            <a:off x="3206753" y="1909159"/>
            <a:ext cx="788342" cy="703421"/>
            <a:chOff x="4914750" y="2517124"/>
            <a:chExt cx="788342" cy="703421"/>
          </a:xfrm>
        </p:grpSpPr>
        <p:pic>
          <p:nvPicPr>
            <p:cNvPr id="7" name="Graphic 81" descr="Network access control list resource icon for the Amazon VPC service.&#10;">
              <a:extLst>
                <a:ext uri="{FF2B5EF4-FFF2-40B4-BE49-F238E27FC236}">
                  <a16:creationId xmlns:a16="http://schemas.microsoft.com/office/drawing/2014/main" id="{4DCC5504-10D2-9EFF-DD01-5709B8D9494D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5080321" y="2517124"/>
              <a:ext cx="457200" cy="457200"/>
            </a:xfrm>
            <a:prstGeom prst="rect">
              <a:avLst/>
            </a:prstGeom>
          </p:spPr>
        </p:pic>
        <p:sp>
          <p:nvSpPr>
            <p:cNvPr id="8" name="TextBox 16">
              <a:extLst>
                <a:ext uri="{FF2B5EF4-FFF2-40B4-BE49-F238E27FC236}">
                  <a16:creationId xmlns:a16="http://schemas.microsoft.com/office/drawing/2014/main" id="{2449EF42-6893-FFB5-F9E4-9EF20693703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914750" y="2974324"/>
              <a:ext cx="788342" cy="2462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rIns="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000" b="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Arial" panose="020B0604020202020204" pitchFamily="34" charset="0"/>
                  <a:ea typeface="Amazon Ember" panose="020B0603020204020204" pitchFamily="34" charset="0"/>
                  <a:cs typeface="Arial" panose="020B0604020202020204" pitchFamily="34" charset="0"/>
                </a:rPr>
                <a:t>NACL</a:t>
              </a:r>
            </a:p>
          </p:txBody>
        </p:sp>
      </p:grpSp>
      <p:sp>
        <p:nvSpPr>
          <p:cNvPr id="28" name="Freeform 61" descr="Ninety degree arrow pointing down to the right.">
            <a:extLst>
              <a:ext uri="{FF2B5EF4-FFF2-40B4-BE49-F238E27FC236}">
                <a16:creationId xmlns:a16="http://schemas.microsoft.com/office/drawing/2014/main" id="{E850ACA9-751B-D6B9-FE86-ADE115A5AA33}"/>
              </a:ext>
            </a:extLst>
          </p:cNvPr>
          <p:cNvSpPr/>
          <p:nvPr/>
        </p:nvSpPr>
        <p:spPr>
          <a:xfrm rot="5400000" flipH="1" flipV="1">
            <a:off x="430811" y="2445201"/>
            <a:ext cx="1063465" cy="356503"/>
          </a:xfrm>
          <a:custGeom>
            <a:avLst/>
            <a:gdLst>
              <a:gd name="connsiteX0" fmla="*/ 1371600 w 1371600"/>
              <a:gd name="connsiteY0" fmla="*/ 711200 h 711200"/>
              <a:gd name="connsiteX1" fmla="*/ 1371600 w 1371600"/>
              <a:gd name="connsiteY1" fmla="*/ 0 h 711200"/>
              <a:gd name="connsiteX2" fmla="*/ 0 w 1371600"/>
              <a:gd name="connsiteY2" fmla="*/ 0 h 711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371600" h="711200">
                <a:moveTo>
                  <a:pt x="1371600" y="711200"/>
                </a:moveTo>
                <a:lnTo>
                  <a:pt x="1371600" y="0"/>
                </a:lnTo>
                <a:lnTo>
                  <a:pt x="0" y="0"/>
                </a:lnTo>
              </a:path>
            </a:pathLst>
          </a:custGeom>
          <a:noFill/>
          <a:ln w="15875">
            <a:solidFill>
              <a:srgbClr val="00B0F0"/>
            </a:solidFill>
            <a:headEnd type="none" w="med" len="sm"/>
            <a:tailEnd type="arrow" w="med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z</a:t>
            </a:r>
          </a:p>
        </p:txBody>
      </p:sp>
      <p:sp>
        <p:nvSpPr>
          <p:cNvPr id="29" name="Freeform 59" descr="Ninety degree arrow pointing up to the right.">
            <a:extLst>
              <a:ext uri="{FF2B5EF4-FFF2-40B4-BE49-F238E27FC236}">
                <a16:creationId xmlns:a16="http://schemas.microsoft.com/office/drawing/2014/main" id="{7B102A93-D186-1848-1969-E263D015C5AC}"/>
              </a:ext>
            </a:extLst>
          </p:cNvPr>
          <p:cNvSpPr/>
          <p:nvPr/>
        </p:nvSpPr>
        <p:spPr>
          <a:xfrm flipH="1">
            <a:off x="890076" y="2191578"/>
            <a:ext cx="253271" cy="963607"/>
          </a:xfrm>
          <a:custGeom>
            <a:avLst/>
            <a:gdLst>
              <a:gd name="connsiteX0" fmla="*/ 1371600 w 1371600"/>
              <a:gd name="connsiteY0" fmla="*/ 711200 h 711200"/>
              <a:gd name="connsiteX1" fmla="*/ 1371600 w 1371600"/>
              <a:gd name="connsiteY1" fmla="*/ 0 h 711200"/>
              <a:gd name="connsiteX2" fmla="*/ 0 w 1371600"/>
              <a:gd name="connsiteY2" fmla="*/ 0 h 711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371600" h="711200">
                <a:moveTo>
                  <a:pt x="1371600" y="711200"/>
                </a:moveTo>
                <a:lnTo>
                  <a:pt x="1371600" y="0"/>
                </a:lnTo>
                <a:lnTo>
                  <a:pt x="0" y="0"/>
                </a:lnTo>
              </a:path>
            </a:pathLst>
          </a:custGeom>
          <a:noFill/>
          <a:ln w="15875">
            <a:solidFill>
              <a:srgbClr val="00B0F0"/>
            </a:solidFill>
            <a:prstDash val="dash"/>
            <a:headEnd type="none" w="med" len="sm"/>
            <a:tailEnd type="arrow" w="med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cxnSp>
        <p:nvCxnSpPr>
          <p:cNvPr id="30" name="Straight Arrow Connector 55" descr="Left pointing horizontal arrow. ">
            <a:extLst>
              <a:ext uri="{FF2B5EF4-FFF2-40B4-BE49-F238E27FC236}">
                <a16:creationId xmlns:a16="http://schemas.microsoft.com/office/drawing/2014/main" id="{A9ABD889-5BDD-0FE1-D4E2-83FA793E8C72}"/>
              </a:ext>
            </a:extLst>
          </p:cNvPr>
          <p:cNvCxnSpPr>
            <a:cxnSpLocks/>
          </p:cNvCxnSpPr>
          <p:nvPr/>
        </p:nvCxnSpPr>
        <p:spPr>
          <a:xfrm>
            <a:off x="1693275" y="2091720"/>
            <a:ext cx="542750" cy="0"/>
          </a:xfrm>
          <a:prstGeom prst="straightConnector1">
            <a:avLst/>
          </a:prstGeom>
          <a:ln w="15875">
            <a:solidFill>
              <a:srgbClr val="00B0F0"/>
            </a:solidFill>
            <a:headEnd type="arrow" w="med" len="sm"/>
            <a:tailEnd type="non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55" descr="Left pointing horizontal arrow. ">
            <a:extLst>
              <a:ext uri="{FF2B5EF4-FFF2-40B4-BE49-F238E27FC236}">
                <a16:creationId xmlns:a16="http://schemas.microsoft.com/office/drawing/2014/main" id="{4B37B2AC-9FBC-DA56-2FE2-6F2F5C2E1D47}"/>
              </a:ext>
            </a:extLst>
          </p:cNvPr>
          <p:cNvCxnSpPr>
            <a:cxnSpLocks/>
          </p:cNvCxnSpPr>
          <p:nvPr/>
        </p:nvCxnSpPr>
        <p:spPr>
          <a:xfrm flipH="1">
            <a:off x="1693275" y="2191578"/>
            <a:ext cx="542750" cy="0"/>
          </a:xfrm>
          <a:prstGeom prst="straightConnector1">
            <a:avLst/>
          </a:prstGeom>
          <a:ln w="15875">
            <a:solidFill>
              <a:srgbClr val="00B0F0"/>
            </a:solidFill>
            <a:prstDash val="dash"/>
            <a:headEnd type="arrow" w="med" len="sm"/>
            <a:tailEnd type="non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24C85F8D-26EA-4FD4-93F1-02A19A44D8E7}"/>
              </a:ext>
            </a:extLst>
          </p:cNvPr>
          <p:cNvGrpSpPr/>
          <p:nvPr/>
        </p:nvGrpSpPr>
        <p:grpSpPr>
          <a:xfrm>
            <a:off x="2788867" y="2091720"/>
            <a:ext cx="542750" cy="99858"/>
            <a:chOff x="2820617" y="2091720"/>
            <a:chExt cx="542750" cy="99858"/>
          </a:xfrm>
        </p:grpSpPr>
        <p:cxnSp>
          <p:nvCxnSpPr>
            <p:cNvPr id="33" name="Straight Arrow Connector 55" descr="Left pointing horizontal arrow. ">
              <a:extLst>
                <a:ext uri="{FF2B5EF4-FFF2-40B4-BE49-F238E27FC236}">
                  <a16:creationId xmlns:a16="http://schemas.microsoft.com/office/drawing/2014/main" id="{F33F9D5D-B31A-D3A2-6A5E-FEB669D3E67D}"/>
                </a:ext>
              </a:extLst>
            </p:cNvPr>
            <p:cNvCxnSpPr>
              <a:cxnSpLocks/>
            </p:cNvCxnSpPr>
            <p:nvPr/>
          </p:nvCxnSpPr>
          <p:spPr>
            <a:xfrm>
              <a:off x="2820617" y="2091720"/>
              <a:ext cx="542750" cy="0"/>
            </a:xfrm>
            <a:prstGeom prst="straightConnector1">
              <a:avLst/>
            </a:prstGeom>
            <a:ln w="15875">
              <a:solidFill>
                <a:srgbClr val="00B0F0"/>
              </a:solidFill>
              <a:headEnd type="arrow" w="med" len="sm"/>
              <a:tailEnd type="none" w="med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Arrow Connector 55" descr="Left pointing horizontal arrow. ">
              <a:extLst>
                <a:ext uri="{FF2B5EF4-FFF2-40B4-BE49-F238E27FC236}">
                  <a16:creationId xmlns:a16="http://schemas.microsoft.com/office/drawing/2014/main" id="{9BFCCD51-F4C7-50E1-EDCF-C812E73C315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820617" y="2191578"/>
              <a:ext cx="542750" cy="0"/>
            </a:xfrm>
            <a:prstGeom prst="straightConnector1">
              <a:avLst/>
            </a:prstGeom>
            <a:ln w="15875">
              <a:solidFill>
                <a:srgbClr val="00B0F0"/>
              </a:solidFill>
              <a:prstDash val="dash"/>
              <a:headEnd type="arrow" w="med" len="sm"/>
              <a:tailEnd type="none" w="med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8" name="TextBox 16">
            <a:extLst>
              <a:ext uri="{FF2B5EF4-FFF2-40B4-BE49-F238E27FC236}">
                <a16:creationId xmlns:a16="http://schemas.microsoft.com/office/drawing/2014/main" id="{2BB19950-193B-D609-D67E-97E3AA9121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60048" y="3388915"/>
            <a:ext cx="1258988" cy="3894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r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+mn-ea"/>
                <a:cs typeface="Arial" panose="020B0604020202020204" pitchFamily="34" charset="0"/>
              </a:rPr>
              <a:t>Instance Request</a:t>
            </a:r>
          </a:p>
          <a:p>
            <a:pPr marL="0" marR="0" lvl="0" indent="0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en-US" sz="900" dirty="0">
                <a:solidFill>
                  <a:srgbClr val="00B0F0"/>
                </a:solidFill>
                <a:latin typeface="+mn-ea"/>
                <a:cs typeface="Arial" panose="020B0604020202020204" pitchFamily="34" charset="0"/>
              </a:rPr>
              <a:t>S3 Response</a:t>
            </a:r>
          </a:p>
        </p:txBody>
      </p:sp>
      <p:cxnSp>
        <p:nvCxnSpPr>
          <p:cNvPr id="39" name="직선 화살표 연결선 38">
            <a:extLst>
              <a:ext uri="{FF2B5EF4-FFF2-40B4-BE49-F238E27FC236}">
                <a16:creationId xmlns:a16="http://schemas.microsoft.com/office/drawing/2014/main" id="{9D327951-EE00-998D-39B3-23EB20D9540C}"/>
              </a:ext>
            </a:extLst>
          </p:cNvPr>
          <p:cNvCxnSpPr>
            <a:cxnSpLocks/>
          </p:cNvCxnSpPr>
          <p:nvPr/>
        </p:nvCxnSpPr>
        <p:spPr>
          <a:xfrm flipH="1">
            <a:off x="1725329" y="3523140"/>
            <a:ext cx="283792" cy="0"/>
          </a:xfrm>
          <a:prstGeom prst="straightConnector1">
            <a:avLst/>
          </a:prstGeom>
          <a:ln w="1905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직선 화살표 연결선 39">
            <a:extLst>
              <a:ext uri="{FF2B5EF4-FFF2-40B4-BE49-F238E27FC236}">
                <a16:creationId xmlns:a16="http://schemas.microsoft.com/office/drawing/2014/main" id="{B0E1DC24-8E30-D727-0F18-D72B8FBA506D}"/>
              </a:ext>
            </a:extLst>
          </p:cNvPr>
          <p:cNvCxnSpPr>
            <a:cxnSpLocks/>
          </p:cNvCxnSpPr>
          <p:nvPr/>
        </p:nvCxnSpPr>
        <p:spPr>
          <a:xfrm>
            <a:off x="1725329" y="3669298"/>
            <a:ext cx="283792" cy="0"/>
          </a:xfrm>
          <a:prstGeom prst="straightConnector1">
            <a:avLst/>
          </a:prstGeom>
          <a:ln w="19050">
            <a:solidFill>
              <a:srgbClr val="00B0F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57" name="그룹 256">
            <a:extLst>
              <a:ext uri="{FF2B5EF4-FFF2-40B4-BE49-F238E27FC236}">
                <a16:creationId xmlns:a16="http://schemas.microsoft.com/office/drawing/2014/main" id="{B12FCCB9-C46C-DDC8-F726-05560C2DE12E}"/>
              </a:ext>
            </a:extLst>
          </p:cNvPr>
          <p:cNvGrpSpPr/>
          <p:nvPr/>
        </p:nvGrpSpPr>
        <p:grpSpPr>
          <a:xfrm>
            <a:off x="6083250" y="4026737"/>
            <a:ext cx="5740475" cy="2466241"/>
            <a:chOff x="355525" y="3439884"/>
            <a:chExt cx="5740475" cy="2466241"/>
          </a:xfrm>
        </p:grpSpPr>
        <p:sp>
          <p:nvSpPr>
            <p:cNvPr id="132" name="Rectangle 60" descr="Region group">
              <a:extLst>
                <a:ext uri="{FF2B5EF4-FFF2-40B4-BE49-F238E27FC236}">
                  <a16:creationId xmlns:a16="http://schemas.microsoft.com/office/drawing/2014/main" id="{12469AD2-6519-70C9-7632-8F02DC2FDEE6}"/>
                </a:ext>
              </a:extLst>
            </p:cNvPr>
            <p:cNvSpPr/>
            <p:nvPr/>
          </p:nvSpPr>
          <p:spPr>
            <a:xfrm>
              <a:off x="355525" y="3439884"/>
              <a:ext cx="5740475" cy="2466241"/>
            </a:xfrm>
            <a:prstGeom prst="rect">
              <a:avLst/>
            </a:prstGeom>
            <a:solidFill>
              <a:schemeClr val="bg1"/>
            </a:solidFill>
            <a:ln w="15875">
              <a:solidFill>
                <a:srgbClr val="00A4A6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502920" tIns="9144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Region</a:t>
              </a:r>
            </a:p>
          </p:txBody>
        </p:sp>
        <p:grpSp>
          <p:nvGrpSpPr>
            <p:cNvPr id="144" name="그룹 143">
              <a:extLst>
                <a:ext uri="{FF2B5EF4-FFF2-40B4-BE49-F238E27FC236}">
                  <a16:creationId xmlns:a16="http://schemas.microsoft.com/office/drawing/2014/main" id="{00DD0DC1-AC31-E0FC-CD72-96030C7F0AAF}"/>
                </a:ext>
              </a:extLst>
            </p:cNvPr>
            <p:cNvGrpSpPr/>
            <p:nvPr/>
          </p:nvGrpSpPr>
          <p:grpSpPr>
            <a:xfrm>
              <a:off x="1439981" y="3577497"/>
              <a:ext cx="4506117" cy="2188719"/>
              <a:chOff x="1980943" y="1605342"/>
              <a:chExt cx="4506117" cy="2188719"/>
            </a:xfrm>
          </p:grpSpPr>
          <p:sp>
            <p:nvSpPr>
              <p:cNvPr id="145" name="Rectangle 39">
                <a:extLst>
                  <a:ext uri="{FF2B5EF4-FFF2-40B4-BE49-F238E27FC236}">
                    <a16:creationId xmlns:a16="http://schemas.microsoft.com/office/drawing/2014/main" id="{900D5EFA-4833-AC6A-4341-539F08ED1ABB}"/>
                  </a:ext>
                </a:extLst>
              </p:cNvPr>
              <p:cNvSpPr/>
              <p:nvPr/>
            </p:nvSpPr>
            <p:spPr>
              <a:xfrm>
                <a:off x="1980944" y="1605342"/>
                <a:ext cx="4506116" cy="2188719"/>
              </a:xfrm>
              <a:prstGeom prst="rect">
                <a:avLst/>
              </a:prstGeom>
              <a:solidFill>
                <a:schemeClr val="bg1"/>
              </a:solidFill>
              <a:ln w="15875">
                <a:solidFill>
                  <a:srgbClr val="8C4FF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502920" tIns="91440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000" b="0" i="0" u="none" strike="noStrike" kern="1200" cap="none" spc="0" normalizeH="0" baseline="0" noProof="0" dirty="0">
                    <a:ln w="0"/>
                    <a:solidFill>
                      <a:schemeClr val="tx1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VPC</a:t>
                </a:r>
              </a:p>
            </p:txBody>
          </p:sp>
          <p:pic>
            <p:nvPicPr>
              <p:cNvPr id="146" name="Graphic 40" descr="VPC group icon. ">
                <a:extLst>
                  <a:ext uri="{FF2B5EF4-FFF2-40B4-BE49-F238E27FC236}">
                    <a16:creationId xmlns:a16="http://schemas.microsoft.com/office/drawing/2014/main" id="{4FB3F31C-DFA7-DB36-4622-1299486E51A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rcRect/>
              <a:stretch/>
            </p:blipFill>
            <p:spPr>
              <a:xfrm>
                <a:off x="1980943" y="1605343"/>
                <a:ext cx="381000" cy="381000"/>
              </a:xfrm>
              <a:prstGeom prst="rect">
                <a:avLst/>
              </a:prstGeom>
            </p:spPr>
          </p:pic>
        </p:grpSp>
        <p:sp>
          <p:nvSpPr>
            <p:cNvPr id="143" name="직사각형 142">
              <a:extLst>
                <a:ext uri="{FF2B5EF4-FFF2-40B4-BE49-F238E27FC236}">
                  <a16:creationId xmlns:a16="http://schemas.microsoft.com/office/drawing/2014/main" id="{8A71B1CE-949E-45ED-5BF4-5CBB20A1E1AE}"/>
                </a:ext>
              </a:extLst>
            </p:cNvPr>
            <p:cNvSpPr/>
            <p:nvPr/>
          </p:nvSpPr>
          <p:spPr>
            <a:xfrm>
              <a:off x="2504543" y="3715289"/>
              <a:ext cx="3316638" cy="1929588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 algn="ctr"/>
              <a:r>
                <a:rPr lang="en-US" altLang="en-US" sz="1000" dirty="0">
                  <a:solidFill>
                    <a:srgbClr val="000000"/>
                  </a:solidFill>
                  <a:latin typeface="Arial" panose="020B0604020202020204" pitchFamily="34" charset="0"/>
                  <a:ea typeface="Amazon Ember" panose="020B0603020204020204" pitchFamily="34" charset="0"/>
                  <a:cs typeface="Arial" panose="020B0604020202020204" pitchFamily="34" charset="0"/>
                </a:rPr>
                <a:t>Subnet</a:t>
              </a:r>
              <a:endParaRPr lang="ko-KR" altLang="en-US" sz="1000" dirty="0"/>
            </a:p>
          </p:txBody>
        </p:sp>
        <p:pic>
          <p:nvPicPr>
            <p:cNvPr id="133" name="Graphic 61" descr="Region group icon.">
              <a:extLst>
                <a:ext uri="{FF2B5EF4-FFF2-40B4-BE49-F238E27FC236}">
                  <a16:creationId xmlns:a16="http://schemas.microsoft.com/office/drawing/2014/main" id="{C8FCC423-7602-B2AE-A522-4845F13ACC35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/>
          </p:blipFill>
          <p:spPr>
            <a:xfrm>
              <a:off x="355525" y="3439884"/>
              <a:ext cx="381000" cy="381000"/>
            </a:xfrm>
            <a:prstGeom prst="rect">
              <a:avLst/>
            </a:prstGeom>
          </p:spPr>
        </p:pic>
        <p:grpSp>
          <p:nvGrpSpPr>
            <p:cNvPr id="140" name="그룹 139">
              <a:extLst>
                <a:ext uri="{FF2B5EF4-FFF2-40B4-BE49-F238E27FC236}">
                  <a16:creationId xmlns:a16="http://schemas.microsoft.com/office/drawing/2014/main" id="{5924F77E-29D2-157E-74F8-657938558FAB}"/>
                </a:ext>
              </a:extLst>
            </p:cNvPr>
            <p:cNvGrpSpPr/>
            <p:nvPr/>
          </p:nvGrpSpPr>
          <p:grpSpPr>
            <a:xfrm>
              <a:off x="489678" y="5118876"/>
              <a:ext cx="891316" cy="691042"/>
              <a:chOff x="2484713" y="2816367"/>
              <a:chExt cx="932026" cy="722604"/>
            </a:xfrm>
          </p:grpSpPr>
          <p:pic>
            <p:nvPicPr>
              <p:cNvPr id="141" name="Graphic 68" descr="S3 Standard storage class icon for the Amazon S3 service.">
                <a:extLst>
                  <a:ext uri="{FF2B5EF4-FFF2-40B4-BE49-F238E27FC236}">
                    <a16:creationId xmlns:a16="http://schemas.microsoft.com/office/drawing/2014/main" id="{A6E1064F-3537-73F2-D2AD-9A7D99E2247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>
                <a:off x="2726800" y="2816367"/>
                <a:ext cx="457200" cy="457200"/>
              </a:xfrm>
              <a:prstGeom prst="rect">
                <a:avLst/>
              </a:prstGeom>
            </p:spPr>
          </p:pic>
          <p:sp>
            <p:nvSpPr>
              <p:cNvPr id="142" name="TextBox 62">
                <a:extLst>
                  <a:ext uri="{FF2B5EF4-FFF2-40B4-BE49-F238E27FC236}">
                    <a16:creationId xmlns:a16="http://schemas.microsoft.com/office/drawing/2014/main" id="{E73BA18F-C787-50F7-8656-9EAC48DA5BF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484713" y="3281504"/>
                <a:ext cx="932026" cy="25746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Amazon Ember" panose="020B0603020204020204" pitchFamily="34" charset="0"/>
                    <a:cs typeface="Arial" panose="020B0604020202020204" pitchFamily="34" charset="0"/>
                  </a:rPr>
                  <a:t>S3 Standard</a:t>
                </a:r>
              </a:p>
            </p:txBody>
          </p:sp>
        </p:grpSp>
        <p:sp>
          <p:nvSpPr>
            <p:cNvPr id="148" name="직사각형 147">
              <a:extLst>
                <a:ext uri="{FF2B5EF4-FFF2-40B4-BE49-F238E27FC236}">
                  <a16:creationId xmlns:a16="http://schemas.microsoft.com/office/drawing/2014/main" id="{51144682-A9EA-BA02-9A0C-54D9FB21F7D7}"/>
                </a:ext>
              </a:extLst>
            </p:cNvPr>
            <p:cNvSpPr/>
            <p:nvPr/>
          </p:nvSpPr>
          <p:spPr>
            <a:xfrm>
              <a:off x="2971753" y="3971803"/>
              <a:ext cx="2705003" cy="1536472"/>
            </a:xfrm>
            <a:prstGeom prst="rect">
              <a:avLst/>
            </a:prstGeom>
            <a:noFill/>
            <a:ln>
              <a:solidFill>
                <a:schemeClr val="accent1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 lvl="0" algn="ctr" fontAlgn="base" latinLnBrk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altLang="en-US" sz="1000" dirty="0">
                  <a:solidFill>
                    <a:srgbClr val="000000"/>
                  </a:solidFill>
                  <a:latin typeface="Arial" panose="020B0604020202020204" pitchFamily="34" charset="0"/>
                  <a:ea typeface="Amazon Ember" panose="020B0603020204020204" pitchFamily="34" charset="0"/>
                  <a:cs typeface="Arial" panose="020B0604020202020204" pitchFamily="34" charset="0"/>
                </a:rPr>
                <a:t>Security Group</a:t>
              </a:r>
            </a:p>
          </p:txBody>
        </p:sp>
        <p:grpSp>
          <p:nvGrpSpPr>
            <p:cNvPr id="149" name="그룹 148">
              <a:extLst>
                <a:ext uri="{FF2B5EF4-FFF2-40B4-BE49-F238E27FC236}">
                  <a16:creationId xmlns:a16="http://schemas.microsoft.com/office/drawing/2014/main" id="{FDF2A9C6-191B-F04D-0176-27BDC03779E5}"/>
                </a:ext>
              </a:extLst>
            </p:cNvPr>
            <p:cNvGrpSpPr/>
            <p:nvPr/>
          </p:nvGrpSpPr>
          <p:grpSpPr>
            <a:xfrm>
              <a:off x="4973465" y="4309071"/>
              <a:ext cx="788342" cy="703421"/>
              <a:chOff x="7029643" y="2412493"/>
              <a:chExt cx="788342" cy="703421"/>
            </a:xfrm>
          </p:grpSpPr>
          <p:pic>
            <p:nvPicPr>
              <p:cNvPr id="150" name="Graphic 60">
                <a:extLst>
                  <a:ext uri="{FF2B5EF4-FFF2-40B4-BE49-F238E27FC236}">
                    <a16:creationId xmlns:a16="http://schemas.microsoft.com/office/drawing/2014/main" id="{1854028D-3273-40C8-F575-0957873E4A0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rcRect/>
              <a:stretch/>
            </p:blipFill>
            <p:spPr bwMode="auto">
              <a:xfrm>
                <a:off x="7195214" y="2412493"/>
                <a:ext cx="457200" cy="4572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51" name="TextBox 16">
                <a:extLst>
                  <a:ext uri="{FF2B5EF4-FFF2-40B4-BE49-F238E27FC236}">
                    <a16:creationId xmlns:a16="http://schemas.microsoft.com/office/drawing/2014/main" id="{FEDEE2BD-CFD0-93CF-96F3-FE5FC5C4E96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029643" y="2869693"/>
                <a:ext cx="788342" cy="24622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0" rIns="0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altLang="en-US" sz="1000" dirty="0">
                    <a:latin typeface="Arial" panose="020B0604020202020204" pitchFamily="34" charset="0"/>
                    <a:ea typeface="Amazon Ember" panose="020B0603020204020204" pitchFamily="34" charset="0"/>
                    <a:cs typeface="Arial" panose="020B0604020202020204" pitchFamily="34" charset="0"/>
                  </a:rPr>
                  <a:t>Instance</a:t>
                </a:r>
                <a:endParaRPr kumimoji="0" lang="en-US" altLang="en-US" sz="1000" b="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Arial" panose="020B0604020202020204" pitchFamily="34" charset="0"/>
                  <a:ea typeface="Amazon Ember" panose="020B0603020204020204" pitchFamily="34" charset="0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152" name="그룹 151">
              <a:extLst>
                <a:ext uri="{FF2B5EF4-FFF2-40B4-BE49-F238E27FC236}">
                  <a16:creationId xmlns:a16="http://schemas.microsoft.com/office/drawing/2014/main" id="{C946429A-2C80-A1CC-EF8B-0D92B9628F78}"/>
                </a:ext>
              </a:extLst>
            </p:cNvPr>
            <p:cNvGrpSpPr/>
            <p:nvPr/>
          </p:nvGrpSpPr>
          <p:grpSpPr>
            <a:xfrm>
              <a:off x="2011958" y="4317149"/>
              <a:ext cx="788342" cy="703421"/>
              <a:chOff x="4914750" y="2517124"/>
              <a:chExt cx="788342" cy="703421"/>
            </a:xfrm>
          </p:grpSpPr>
          <p:pic>
            <p:nvPicPr>
              <p:cNvPr id="153" name="Graphic 81" descr="Network access control list resource icon for the Amazon VPC service.&#10;">
                <a:extLst>
                  <a:ext uri="{FF2B5EF4-FFF2-40B4-BE49-F238E27FC236}">
                    <a16:creationId xmlns:a16="http://schemas.microsoft.com/office/drawing/2014/main" id="{80335EA6-7384-FD16-E9B2-3DB62D93D9F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p:blipFill>
            <p:spPr>
              <a:xfrm>
                <a:off x="5080321" y="2517124"/>
                <a:ext cx="457200" cy="457200"/>
              </a:xfrm>
              <a:prstGeom prst="rect">
                <a:avLst/>
              </a:prstGeom>
            </p:spPr>
          </p:pic>
          <p:sp>
            <p:nvSpPr>
              <p:cNvPr id="154" name="TextBox 16">
                <a:extLst>
                  <a:ext uri="{FF2B5EF4-FFF2-40B4-BE49-F238E27FC236}">
                    <a16:creationId xmlns:a16="http://schemas.microsoft.com/office/drawing/2014/main" id="{055DCF95-BD3B-0A33-99F4-729405A590C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914750" y="2974324"/>
                <a:ext cx="788342" cy="24622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0" rIns="0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000" b="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Arial" panose="020B0604020202020204" pitchFamily="34" charset="0"/>
                    <a:ea typeface="Amazon Ember" panose="020B0603020204020204" pitchFamily="34" charset="0"/>
                    <a:cs typeface="Arial" panose="020B0604020202020204" pitchFamily="34" charset="0"/>
                  </a:rPr>
                  <a:t>NACL</a:t>
                </a:r>
              </a:p>
            </p:txBody>
          </p:sp>
        </p:grpSp>
        <p:sp>
          <p:nvSpPr>
            <p:cNvPr id="155" name="Freeform 61" descr="Ninety degree arrow pointing down to the right.">
              <a:extLst>
                <a:ext uri="{FF2B5EF4-FFF2-40B4-BE49-F238E27FC236}">
                  <a16:creationId xmlns:a16="http://schemas.microsoft.com/office/drawing/2014/main" id="{049AEED1-A592-5263-64F0-8334E15D6277}"/>
                </a:ext>
              </a:extLst>
            </p:cNvPr>
            <p:cNvSpPr/>
            <p:nvPr/>
          </p:nvSpPr>
          <p:spPr>
            <a:xfrm rot="5400000" flipH="1" flipV="1">
              <a:off x="1238402" y="4175568"/>
              <a:ext cx="590033" cy="1222162"/>
            </a:xfrm>
            <a:custGeom>
              <a:avLst/>
              <a:gdLst>
                <a:gd name="connsiteX0" fmla="*/ 1371600 w 1371600"/>
                <a:gd name="connsiteY0" fmla="*/ 711200 h 711200"/>
                <a:gd name="connsiteX1" fmla="*/ 1371600 w 1371600"/>
                <a:gd name="connsiteY1" fmla="*/ 0 h 711200"/>
                <a:gd name="connsiteX2" fmla="*/ 0 w 1371600"/>
                <a:gd name="connsiteY2" fmla="*/ 0 h 711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371600" h="711200">
                  <a:moveTo>
                    <a:pt x="1371600" y="711200"/>
                  </a:moveTo>
                  <a:lnTo>
                    <a:pt x="1371600" y="0"/>
                  </a:lnTo>
                  <a:lnTo>
                    <a:pt x="0" y="0"/>
                  </a:lnTo>
                </a:path>
              </a:pathLst>
            </a:custGeom>
            <a:noFill/>
            <a:ln w="15875">
              <a:solidFill>
                <a:srgbClr val="00B0F0"/>
              </a:solidFill>
              <a:headEnd type="none" w="med" len="sm"/>
              <a:tailEnd type="arrow" w="med" len="sm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rPr>
                <a:t>z</a:t>
              </a:r>
            </a:p>
          </p:txBody>
        </p:sp>
        <p:sp>
          <p:nvSpPr>
            <p:cNvPr id="156" name="Freeform 59" descr="Ninety degree arrow pointing up to the right.">
              <a:extLst>
                <a:ext uri="{FF2B5EF4-FFF2-40B4-BE49-F238E27FC236}">
                  <a16:creationId xmlns:a16="http://schemas.microsoft.com/office/drawing/2014/main" id="{9052D028-A4FB-4455-A9FD-3890EA9D14E2}"/>
                </a:ext>
              </a:extLst>
            </p:cNvPr>
            <p:cNvSpPr/>
            <p:nvPr/>
          </p:nvSpPr>
          <p:spPr>
            <a:xfrm flipH="1">
              <a:off x="1013978" y="4584434"/>
              <a:ext cx="1148599" cy="457200"/>
            </a:xfrm>
            <a:custGeom>
              <a:avLst/>
              <a:gdLst>
                <a:gd name="connsiteX0" fmla="*/ 1371600 w 1371600"/>
                <a:gd name="connsiteY0" fmla="*/ 711200 h 711200"/>
                <a:gd name="connsiteX1" fmla="*/ 1371600 w 1371600"/>
                <a:gd name="connsiteY1" fmla="*/ 0 h 711200"/>
                <a:gd name="connsiteX2" fmla="*/ 0 w 1371600"/>
                <a:gd name="connsiteY2" fmla="*/ 0 h 711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371600" h="711200">
                  <a:moveTo>
                    <a:pt x="1371600" y="711200"/>
                  </a:moveTo>
                  <a:lnTo>
                    <a:pt x="1371600" y="0"/>
                  </a:lnTo>
                  <a:lnTo>
                    <a:pt x="0" y="0"/>
                  </a:lnTo>
                </a:path>
              </a:pathLst>
            </a:custGeom>
            <a:noFill/>
            <a:ln w="15875">
              <a:solidFill>
                <a:srgbClr val="00B0F0"/>
              </a:solidFill>
              <a:prstDash val="dash"/>
              <a:headEnd type="none" w="med" len="sm"/>
              <a:tailEnd type="arrow" w="med" len="sm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grpSp>
          <p:nvGrpSpPr>
            <p:cNvPr id="168" name="그룹 167">
              <a:extLst>
                <a:ext uri="{FF2B5EF4-FFF2-40B4-BE49-F238E27FC236}">
                  <a16:creationId xmlns:a16="http://schemas.microsoft.com/office/drawing/2014/main" id="{12876545-0B2C-748F-7A41-AF12FF806451}"/>
                </a:ext>
              </a:extLst>
            </p:cNvPr>
            <p:cNvGrpSpPr/>
            <p:nvPr/>
          </p:nvGrpSpPr>
          <p:grpSpPr>
            <a:xfrm>
              <a:off x="1525162" y="5118876"/>
              <a:ext cx="1593707" cy="389402"/>
              <a:chOff x="7418039" y="3495863"/>
              <a:chExt cx="1593707" cy="389402"/>
            </a:xfrm>
          </p:grpSpPr>
          <p:sp>
            <p:nvSpPr>
              <p:cNvPr id="163" name="TextBox 16">
                <a:extLst>
                  <a:ext uri="{FF2B5EF4-FFF2-40B4-BE49-F238E27FC236}">
                    <a16:creationId xmlns:a16="http://schemas.microsoft.com/office/drawing/2014/main" id="{DBF54D57-1D6F-1A7D-3B19-E5B4F25BDD6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752758" y="3495863"/>
                <a:ext cx="1258988" cy="38940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0" rIns="0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marL="0" marR="0" lvl="0" indent="0" defTabSz="914400" rtl="0" eaLnBrk="1" fontAlgn="base" latinLnBrk="0" hangingPunct="1">
                  <a:lnSpc>
                    <a:spcPct val="11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9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B0F0"/>
                    </a:solidFill>
                    <a:effectLst/>
                    <a:uLnTx/>
                    <a:uFillTx/>
                    <a:latin typeface="+mn-ea"/>
                    <a:cs typeface="Arial" panose="020B0604020202020204" pitchFamily="34" charset="0"/>
                  </a:rPr>
                  <a:t>Instance Request</a:t>
                </a:r>
              </a:p>
              <a:p>
                <a:pPr marL="0" marR="0" lvl="0" indent="0" defTabSz="914400" rtl="0" eaLnBrk="1" fontAlgn="base" latinLnBrk="0" hangingPunct="1">
                  <a:lnSpc>
                    <a:spcPct val="11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altLang="en-US" sz="900" dirty="0">
                    <a:solidFill>
                      <a:srgbClr val="00B0F0"/>
                    </a:solidFill>
                    <a:latin typeface="+mn-ea"/>
                    <a:cs typeface="Arial" panose="020B0604020202020204" pitchFamily="34" charset="0"/>
                  </a:rPr>
                  <a:t>S3 Response</a:t>
                </a:r>
              </a:p>
            </p:txBody>
          </p:sp>
          <p:cxnSp>
            <p:nvCxnSpPr>
              <p:cNvPr id="164" name="직선 화살표 연결선 163">
                <a:extLst>
                  <a:ext uri="{FF2B5EF4-FFF2-40B4-BE49-F238E27FC236}">
                    <a16:creationId xmlns:a16="http://schemas.microsoft.com/office/drawing/2014/main" id="{87DC6EC1-9C0D-9795-BED1-0931F299557D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418039" y="3630088"/>
                <a:ext cx="283792" cy="0"/>
              </a:xfrm>
              <a:prstGeom prst="straightConnector1">
                <a:avLst/>
              </a:prstGeom>
              <a:ln w="19050">
                <a:solidFill>
                  <a:srgbClr val="00B0F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5" name="직선 화살표 연결선 164">
                <a:extLst>
                  <a:ext uri="{FF2B5EF4-FFF2-40B4-BE49-F238E27FC236}">
                    <a16:creationId xmlns:a16="http://schemas.microsoft.com/office/drawing/2014/main" id="{A353FBCE-0CFD-4566-3CB3-F8DED69791E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418039" y="3776246"/>
                <a:ext cx="283792" cy="0"/>
              </a:xfrm>
              <a:prstGeom prst="straightConnector1">
                <a:avLst/>
              </a:prstGeom>
              <a:ln w="19050">
                <a:solidFill>
                  <a:srgbClr val="00B0F0"/>
                </a:solidFill>
                <a:prstDash val="sysDash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74" name="그룹 173">
              <a:extLst>
                <a:ext uri="{FF2B5EF4-FFF2-40B4-BE49-F238E27FC236}">
                  <a16:creationId xmlns:a16="http://schemas.microsoft.com/office/drawing/2014/main" id="{F5870095-F4E2-B89B-053F-E722A53192E8}"/>
                </a:ext>
              </a:extLst>
            </p:cNvPr>
            <p:cNvGrpSpPr/>
            <p:nvPr/>
          </p:nvGrpSpPr>
          <p:grpSpPr>
            <a:xfrm>
              <a:off x="3832616" y="4314854"/>
              <a:ext cx="699338" cy="1011198"/>
              <a:chOff x="4555095" y="5009125"/>
              <a:chExt cx="699338" cy="1011198"/>
            </a:xfrm>
          </p:grpSpPr>
          <p:pic>
            <p:nvPicPr>
              <p:cNvPr id="166" name="Graphic 77" descr="Elastic network interface resource icon for the Amazon VPC service.&#10;">
                <a:extLst>
                  <a:ext uri="{FF2B5EF4-FFF2-40B4-BE49-F238E27FC236}">
                    <a16:creationId xmlns:a16="http://schemas.microsoft.com/office/drawing/2014/main" id="{B6E0D03E-CA9D-62C3-6D9E-0C813CB0F34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/>
              </a:stretch>
            </p:blipFill>
            <p:spPr>
              <a:xfrm>
                <a:off x="4671463" y="5009125"/>
                <a:ext cx="457200" cy="457200"/>
              </a:xfrm>
              <a:prstGeom prst="rect">
                <a:avLst/>
              </a:prstGeom>
            </p:spPr>
          </p:pic>
          <p:sp>
            <p:nvSpPr>
              <p:cNvPr id="167" name="TextBox 18">
                <a:extLst>
                  <a:ext uri="{FF2B5EF4-FFF2-40B4-BE49-F238E27FC236}">
                    <a16:creationId xmlns:a16="http://schemas.microsoft.com/office/drawing/2014/main" id="{5BB8AA9C-D376-0B43-00F3-85B2BB58050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555095" y="5466325"/>
                <a:ext cx="699338" cy="55399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Amazon Ember" panose="020B0603020204020204" pitchFamily="34" charset="0"/>
                    <a:cs typeface="Arial" panose="020B0604020202020204" pitchFamily="34" charset="0"/>
                  </a:rPr>
                  <a:t>Elastic</a:t>
                </a:r>
              </a:p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Amazon Ember" panose="020B0603020204020204" pitchFamily="34" charset="0"/>
                    <a:cs typeface="Arial" panose="020B0604020202020204" pitchFamily="34" charset="0"/>
                  </a:rPr>
                  <a:t>network interface</a:t>
                </a:r>
              </a:p>
            </p:txBody>
          </p:sp>
        </p:grpSp>
        <p:grpSp>
          <p:nvGrpSpPr>
            <p:cNvPr id="171" name="그룹 170">
              <a:extLst>
                <a:ext uri="{FF2B5EF4-FFF2-40B4-BE49-F238E27FC236}">
                  <a16:creationId xmlns:a16="http://schemas.microsoft.com/office/drawing/2014/main" id="{091057D3-8DFB-268E-218F-F80233099693}"/>
                </a:ext>
              </a:extLst>
            </p:cNvPr>
            <p:cNvGrpSpPr/>
            <p:nvPr/>
          </p:nvGrpSpPr>
          <p:grpSpPr>
            <a:xfrm>
              <a:off x="3167355" y="4309071"/>
              <a:ext cx="938596" cy="1011991"/>
              <a:chOff x="8865202" y="2804320"/>
              <a:chExt cx="938596" cy="1011991"/>
            </a:xfrm>
          </p:grpSpPr>
          <p:pic>
            <p:nvPicPr>
              <p:cNvPr id="172" name="Graphic 69" descr="Endpoints resource icon for the Amazon VPC service.&#10;">
                <a:extLst>
                  <a:ext uri="{FF2B5EF4-FFF2-40B4-BE49-F238E27FC236}">
                    <a16:creationId xmlns:a16="http://schemas.microsoft.com/office/drawing/2014/main" id="{0E5C8901-F217-51BF-ECD9-02E54A0245D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p:blipFill>
            <p:spPr>
              <a:xfrm>
                <a:off x="9101029" y="2804320"/>
                <a:ext cx="457200" cy="457200"/>
              </a:xfrm>
              <a:prstGeom prst="rect">
                <a:avLst/>
              </a:prstGeom>
            </p:spPr>
          </p:pic>
          <p:sp>
            <p:nvSpPr>
              <p:cNvPr id="173" name="TextBox 25">
                <a:extLst>
                  <a:ext uri="{FF2B5EF4-FFF2-40B4-BE49-F238E27FC236}">
                    <a16:creationId xmlns:a16="http://schemas.microsoft.com/office/drawing/2014/main" id="{026F3E4F-B571-9F88-6665-82E22F5FC2C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8865202" y="3262313"/>
                <a:ext cx="938596" cy="55399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Amazon Ember" panose="020B0603020204020204" pitchFamily="34" charset="0"/>
                    <a:cs typeface="Arial" panose="020B0604020202020204" pitchFamily="34" charset="0"/>
                  </a:rPr>
                  <a:t>Interface</a:t>
                </a:r>
              </a:p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Amazon Ember" panose="020B0603020204020204" pitchFamily="34" charset="0"/>
                    <a:cs typeface="Arial" panose="020B0604020202020204" pitchFamily="34" charset="0"/>
                  </a:rPr>
                  <a:t>Endpoints</a:t>
                </a:r>
              </a:p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altLang="en-US" sz="1000" dirty="0">
                    <a:solidFill>
                      <a:srgbClr val="000000"/>
                    </a:solidFill>
                    <a:latin typeface="Arial" panose="020B0604020202020204" pitchFamily="34" charset="0"/>
                    <a:ea typeface="Amazon Ember" panose="020B0603020204020204" pitchFamily="34" charset="0"/>
                    <a:cs typeface="Arial" panose="020B0604020202020204" pitchFamily="34" charset="0"/>
                  </a:rPr>
                  <a:t>(IEP)</a:t>
                </a:r>
                <a:endParaRPr kumimoji="0" lang="en-US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Amazon Ember" panose="020B0603020204020204" pitchFamily="34" charset="0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178" name="그룹 177">
              <a:extLst>
                <a:ext uri="{FF2B5EF4-FFF2-40B4-BE49-F238E27FC236}">
                  <a16:creationId xmlns:a16="http://schemas.microsoft.com/office/drawing/2014/main" id="{0C79341E-ACA3-A938-4162-FC28CE919BDF}"/>
                </a:ext>
              </a:extLst>
            </p:cNvPr>
            <p:cNvGrpSpPr/>
            <p:nvPr/>
          </p:nvGrpSpPr>
          <p:grpSpPr>
            <a:xfrm>
              <a:off x="4596286" y="4491632"/>
              <a:ext cx="542750" cy="99858"/>
              <a:chOff x="9430761" y="2421485"/>
              <a:chExt cx="542750" cy="99858"/>
            </a:xfrm>
          </p:grpSpPr>
          <p:cxnSp>
            <p:nvCxnSpPr>
              <p:cNvPr id="175" name="Straight Arrow Connector 55" descr="Left pointing horizontal arrow. ">
                <a:extLst>
                  <a:ext uri="{FF2B5EF4-FFF2-40B4-BE49-F238E27FC236}">
                    <a16:creationId xmlns:a16="http://schemas.microsoft.com/office/drawing/2014/main" id="{438EAC1C-7196-C244-F097-BEEE001D8AC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430761" y="2421485"/>
                <a:ext cx="542750" cy="0"/>
              </a:xfrm>
              <a:prstGeom prst="straightConnector1">
                <a:avLst/>
              </a:prstGeom>
              <a:ln w="15875">
                <a:solidFill>
                  <a:srgbClr val="00B0F0"/>
                </a:solidFill>
                <a:headEnd type="arrow" w="med" len="sm"/>
                <a:tailEnd type="none" w="med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6" name="Straight Arrow Connector 55" descr="Left pointing horizontal arrow. ">
                <a:extLst>
                  <a:ext uri="{FF2B5EF4-FFF2-40B4-BE49-F238E27FC236}">
                    <a16:creationId xmlns:a16="http://schemas.microsoft.com/office/drawing/2014/main" id="{1BD0F337-9BC2-F8EF-3F0D-D3F1E8A2638A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9430761" y="2521343"/>
                <a:ext cx="542750" cy="0"/>
              </a:xfrm>
              <a:prstGeom prst="straightConnector1">
                <a:avLst/>
              </a:prstGeom>
              <a:ln w="15875">
                <a:solidFill>
                  <a:srgbClr val="00B0F0"/>
                </a:solidFill>
                <a:prstDash val="dash"/>
                <a:headEnd type="arrow" w="med" len="sm"/>
                <a:tailEnd type="none" w="med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80" name="그룹 179">
              <a:extLst>
                <a:ext uri="{FF2B5EF4-FFF2-40B4-BE49-F238E27FC236}">
                  <a16:creationId xmlns:a16="http://schemas.microsoft.com/office/drawing/2014/main" id="{013CACC0-CBB9-486F-DDA0-BB7A75B497DB}"/>
                </a:ext>
              </a:extLst>
            </p:cNvPr>
            <p:cNvGrpSpPr/>
            <p:nvPr/>
          </p:nvGrpSpPr>
          <p:grpSpPr>
            <a:xfrm>
              <a:off x="2654618" y="4491632"/>
              <a:ext cx="542750" cy="99858"/>
              <a:chOff x="8407202" y="2421485"/>
              <a:chExt cx="542750" cy="99858"/>
            </a:xfrm>
          </p:grpSpPr>
          <p:cxnSp>
            <p:nvCxnSpPr>
              <p:cNvPr id="181" name="Straight Arrow Connector 55" descr="Left pointing horizontal arrow. ">
                <a:extLst>
                  <a:ext uri="{FF2B5EF4-FFF2-40B4-BE49-F238E27FC236}">
                    <a16:creationId xmlns:a16="http://schemas.microsoft.com/office/drawing/2014/main" id="{37E0BF5E-A40A-5DCD-C9C5-65CDDA77260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407202" y="2421485"/>
                <a:ext cx="542750" cy="0"/>
              </a:xfrm>
              <a:prstGeom prst="straightConnector1">
                <a:avLst/>
              </a:prstGeom>
              <a:ln w="15875">
                <a:solidFill>
                  <a:srgbClr val="00B0F0"/>
                </a:solidFill>
                <a:headEnd type="arrow" w="med" len="sm"/>
                <a:tailEnd type="none" w="med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2" name="Straight Arrow Connector 55" descr="Left pointing horizontal arrow. ">
                <a:extLst>
                  <a:ext uri="{FF2B5EF4-FFF2-40B4-BE49-F238E27FC236}">
                    <a16:creationId xmlns:a16="http://schemas.microsoft.com/office/drawing/2014/main" id="{B39E6AF0-233C-D45D-2332-63A32ABB9B0D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8407202" y="2521343"/>
                <a:ext cx="542750" cy="0"/>
              </a:xfrm>
              <a:prstGeom prst="straightConnector1">
                <a:avLst/>
              </a:prstGeom>
              <a:ln w="15875">
                <a:solidFill>
                  <a:srgbClr val="00B0F0"/>
                </a:solidFill>
                <a:prstDash val="dash"/>
                <a:headEnd type="arrow" w="med" len="sm"/>
                <a:tailEnd type="none" w="med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56" name="모서리가 둥근 직사각형 255">
              <a:extLst>
                <a:ext uri="{FF2B5EF4-FFF2-40B4-BE49-F238E27FC236}">
                  <a16:creationId xmlns:a16="http://schemas.microsoft.com/office/drawing/2014/main" id="{8D95D60A-74E0-B1F5-BE80-105972B6A2CF}"/>
                </a:ext>
              </a:extLst>
            </p:cNvPr>
            <p:cNvSpPr/>
            <p:nvPr/>
          </p:nvSpPr>
          <p:spPr>
            <a:xfrm>
              <a:off x="3272842" y="4227229"/>
              <a:ext cx="1265341" cy="1166235"/>
            </a:xfrm>
            <a:prstGeom prst="roundRect">
              <a:avLst>
                <a:gd name="adj" fmla="val 8607"/>
              </a:avLst>
            </a:prstGeom>
            <a:noFill/>
            <a:ln w="9525">
              <a:solidFill>
                <a:schemeClr val="bg1">
                  <a:lumMod val="85000"/>
                </a:schemeClr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</p:grpSp>
      <p:grpSp>
        <p:nvGrpSpPr>
          <p:cNvPr id="2" name="그룹 1">
            <a:extLst>
              <a:ext uri="{FF2B5EF4-FFF2-40B4-BE49-F238E27FC236}">
                <a16:creationId xmlns:a16="http://schemas.microsoft.com/office/drawing/2014/main" id="{0B154F58-B9B6-43D5-BC73-42C3B96B6216}"/>
              </a:ext>
            </a:extLst>
          </p:cNvPr>
          <p:cNvGrpSpPr/>
          <p:nvPr/>
        </p:nvGrpSpPr>
        <p:grpSpPr>
          <a:xfrm>
            <a:off x="2242601" y="1908366"/>
            <a:ext cx="591948" cy="704214"/>
            <a:chOff x="6974051" y="1601987"/>
            <a:chExt cx="591948" cy="704214"/>
          </a:xfrm>
        </p:grpSpPr>
        <p:pic>
          <p:nvPicPr>
            <p:cNvPr id="73" name="Graphic 71" descr="Router resource icon for the Amazon VPC service.&#10;">
              <a:extLst>
                <a:ext uri="{FF2B5EF4-FFF2-40B4-BE49-F238E27FC236}">
                  <a16:creationId xmlns:a16="http://schemas.microsoft.com/office/drawing/2014/main" id="{620148C7-DE7D-4EB8-9682-1BDD6967AAE2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7038154" y="1601987"/>
              <a:ext cx="457200" cy="457200"/>
            </a:xfrm>
            <a:prstGeom prst="rect">
              <a:avLst/>
            </a:prstGeom>
          </p:spPr>
        </p:pic>
        <p:sp>
          <p:nvSpPr>
            <p:cNvPr id="74" name="TextBox 27">
              <a:extLst>
                <a:ext uri="{FF2B5EF4-FFF2-40B4-BE49-F238E27FC236}">
                  <a16:creationId xmlns:a16="http://schemas.microsoft.com/office/drawing/2014/main" id="{5ACC5872-40DD-43CF-AD1A-090318F6293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974051" y="2059980"/>
              <a:ext cx="591948" cy="2462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Amazon Ember" panose="020B0603020204020204" pitchFamily="34" charset="0"/>
                  <a:cs typeface="Arial" panose="020B0604020202020204" pitchFamily="34" charset="0"/>
                </a:rPr>
                <a:t>Router</a:t>
              </a:r>
            </a:p>
          </p:txBody>
        </p:sp>
      </p:grpSp>
      <p:grpSp>
        <p:nvGrpSpPr>
          <p:cNvPr id="79" name="그룹 78">
            <a:extLst>
              <a:ext uri="{FF2B5EF4-FFF2-40B4-BE49-F238E27FC236}">
                <a16:creationId xmlns:a16="http://schemas.microsoft.com/office/drawing/2014/main" id="{A29FEF68-4F00-4D47-8C74-2CF4E9583634}"/>
              </a:ext>
            </a:extLst>
          </p:cNvPr>
          <p:cNvGrpSpPr/>
          <p:nvPr/>
        </p:nvGrpSpPr>
        <p:grpSpPr>
          <a:xfrm>
            <a:off x="3896171" y="2091720"/>
            <a:ext cx="542750" cy="99858"/>
            <a:chOff x="2820617" y="2091720"/>
            <a:chExt cx="542750" cy="99858"/>
          </a:xfrm>
        </p:grpSpPr>
        <p:cxnSp>
          <p:nvCxnSpPr>
            <p:cNvPr id="80" name="Straight Arrow Connector 55" descr="Left pointing horizontal arrow. ">
              <a:extLst>
                <a:ext uri="{FF2B5EF4-FFF2-40B4-BE49-F238E27FC236}">
                  <a16:creationId xmlns:a16="http://schemas.microsoft.com/office/drawing/2014/main" id="{F4566732-4AD1-4B45-AEB4-BFD3D31E94F1}"/>
                </a:ext>
              </a:extLst>
            </p:cNvPr>
            <p:cNvCxnSpPr>
              <a:cxnSpLocks/>
            </p:cNvCxnSpPr>
            <p:nvPr/>
          </p:nvCxnSpPr>
          <p:spPr>
            <a:xfrm>
              <a:off x="2820617" y="2091720"/>
              <a:ext cx="542750" cy="0"/>
            </a:xfrm>
            <a:prstGeom prst="straightConnector1">
              <a:avLst/>
            </a:prstGeom>
            <a:ln w="15875">
              <a:solidFill>
                <a:srgbClr val="00B0F0"/>
              </a:solidFill>
              <a:headEnd type="arrow" w="med" len="sm"/>
              <a:tailEnd type="none" w="med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Straight Arrow Connector 55" descr="Left pointing horizontal arrow. ">
              <a:extLst>
                <a:ext uri="{FF2B5EF4-FFF2-40B4-BE49-F238E27FC236}">
                  <a16:creationId xmlns:a16="http://schemas.microsoft.com/office/drawing/2014/main" id="{8675DF75-6ED7-40C6-BB05-A9834D999C7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820617" y="2191578"/>
              <a:ext cx="542750" cy="0"/>
            </a:xfrm>
            <a:prstGeom prst="straightConnector1">
              <a:avLst/>
            </a:prstGeom>
            <a:ln w="15875">
              <a:solidFill>
                <a:srgbClr val="00B0F0"/>
              </a:solidFill>
              <a:prstDash val="dash"/>
              <a:headEnd type="arrow" w="med" len="sm"/>
              <a:tailEnd type="none" w="med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1626960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>
            <a:extLst>
              <a:ext uri="{FF2B5EF4-FFF2-40B4-BE49-F238E27FC236}">
                <a16:creationId xmlns:a16="http://schemas.microsoft.com/office/drawing/2014/main" id="{AD88F493-9AF0-4B9A-835F-C018405FA98B}"/>
              </a:ext>
            </a:extLst>
          </p:cNvPr>
          <p:cNvSpPr/>
          <p:nvPr/>
        </p:nvSpPr>
        <p:spPr>
          <a:xfrm>
            <a:off x="914399" y="1447799"/>
            <a:ext cx="8653491" cy="4387851"/>
          </a:xfrm>
          <a:prstGeom prst="rect">
            <a:avLst/>
          </a:prstGeom>
          <a:pattFill prst="horzBrick">
            <a:fgClr>
              <a:schemeClr val="bg1">
                <a:lumMod val="95000"/>
              </a:schemeClr>
            </a:fgClr>
            <a:bgClr>
              <a:schemeClr val="bg1"/>
            </a:bgClr>
          </a:patt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/>
          </a:p>
        </p:txBody>
      </p:sp>
      <p:grpSp>
        <p:nvGrpSpPr>
          <p:cNvPr id="30" name="그룹 29">
            <a:extLst>
              <a:ext uri="{FF2B5EF4-FFF2-40B4-BE49-F238E27FC236}">
                <a16:creationId xmlns:a16="http://schemas.microsoft.com/office/drawing/2014/main" id="{C701BA5D-A49A-4E86-BF1A-C77DB532E85B}"/>
              </a:ext>
            </a:extLst>
          </p:cNvPr>
          <p:cNvGrpSpPr/>
          <p:nvPr/>
        </p:nvGrpSpPr>
        <p:grpSpPr>
          <a:xfrm>
            <a:off x="997829" y="2267067"/>
            <a:ext cx="457200" cy="703421"/>
            <a:chOff x="1296834" y="2412493"/>
            <a:chExt cx="457200" cy="703421"/>
          </a:xfrm>
        </p:grpSpPr>
        <p:pic>
          <p:nvPicPr>
            <p:cNvPr id="4" name="Graphic 22" descr="User resource icon for the General Icons category.">
              <a:extLst>
                <a:ext uri="{FF2B5EF4-FFF2-40B4-BE49-F238E27FC236}">
                  <a16:creationId xmlns:a16="http://schemas.microsoft.com/office/drawing/2014/main" id="{D293F237-FE28-4B8C-8A87-13178786232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/>
          </p:blipFill>
          <p:spPr bwMode="auto">
            <a:xfrm>
              <a:off x="1296834" y="2412493"/>
              <a:ext cx="45720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4" name="TextBox 16">
              <a:extLst>
                <a:ext uri="{FF2B5EF4-FFF2-40B4-BE49-F238E27FC236}">
                  <a16:creationId xmlns:a16="http://schemas.microsoft.com/office/drawing/2014/main" id="{566A5201-8E8F-49BC-95E5-AA1267F1D6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06605" y="2869693"/>
              <a:ext cx="426452" cy="2462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rIns="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000" b="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Arial" panose="020B0604020202020204" pitchFamily="34" charset="0"/>
                  <a:ea typeface="Amazon Ember" panose="020B0603020204020204" pitchFamily="34" charset="0"/>
                  <a:cs typeface="Arial" panose="020B0604020202020204" pitchFamily="34" charset="0"/>
                </a:rPr>
                <a:t>User</a:t>
              </a:r>
            </a:p>
          </p:txBody>
        </p:sp>
      </p:grpSp>
      <p:grpSp>
        <p:nvGrpSpPr>
          <p:cNvPr id="31" name="그룹 30">
            <a:extLst>
              <a:ext uri="{FF2B5EF4-FFF2-40B4-BE49-F238E27FC236}">
                <a16:creationId xmlns:a16="http://schemas.microsoft.com/office/drawing/2014/main" id="{409EFEC8-7CA7-46FC-AEC2-48BE428E6F5D}"/>
              </a:ext>
            </a:extLst>
          </p:cNvPr>
          <p:cNvGrpSpPr/>
          <p:nvPr/>
        </p:nvGrpSpPr>
        <p:grpSpPr>
          <a:xfrm>
            <a:off x="1631457" y="2267067"/>
            <a:ext cx="976192" cy="703421"/>
            <a:chOff x="3147866" y="2412493"/>
            <a:chExt cx="976192" cy="703421"/>
          </a:xfrm>
        </p:grpSpPr>
        <p:pic>
          <p:nvPicPr>
            <p:cNvPr id="9" name="Graphic 63" descr="Internet gateway resource icon for the Amazon VPC service.&#10;">
              <a:extLst>
                <a:ext uri="{FF2B5EF4-FFF2-40B4-BE49-F238E27FC236}">
                  <a16:creationId xmlns:a16="http://schemas.microsoft.com/office/drawing/2014/main" id="{27D10B3B-D01E-4D75-8C60-8E8EA999ED0D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3407362" y="2412493"/>
              <a:ext cx="457200" cy="457200"/>
            </a:xfrm>
            <a:prstGeom prst="rect">
              <a:avLst/>
            </a:prstGeom>
          </p:spPr>
        </p:pic>
        <p:sp>
          <p:nvSpPr>
            <p:cNvPr id="25" name="TextBox 16">
              <a:extLst>
                <a:ext uri="{FF2B5EF4-FFF2-40B4-BE49-F238E27FC236}">
                  <a16:creationId xmlns:a16="http://schemas.microsoft.com/office/drawing/2014/main" id="{4C7BDD90-87CE-4258-8521-B7F753B9C65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47866" y="2869693"/>
              <a:ext cx="976192" cy="2462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rIns="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000" b="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Arial" panose="020B0604020202020204" pitchFamily="34" charset="0"/>
                  <a:ea typeface="Amazon Ember" panose="020B0603020204020204" pitchFamily="34" charset="0"/>
                  <a:cs typeface="Arial" panose="020B0604020202020204" pitchFamily="34" charset="0"/>
                </a:rPr>
                <a:t>Internet Gateway</a:t>
              </a:r>
            </a:p>
          </p:txBody>
        </p:sp>
      </p:grpSp>
      <p:grpSp>
        <p:nvGrpSpPr>
          <p:cNvPr id="33" name="그룹 32">
            <a:extLst>
              <a:ext uri="{FF2B5EF4-FFF2-40B4-BE49-F238E27FC236}">
                <a16:creationId xmlns:a16="http://schemas.microsoft.com/office/drawing/2014/main" id="{59465786-B24E-4CEF-AC25-A541161C404A}"/>
              </a:ext>
            </a:extLst>
          </p:cNvPr>
          <p:cNvGrpSpPr/>
          <p:nvPr/>
        </p:nvGrpSpPr>
        <p:grpSpPr>
          <a:xfrm>
            <a:off x="3522836" y="2267067"/>
            <a:ext cx="788342" cy="703421"/>
            <a:chOff x="5473229" y="2412493"/>
            <a:chExt cx="788342" cy="703421"/>
          </a:xfrm>
        </p:grpSpPr>
        <p:pic>
          <p:nvPicPr>
            <p:cNvPr id="19" name="Graphic 81" descr="Network access control list resource icon for the Amazon VPC service.&#10;">
              <a:extLst>
                <a:ext uri="{FF2B5EF4-FFF2-40B4-BE49-F238E27FC236}">
                  <a16:creationId xmlns:a16="http://schemas.microsoft.com/office/drawing/2014/main" id="{17A658D6-7849-471E-B1D7-1A729D050353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5638800" y="2412493"/>
              <a:ext cx="457200" cy="457200"/>
            </a:xfrm>
            <a:prstGeom prst="rect">
              <a:avLst/>
            </a:prstGeom>
          </p:spPr>
        </p:pic>
        <p:sp>
          <p:nvSpPr>
            <p:cNvPr id="27" name="TextBox 16">
              <a:extLst>
                <a:ext uri="{FF2B5EF4-FFF2-40B4-BE49-F238E27FC236}">
                  <a16:creationId xmlns:a16="http://schemas.microsoft.com/office/drawing/2014/main" id="{171F02B5-ED2E-4F67-BAB7-1547860AEC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473229" y="2869693"/>
              <a:ext cx="788342" cy="2462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rIns="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000" b="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Arial" panose="020B0604020202020204" pitchFamily="34" charset="0"/>
                  <a:ea typeface="Amazon Ember" panose="020B0603020204020204" pitchFamily="34" charset="0"/>
                  <a:cs typeface="Arial" panose="020B0604020202020204" pitchFamily="34" charset="0"/>
                </a:rPr>
                <a:t>Public NACL</a:t>
              </a:r>
            </a:p>
          </p:txBody>
        </p:sp>
      </p:grp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97352FBE-0800-4229-98CB-67729947E659}"/>
              </a:ext>
            </a:extLst>
          </p:cNvPr>
          <p:cNvSpPr/>
          <p:nvPr/>
        </p:nvSpPr>
        <p:spPr>
          <a:xfrm>
            <a:off x="4523164" y="1996640"/>
            <a:ext cx="1464736" cy="2588059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/>
          </a:p>
        </p:txBody>
      </p:sp>
      <p:grpSp>
        <p:nvGrpSpPr>
          <p:cNvPr id="34" name="그룹 33">
            <a:extLst>
              <a:ext uri="{FF2B5EF4-FFF2-40B4-BE49-F238E27FC236}">
                <a16:creationId xmlns:a16="http://schemas.microsoft.com/office/drawing/2014/main" id="{B9A1B768-AF00-4F06-AE90-8283C30DEEC8}"/>
              </a:ext>
            </a:extLst>
          </p:cNvPr>
          <p:cNvGrpSpPr/>
          <p:nvPr/>
        </p:nvGrpSpPr>
        <p:grpSpPr>
          <a:xfrm>
            <a:off x="4855674" y="2343267"/>
            <a:ext cx="788342" cy="703421"/>
            <a:chOff x="7029643" y="2412493"/>
            <a:chExt cx="788342" cy="703421"/>
          </a:xfrm>
        </p:grpSpPr>
        <p:pic>
          <p:nvPicPr>
            <p:cNvPr id="23" name="Graphic 60">
              <a:extLst>
                <a:ext uri="{FF2B5EF4-FFF2-40B4-BE49-F238E27FC236}">
                  <a16:creationId xmlns:a16="http://schemas.microsoft.com/office/drawing/2014/main" id="{E2C68013-06EE-4E64-AFD8-48F7E3EB4B8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rcRect/>
            <a:stretch/>
          </p:blipFill>
          <p:spPr bwMode="auto">
            <a:xfrm>
              <a:off x="7195214" y="2412493"/>
              <a:ext cx="45720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9" name="TextBox 16">
              <a:extLst>
                <a:ext uri="{FF2B5EF4-FFF2-40B4-BE49-F238E27FC236}">
                  <a16:creationId xmlns:a16="http://schemas.microsoft.com/office/drawing/2014/main" id="{490218DD-43CF-40DC-B6EF-95D7FCB5518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029643" y="2869693"/>
              <a:ext cx="788342" cy="2462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rIns="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en-US" sz="1000" dirty="0">
                  <a:latin typeface="Arial" panose="020B0604020202020204" pitchFamily="34" charset="0"/>
                  <a:ea typeface="Amazon Ember" panose="020B0603020204020204" pitchFamily="34" charset="0"/>
                  <a:cs typeface="Arial" panose="020B0604020202020204" pitchFamily="34" charset="0"/>
                </a:rPr>
                <a:t>EC2 Instance</a:t>
              </a:r>
              <a:endParaRPr kumimoji="0" lang="en-US" altLang="en-US" sz="1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E05326DD-4155-4C21-82A1-BFD6AED628A5}"/>
              </a:ext>
            </a:extLst>
          </p:cNvPr>
          <p:cNvSpPr/>
          <p:nvPr/>
        </p:nvSpPr>
        <p:spPr>
          <a:xfrm>
            <a:off x="6137612" y="1996641"/>
            <a:ext cx="1464736" cy="144758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/>
          </a:p>
        </p:txBody>
      </p:sp>
      <p:grpSp>
        <p:nvGrpSpPr>
          <p:cNvPr id="37" name="그룹 36">
            <a:extLst>
              <a:ext uri="{FF2B5EF4-FFF2-40B4-BE49-F238E27FC236}">
                <a16:creationId xmlns:a16="http://schemas.microsoft.com/office/drawing/2014/main" id="{CD83DCD0-BF75-4E79-AF51-CCBFC375FF31}"/>
              </a:ext>
            </a:extLst>
          </p:cNvPr>
          <p:cNvGrpSpPr/>
          <p:nvPr/>
        </p:nvGrpSpPr>
        <p:grpSpPr>
          <a:xfrm>
            <a:off x="6470122" y="2343267"/>
            <a:ext cx="788342" cy="703421"/>
            <a:chOff x="7029643" y="2412493"/>
            <a:chExt cx="788342" cy="703421"/>
          </a:xfrm>
        </p:grpSpPr>
        <p:pic>
          <p:nvPicPr>
            <p:cNvPr id="38" name="Graphic 60">
              <a:extLst>
                <a:ext uri="{FF2B5EF4-FFF2-40B4-BE49-F238E27FC236}">
                  <a16:creationId xmlns:a16="http://schemas.microsoft.com/office/drawing/2014/main" id="{CA1140FD-438E-4B3C-9BAB-293C1F78355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rcRect/>
            <a:stretch/>
          </p:blipFill>
          <p:spPr bwMode="auto">
            <a:xfrm>
              <a:off x="7195214" y="2412493"/>
              <a:ext cx="45720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9" name="TextBox 16">
              <a:extLst>
                <a:ext uri="{FF2B5EF4-FFF2-40B4-BE49-F238E27FC236}">
                  <a16:creationId xmlns:a16="http://schemas.microsoft.com/office/drawing/2014/main" id="{EE7E2CCA-DDA7-4478-8D0C-9A81AD9425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029643" y="2869693"/>
              <a:ext cx="788342" cy="2462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rIns="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en-US" sz="1000" dirty="0">
                  <a:latin typeface="Arial" panose="020B0604020202020204" pitchFamily="34" charset="0"/>
                  <a:ea typeface="Amazon Ember" panose="020B0603020204020204" pitchFamily="34" charset="0"/>
                  <a:cs typeface="Arial" panose="020B0604020202020204" pitchFamily="34" charset="0"/>
                </a:rPr>
                <a:t>EC2 Instance</a:t>
              </a:r>
              <a:endParaRPr kumimoji="0" lang="en-US" altLang="en-US" sz="1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36215FE3-8DFA-4FE3-90FF-24FC736F39F1}"/>
              </a:ext>
            </a:extLst>
          </p:cNvPr>
          <p:cNvSpPr/>
          <p:nvPr/>
        </p:nvSpPr>
        <p:spPr>
          <a:xfrm>
            <a:off x="4671522" y="2098241"/>
            <a:ext cx="2759752" cy="1187669"/>
          </a:xfrm>
          <a:prstGeom prst="rect">
            <a:avLst/>
          </a:prstGeom>
          <a:noFill/>
          <a:ln>
            <a:solidFill>
              <a:srgbClr val="00B0F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/>
          </a:p>
        </p:txBody>
      </p:sp>
      <p:sp>
        <p:nvSpPr>
          <p:cNvPr id="10" name="TextBox 12">
            <a:extLst>
              <a:ext uri="{FF2B5EF4-FFF2-40B4-BE49-F238E27FC236}">
                <a16:creationId xmlns:a16="http://schemas.microsoft.com/office/drawing/2014/main" id="{DCC440D8-0460-420C-85D3-92ECF1AC6C1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49722" y="2103422"/>
            <a:ext cx="1403350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Security Group</a:t>
            </a:r>
          </a:p>
        </p:txBody>
      </p:sp>
      <p:sp>
        <p:nvSpPr>
          <p:cNvPr id="41" name="TextBox 12">
            <a:extLst>
              <a:ext uri="{FF2B5EF4-FFF2-40B4-BE49-F238E27FC236}">
                <a16:creationId xmlns:a16="http://schemas.microsoft.com/office/drawing/2014/main" id="{A1B10D9B-99BF-4FAF-98C1-843AAC155D7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57697" y="1719641"/>
            <a:ext cx="1403350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Public Subnet</a:t>
            </a:r>
          </a:p>
        </p:txBody>
      </p:sp>
      <p:sp>
        <p:nvSpPr>
          <p:cNvPr id="42" name="TextBox 12">
            <a:extLst>
              <a:ext uri="{FF2B5EF4-FFF2-40B4-BE49-F238E27FC236}">
                <a16:creationId xmlns:a16="http://schemas.microsoft.com/office/drawing/2014/main" id="{FB4175A0-9684-4378-9579-DAA6FCE721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62618" y="1719641"/>
            <a:ext cx="1403350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Public Subnet</a:t>
            </a:r>
          </a:p>
        </p:txBody>
      </p:sp>
      <p:sp>
        <p:nvSpPr>
          <p:cNvPr id="104" name="직사각형 103">
            <a:extLst>
              <a:ext uri="{FF2B5EF4-FFF2-40B4-BE49-F238E27FC236}">
                <a16:creationId xmlns:a16="http://schemas.microsoft.com/office/drawing/2014/main" id="{4C17DDCD-F785-4578-A779-0847EEDFA28E}"/>
              </a:ext>
            </a:extLst>
          </p:cNvPr>
          <p:cNvSpPr/>
          <p:nvPr/>
        </p:nvSpPr>
        <p:spPr>
          <a:xfrm>
            <a:off x="7739287" y="1996641"/>
            <a:ext cx="1464736" cy="144759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/>
          </a:p>
        </p:txBody>
      </p:sp>
      <p:sp>
        <p:nvSpPr>
          <p:cNvPr id="105" name="TextBox 12">
            <a:extLst>
              <a:ext uri="{FF2B5EF4-FFF2-40B4-BE49-F238E27FC236}">
                <a16:creationId xmlns:a16="http://schemas.microsoft.com/office/drawing/2014/main" id="{EB0A014A-E5D9-4F41-A46D-B7A1D89496D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69980" y="1719641"/>
            <a:ext cx="1403350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Private Subnet</a:t>
            </a:r>
          </a:p>
        </p:txBody>
      </p:sp>
      <p:grpSp>
        <p:nvGrpSpPr>
          <p:cNvPr id="50" name="Group 38" descr="Virtual private cloud (VPC) group.">
            <a:extLst>
              <a:ext uri="{FF2B5EF4-FFF2-40B4-BE49-F238E27FC236}">
                <a16:creationId xmlns:a16="http://schemas.microsoft.com/office/drawing/2014/main" id="{4D98BC5F-0936-4298-8EFE-A6C7FB34AA6A}"/>
              </a:ext>
            </a:extLst>
          </p:cNvPr>
          <p:cNvGrpSpPr/>
          <p:nvPr/>
        </p:nvGrpSpPr>
        <p:grpSpPr>
          <a:xfrm>
            <a:off x="1980943" y="1605342"/>
            <a:ext cx="7442457" cy="3147633"/>
            <a:chOff x="2283292" y="2618864"/>
            <a:chExt cx="7442457" cy="3147633"/>
          </a:xfrm>
        </p:grpSpPr>
        <p:sp>
          <p:nvSpPr>
            <p:cNvPr id="51" name="Rectangle 39">
              <a:extLst>
                <a:ext uri="{FF2B5EF4-FFF2-40B4-BE49-F238E27FC236}">
                  <a16:creationId xmlns:a16="http://schemas.microsoft.com/office/drawing/2014/main" id="{61CCC801-B733-4F9A-8F55-4329EEED3337}"/>
                </a:ext>
              </a:extLst>
            </p:cNvPr>
            <p:cNvSpPr/>
            <p:nvPr/>
          </p:nvSpPr>
          <p:spPr>
            <a:xfrm>
              <a:off x="2283292" y="2618864"/>
              <a:ext cx="7442457" cy="3147633"/>
            </a:xfrm>
            <a:prstGeom prst="rect">
              <a:avLst/>
            </a:prstGeom>
            <a:noFill/>
            <a:ln w="15875">
              <a:solidFill>
                <a:srgbClr val="8C4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502920" tIns="9144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1200" cap="none" spc="0" normalizeH="0" baseline="0" noProof="0" dirty="0">
                  <a:ln w="0"/>
                  <a:solidFill>
                    <a:schemeClr val="tx1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VPC</a:t>
              </a:r>
            </a:p>
          </p:txBody>
        </p:sp>
        <p:pic>
          <p:nvPicPr>
            <p:cNvPr id="52" name="Graphic 40" descr="VPC group icon. ">
              <a:extLst>
                <a:ext uri="{FF2B5EF4-FFF2-40B4-BE49-F238E27FC236}">
                  <a16:creationId xmlns:a16="http://schemas.microsoft.com/office/drawing/2014/main" id="{6789EC5B-3EC5-4E9F-AF63-F81C8DB398DC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/>
            <a:stretch/>
          </p:blipFill>
          <p:spPr>
            <a:xfrm>
              <a:off x="2283292" y="2618865"/>
              <a:ext cx="381000" cy="381000"/>
            </a:xfrm>
            <a:prstGeom prst="rect">
              <a:avLst/>
            </a:prstGeom>
          </p:spPr>
        </p:pic>
      </p:grpSp>
      <p:grpSp>
        <p:nvGrpSpPr>
          <p:cNvPr id="216" name="그룹 215">
            <a:extLst>
              <a:ext uri="{FF2B5EF4-FFF2-40B4-BE49-F238E27FC236}">
                <a16:creationId xmlns:a16="http://schemas.microsoft.com/office/drawing/2014/main" id="{14F7D07F-AD42-4C36-9C09-D5F26F7608BD}"/>
              </a:ext>
            </a:extLst>
          </p:cNvPr>
          <p:cNvGrpSpPr/>
          <p:nvPr/>
        </p:nvGrpSpPr>
        <p:grpSpPr>
          <a:xfrm>
            <a:off x="1455029" y="2389660"/>
            <a:ext cx="331142" cy="278595"/>
            <a:chOff x="1754034" y="2599738"/>
            <a:chExt cx="331142" cy="278595"/>
          </a:xfrm>
        </p:grpSpPr>
        <p:cxnSp>
          <p:nvCxnSpPr>
            <p:cNvPr id="87" name="직선 화살표 연결선 86">
              <a:extLst>
                <a:ext uri="{FF2B5EF4-FFF2-40B4-BE49-F238E27FC236}">
                  <a16:creationId xmlns:a16="http://schemas.microsoft.com/office/drawing/2014/main" id="{19BB9F31-42CF-4FF6-82AB-D79B78DB5C82}"/>
                </a:ext>
              </a:extLst>
            </p:cNvPr>
            <p:cNvCxnSpPr/>
            <p:nvPr/>
          </p:nvCxnSpPr>
          <p:spPr>
            <a:xfrm>
              <a:off x="1754034" y="2599738"/>
              <a:ext cx="331142" cy="0"/>
            </a:xfrm>
            <a:prstGeom prst="straightConnector1">
              <a:avLst/>
            </a:prstGeom>
            <a:ln w="19050">
              <a:solidFill>
                <a:srgbClr val="00B0F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직선 화살표 연결선 87">
              <a:extLst>
                <a:ext uri="{FF2B5EF4-FFF2-40B4-BE49-F238E27FC236}">
                  <a16:creationId xmlns:a16="http://schemas.microsoft.com/office/drawing/2014/main" id="{2D4BFD55-0261-4D35-8436-AE87DF6AE6A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754034" y="2692101"/>
              <a:ext cx="331142" cy="0"/>
            </a:xfrm>
            <a:prstGeom prst="straightConnector1">
              <a:avLst/>
            </a:prstGeom>
            <a:ln w="19050">
              <a:solidFill>
                <a:srgbClr val="00B0F0"/>
              </a:solidFill>
              <a:prstDash val="sys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직선 화살표 연결선 88">
              <a:extLst>
                <a:ext uri="{FF2B5EF4-FFF2-40B4-BE49-F238E27FC236}">
                  <a16:creationId xmlns:a16="http://schemas.microsoft.com/office/drawing/2014/main" id="{7E8CEBDA-A12D-410C-A710-67183DFA6E54}"/>
                </a:ext>
              </a:extLst>
            </p:cNvPr>
            <p:cNvCxnSpPr/>
            <p:nvPr/>
          </p:nvCxnSpPr>
          <p:spPr>
            <a:xfrm>
              <a:off x="1754034" y="2878333"/>
              <a:ext cx="331142" cy="0"/>
            </a:xfrm>
            <a:prstGeom prst="straightConnector1">
              <a:avLst/>
            </a:prstGeom>
            <a:ln w="19050">
              <a:solidFill>
                <a:srgbClr val="FF0000"/>
              </a:solidFill>
              <a:prstDash val="dash"/>
              <a:tailEnd type="triangle"/>
            </a:ln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215" name="직선 화살표 연결선 214">
              <a:extLst>
                <a:ext uri="{FF2B5EF4-FFF2-40B4-BE49-F238E27FC236}">
                  <a16:creationId xmlns:a16="http://schemas.microsoft.com/office/drawing/2014/main" id="{DB929530-4441-4D25-B2DE-3F6071985A7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754034" y="2783753"/>
              <a:ext cx="331142" cy="0"/>
            </a:xfrm>
            <a:prstGeom prst="straightConnector1">
              <a:avLst/>
            </a:prstGeom>
            <a:ln w="19050">
              <a:solidFill>
                <a:srgbClr val="FF0000"/>
              </a:solidFill>
              <a:prstDash val="solid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7" name="그룹 216">
            <a:extLst>
              <a:ext uri="{FF2B5EF4-FFF2-40B4-BE49-F238E27FC236}">
                <a16:creationId xmlns:a16="http://schemas.microsoft.com/office/drawing/2014/main" id="{9145F4DF-2216-40A2-9005-469D605B072E}"/>
              </a:ext>
            </a:extLst>
          </p:cNvPr>
          <p:cNvGrpSpPr/>
          <p:nvPr/>
        </p:nvGrpSpPr>
        <p:grpSpPr>
          <a:xfrm>
            <a:off x="2403345" y="2389660"/>
            <a:ext cx="331142" cy="278595"/>
            <a:chOff x="1754034" y="2599738"/>
            <a:chExt cx="331142" cy="278595"/>
          </a:xfrm>
        </p:grpSpPr>
        <p:cxnSp>
          <p:nvCxnSpPr>
            <p:cNvPr id="218" name="직선 화살표 연결선 217">
              <a:extLst>
                <a:ext uri="{FF2B5EF4-FFF2-40B4-BE49-F238E27FC236}">
                  <a16:creationId xmlns:a16="http://schemas.microsoft.com/office/drawing/2014/main" id="{EAC81845-AE39-43FB-8C38-2C0CB37C5ACF}"/>
                </a:ext>
              </a:extLst>
            </p:cNvPr>
            <p:cNvCxnSpPr/>
            <p:nvPr/>
          </p:nvCxnSpPr>
          <p:spPr>
            <a:xfrm>
              <a:off x="1754034" y="2599738"/>
              <a:ext cx="331142" cy="0"/>
            </a:xfrm>
            <a:prstGeom prst="straightConnector1">
              <a:avLst/>
            </a:prstGeom>
            <a:ln w="19050">
              <a:solidFill>
                <a:srgbClr val="00B0F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9" name="직선 화살표 연결선 218">
              <a:extLst>
                <a:ext uri="{FF2B5EF4-FFF2-40B4-BE49-F238E27FC236}">
                  <a16:creationId xmlns:a16="http://schemas.microsoft.com/office/drawing/2014/main" id="{A19192E1-B4B2-43A9-9733-A795731AC5C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754034" y="2692101"/>
              <a:ext cx="331142" cy="0"/>
            </a:xfrm>
            <a:prstGeom prst="straightConnector1">
              <a:avLst/>
            </a:prstGeom>
            <a:ln w="19050">
              <a:solidFill>
                <a:srgbClr val="00B0F0"/>
              </a:solidFill>
              <a:prstDash val="sys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0" name="직선 화살표 연결선 219">
              <a:extLst>
                <a:ext uri="{FF2B5EF4-FFF2-40B4-BE49-F238E27FC236}">
                  <a16:creationId xmlns:a16="http://schemas.microsoft.com/office/drawing/2014/main" id="{01A2C70D-36A2-4AE2-9338-4B318EE10001}"/>
                </a:ext>
              </a:extLst>
            </p:cNvPr>
            <p:cNvCxnSpPr/>
            <p:nvPr/>
          </p:nvCxnSpPr>
          <p:spPr>
            <a:xfrm>
              <a:off x="1754034" y="2878333"/>
              <a:ext cx="331142" cy="0"/>
            </a:xfrm>
            <a:prstGeom prst="straightConnector1">
              <a:avLst/>
            </a:prstGeom>
            <a:ln w="19050">
              <a:solidFill>
                <a:srgbClr val="FF0000"/>
              </a:solidFill>
              <a:prstDash val="dash"/>
              <a:tailEnd type="triangle"/>
            </a:ln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221" name="직선 화살표 연결선 220">
              <a:extLst>
                <a:ext uri="{FF2B5EF4-FFF2-40B4-BE49-F238E27FC236}">
                  <a16:creationId xmlns:a16="http://schemas.microsoft.com/office/drawing/2014/main" id="{83A125DE-7055-4B6C-B7C9-9C780EAC39A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754034" y="2783753"/>
              <a:ext cx="331142" cy="0"/>
            </a:xfrm>
            <a:prstGeom prst="straightConnector1">
              <a:avLst/>
            </a:prstGeom>
            <a:ln w="19050">
              <a:solidFill>
                <a:srgbClr val="FF0000"/>
              </a:solidFill>
              <a:prstDash val="solid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22" name="그룹 221">
            <a:extLst>
              <a:ext uri="{FF2B5EF4-FFF2-40B4-BE49-F238E27FC236}">
                <a16:creationId xmlns:a16="http://schemas.microsoft.com/office/drawing/2014/main" id="{03046967-7E41-4625-B0A5-1E49AC72AB6E}"/>
              </a:ext>
            </a:extLst>
          </p:cNvPr>
          <p:cNvGrpSpPr/>
          <p:nvPr/>
        </p:nvGrpSpPr>
        <p:grpSpPr>
          <a:xfrm>
            <a:off x="3300837" y="2389660"/>
            <a:ext cx="331142" cy="278595"/>
            <a:chOff x="1754034" y="2599738"/>
            <a:chExt cx="331142" cy="278595"/>
          </a:xfrm>
        </p:grpSpPr>
        <p:cxnSp>
          <p:nvCxnSpPr>
            <p:cNvPr id="223" name="직선 화살표 연결선 222">
              <a:extLst>
                <a:ext uri="{FF2B5EF4-FFF2-40B4-BE49-F238E27FC236}">
                  <a16:creationId xmlns:a16="http://schemas.microsoft.com/office/drawing/2014/main" id="{27279BDB-4852-4096-9FEB-F637D2A74E4D}"/>
                </a:ext>
              </a:extLst>
            </p:cNvPr>
            <p:cNvCxnSpPr/>
            <p:nvPr/>
          </p:nvCxnSpPr>
          <p:spPr>
            <a:xfrm>
              <a:off x="1754034" y="2599738"/>
              <a:ext cx="331142" cy="0"/>
            </a:xfrm>
            <a:prstGeom prst="straightConnector1">
              <a:avLst/>
            </a:prstGeom>
            <a:ln w="19050">
              <a:solidFill>
                <a:srgbClr val="00B0F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4" name="직선 화살표 연결선 223">
              <a:extLst>
                <a:ext uri="{FF2B5EF4-FFF2-40B4-BE49-F238E27FC236}">
                  <a16:creationId xmlns:a16="http://schemas.microsoft.com/office/drawing/2014/main" id="{17077339-86B4-45F3-AEB3-32B99C52438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754034" y="2692101"/>
              <a:ext cx="331142" cy="0"/>
            </a:xfrm>
            <a:prstGeom prst="straightConnector1">
              <a:avLst/>
            </a:prstGeom>
            <a:ln w="19050">
              <a:solidFill>
                <a:srgbClr val="00B0F0"/>
              </a:solidFill>
              <a:prstDash val="sys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5" name="직선 화살표 연결선 224">
              <a:extLst>
                <a:ext uri="{FF2B5EF4-FFF2-40B4-BE49-F238E27FC236}">
                  <a16:creationId xmlns:a16="http://schemas.microsoft.com/office/drawing/2014/main" id="{A9213BC8-4418-4202-ABC3-A5932A6BB1C9}"/>
                </a:ext>
              </a:extLst>
            </p:cNvPr>
            <p:cNvCxnSpPr/>
            <p:nvPr/>
          </p:nvCxnSpPr>
          <p:spPr>
            <a:xfrm>
              <a:off x="1754034" y="2878333"/>
              <a:ext cx="331142" cy="0"/>
            </a:xfrm>
            <a:prstGeom prst="straightConnector1">
              <a:avLst/>
            </a:prstGeom>
            <a:ln w="19050">
              <a:solidFill>
                <a:srgbClr val="FF0000"/>
              </a:solidFill>
              <a:prstDash val="dash"/>
              <a:tailEnd type="triangle"/>
            </a:ln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226" name="직선 화살표 연결선 225">
              <a:extLst>
                <a:ext uri="{FF2B5EF4-FFF2-40B4-BE49-F238E27FC236}">
                  <a16:creationId xmlns:a16="http://schemas.microsoft.com/office/drawing/2014/main" id="{3D346008-ECF1-43C6-90F7-0F403E8D6FE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754034" y="2783753"/>
              <a:ext cx="331142" cy="0"/>
            </a:xfrm>
            <a:prstGeom prst="straightConnector1">
              <a:avLst/>
            </a:prstGeom>
            <a:ln w="19050">
              <a:solidFill>
                <a:srgbClr val="FF0000"/>
              </a:solidFill>
              <a:prstDash val="solid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27" name="그룹 226">
            <a:extLst>
              <a:ext uri="{FF2B5EF4-FFF2-40B4-BE49-F238E27FC236}">
                <a16:creationId xmlns:a16="http://schemas.microsoft.com/office/drawing/2014/main" id="{BDCDFF7F-6AC3-49B5-91BB-E9E747A07934}"/>
              </a:ext>
            </a:extLst>
          </p:cNvPr>
          <p:cNvGrpSpPr/>
          <p:nvPr/>
        </p:nvGrpSpPr>
        <p:grpSpPr>
          <a:xfrm>
            <a:off x="4162067" y="2389660"/>
            <a:ext cx="331142" cy="278595"/>
            <a:chOff x="1754034" y="2599738"/>
            <a:chExt cx="331142" cy="278595"/>
          </a:xfrm>
        </p:grpSpPr>
        <p:cxnSp>
          <p:nvCxnSpPr>
            <p:cNvPr id="228" name="직선 화살표 연결선 227">
              <a:extLst>
                <a:ext uri="{FF2B5EF4-FFF2-40B4-BE49-F238E27FC236}">
                  <a16:creationId xmlns:a16="http://schemas.microsoft.com/office/drawing/2014/main" id="{E83FDBE4-776E-4166-994C-9FDAF1D651DE}"/>
                </a:ext>
              </a:extLst>
            </p:cNvPr>
            <p:cNvCxnSpPr/>
            <p:nvPr/>
          </p:nvCxnSpPr>
          <p:spPr>
            <a:xfrm>
              <a:off x="1754034" y="2599738"/>
              <a:ext cx="331142" cy="0"/>
            </a:xfrm>
            <a:prstGeom prst="straightConnector1">
              <a:avLst/>
            </a:prstGeom>
            <a:ln w="19050">
              <a:solidFill>
                <a:srgbClr val="00B0F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9" name="직선 화살표 연결선 228">
              <a:extLst>
                <a:ext uri="{FF2B5EF4-FFF2-40B4-BE49-F238E27FC236}">
                  <a16:creationId xmlns:a16="http://schemas.microsoft.com/office/drawing/2014/main" id="{7385D2B6-EE2B-43AB-A0E1-EDB7979CD87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754034" y="2692101"/>
              <a:ext cx="331142" cy="0"/>
            </a:xfrm>
            <a:prstGeom prst="straightConnector1">
              <a:avLst/>
            </a:prstGeom>
            <a:ln w="19050">
              <a:solidFill>
                <a:srgbClr val="00B0F0"/>
              </a:solidFill>
              <a:prstDash val="sys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0" name="직선 화살표 연결선 229">
              <a:extLst>
                <a:ext uri="{FF2B5EF4-FFF2-40B4-BE49-F238E27FC236}">
                  <a16:creationId xmlns:a16="http://schemas.microsoft.com/office/drawing/2014/main" id="{B28D2690-81B0-46E2-9555-9F7B7396E3FF}"/>
                </a:ext>
              </a:extLst>
            </p:cNvPr>
            <p:cNvCxnSpPr/>
            <p:nvPr/>
          </p:nvCxnSpPr>
          <p:spPr>
            <a:xfrm>
              <a:off x="1754034" y="2878333"/>
              <a:ext cx="331142" cy="0"/>
            </a:xfrm>
            <a:prstGeom prst="straightConnector1">
              <a:avLst/>
            </a:prstGeom>
            <a:ln w="19050">
              <a:solidFill>
                <a:srgbClr val="FF0000"/>
              </a:solidFill>
              <a:prstDash val="dash"/>
              <a:tailEnd type="triangle"/>
            </a:ln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231" name="직선 화살표 연결선 230">
              <a:extLst>
                <a:ext uri="{FF2B5EF4-FFF2-40B4-BE49-F238E27FC236}">
                  <a16:creationId xmlns:a16="http://schemas.microsoft.com/office/drawing/2014/main" id="{43BE6508-F83F-4FE1-9FC7-C8767AFDA11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754034" y="2783753"/>
              <a:ext cx="331142" cy="0"/>
            </a:xfrm>
            <a:prstGeom prst="straightConnector1">
              <a:avLst/>
            </a:prstGeom>
            <a:ln w="19050">
              <a:solidFill>
                <a:srgbClr val="FF0000"/>
              </a:solidFill>
              <a:prstDash val="solid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37" name="그룹 236">
            <a:extLst>
              <a:ext uri="{FF2B5EF4-FFF2-40B4-BE49-F238E27FC236}">
                <a16:creationId xmlns:a16="http://schemas.microsoft.com/office/drawing/2014/main" id="{90079A86-8622-469E-B1E0-E9EC2921A6D2}"/>
              </a:ext>
            </a:extLst>
          </p:cNvPr>
          <p:cNvGrpSpPr/>
          <p:nvPr/>
        </p:nvGrpSpPr>
        <p:grpSpPr>
          <a:xfrm>
            <a:off x="2119553" y="4783752"/>
            <a:ext cx="1512426" cy="389402"/>
            <a:chOff x="2418558" y="3715902"/>
            <a:chExt cx="1512426" cy="389402"/>
          </a:xfrm>
        </p:grpSpPr>
        <p:sp>
          <p:nvSpPr>
            <p:cNvPr id="113" name="TextBox 16">
              <a:extLst>
                <a:ext uri="{FF2B5EF4-FFF2-40B4-BE49-F238E27FC236}">
                  <a16:creationId xmlns:a16="http://schemas.microsoft.com/office/drawing/2014/main" id="{D8843C28-58B3-4197-99FC-CA5368F2B8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53277" y="3715902"/>
              <a:ext cx="1177707" cy="3894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rIns="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marL="0" marR="0" lvl="0" indent="0" defTabSz="914400" rtl="0" eaLnBrk="1" fontAlgn="base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900" b="0" i="0" u="none" strike="noStrike" kern="1200" cap="none" spc="0" normalizeH="0" baseline="0" noProof="0" dirty="0">
                  <a:ln>
                    <a:noFill/>
                  </a:ln>
                  <a:solidFill>
                    <a:srgbClr val="00B0F0"/>
                  </a:solidFill>
                  <a:effectLst/>
                  <a:uLnTx/>
                  <a:uFillTx/>
                  <a:latin typeface="+mn-ea"/>
                  <a:cs typeface="Arial" panose="020B0604020202020204" pitchFamily="34" charset="0"/>
                </a:rPr>
                <a:t>External Host Request</a:t>
              </a:r>
            </a:p>
            <a:p>
              <a:pPr marL="0" marR="0" lvl="0" indent="0" defTabSz="914400" rtl="0" eaLnBrk="1" fontAlgn="base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en-US" sz="900" dirty="0">
                  <a:solidFill>
                    <a:srgbClr val="00B0F0"/>
                  </a:solidFill>
                  <a:latin typeface="+mn-ea"/>
                  <a:cs typeface="Arial" panose="020B0604020202020204" pitchFamily="34" charset="0"/>
                </a:rPr>
                <a:t>Instance Response</a:t>
              </a:r>
            </a:p>
          </p:txBody>
        </p:sp>
        <p:cxnSp>
          <p:nvCxnSpPr>
            <p:cNvPr id="233" name="직선 화살표 연결선 232">
              <a:extLst>
                <a:ext uri="{FF2B5EF4-FFF2-40B4-BE49-F238E27FC236}">
                  <a16:creationId xmlns:a16="http://schemas.microsoft.com/office/drawing/2014/main" id="{2698C12A-5726-454B-83AB-DC5D7442047B}"/>
                </a:ext>
              </a:extLst>
            </p:cNvPr>
            <p:cNvCxnSpPr/>
            <p:nvPr/>
          </p:nvCxnSpPr>
          <p:spPr>
            <a:xfrm>
              <a:off x="2418558" y="3850127"/>
              <a:ext cx="283792" cy="0"/>
            </a:xfrm>
            <a:prstGeom prst="straightConnector1">
              <a:avLst/>
            </a:prstGeom>
            <a:ln w="19050">
              <a:solidFill>
                <a:srgbClr val="00B0F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4" name="직선 화살표 연결선 233">
              <a:extLst>
                <a:ext uri="{FF2B5EF4-FFF2-40B4-BE49-F238E27FC236}">
                  <a16:creationId xmlns:a16="http://schemas.microsoft.com/office/drawing/2014/main" id="{07DFF293-07C7-43C7-95A7-90D7B163D5C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418558" y="3996285"/>
              <a:ext cx="283792" cy="0"/>
            </a:xfrm>
            <a:prstGeom prst="straightConnector1">
              <a:avLst/>
            </a:prstGeom>
            <a:ln w="19050">
              <a:solidFill>
                <a:srgbClr val="00B0F0"/>
              </a:solidFill>
              <a:prstDash val="sys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6" name="그룹 105">
            <a:extLst>
              <a:ext uri="{FF2B5EF4-FFF2-40B4-BE49-F238E27FC236}">
                <a16:creationId xmlns:a16="http://schemas.microsoft.com/office/drawing/2014/main" id="{E6F629A9-58F8-4F1F-BD4F-85719F8E816A}"/>
              </a:ext>
            </a:extLst>
          </p:cNvPr>
          <p:cNvGrpSpPr/>
          <p:nvPr/>
        </p:nvGrpSpPr>
        <p:grpSpPr>
          <a:xfrm>
            <a:off x="4632462" y="3754609"/>
            <a:ext cx="1234766" cy="703421"/>
            <a:chOff x="3959051" y="2716930"/>
            <a:chExt cx="1234766" cy="703421"/>
          </a:xfrm>
        </p:grpSpPr>
        <p:pic>
          <p:nvPicPr>
            <p:cNvPr id="107" name="Graphic 75" descr="NAT gateway resource icon for the Amazon VPC service.&#10;">
              <a:extLst>
                <a:ext uri="{FF2B5EF4-FFF2-40B4-BE49-F238E27FC236}">
                  <a16:creationId xmlns:a16="http://schemas.microsoft.com/office/drawing/2014/main" id="{E8668E2D-AC86-4F93-9482-44864F9F3743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4355307" y="2716930"/>
              <a:ext cx="457200" cy="457200"/>
            </a:xfrm>
            <a:prstGeom prst="rect">
              <a:avLst/>
            </a:prstGeom>
          </p:spPr>
        </p:pic>
        <p:sp>
          <p:nvSpPr>
            <p:cNvPr id="108" name="TextBox 17">
              <a:extLst>
                <a:ext uri="{FF2B5EF4-FFF2-40B4-BE49-F238E27FC236}">
                  <a16:creationId xmlns:a16="http://schemas.microsoft.com/office/drawing/2014/main" id="{74419F5B-BFF4-4CFF-872D-3A7762232E8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59051" y="3174130"/>
              <a:ext cx="1234766" cy="2462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Amazon Ember" panose="020B0603020204020204" pitchFamily="34" charset="0"/>
                  <a:cs typeface="Arial" panose="020B0604020202020204" pitchFamily="34" charset="0"/>
                </a:rPr>
                <a:t>NAT Gateway</a:t>
              </a:r>
            </a:p>
          </p:txBody>
        </p:sp>
      </p:grpSp>
      <p:grpSp>
        <p:nvGrpSpPr>
          <p:cNvPr id="110" name="그룹 109">
            <a:extLst>
              <a:ext uri="{FF2B5EF4-FFF2-40B4-BE49-F238E27FC236}">
                <a16:creationId xmlns:a16="http://schemas.microsoft.com/office/drawing/2014/main" id="{527F5F03-DB26-4344-9B7A-26508D4547D8}"/>
              </a:ext>
            </a:extLst>
          </p:cNvPr>
          <p:cNvGrpSpPr/>
          <p:nvPr/>
        </p:nvGrpSpPr>
        <p:grpSpPr>
          <a:xfrm>
            <a:off x="8077484" y="2343267"/>
            <a:ext cx="788342" cy="703421"/>
            <a:chOff x="7029643" y="2412493"/>
            <a:chExt cx="788342" cy="703421"/>
          </a:xfrm>
        </p:grpSpPr>
        <p:pic>
          <p:nvPicPr>
            <p:cNvPr id="111" name="Graphic 60">
              <a:extLst>
                <a:ext uri="{FF2B5EF4-FFF2-40B4-BE49-F238E27FC236}">
                  <a16:creationId xmlns:a16="http://schemas.microsoft.com/office/drawing/2014/main" id="{169B2AC1-6041-454B-AC46-6A92FF83F4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rcRect/>
            <a:stretch/>
          </p:blipFill>
          <p:spPr bwMode="auto">
            <a:xfrm>
              <a:off x="7195214" y="2412493"/>
              <a:ext cx="45720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12" name="TextBox 16">
              <a:extLst>
                <a:ext uri="{FF2B5EF4-FFF2-40B4-BE49-F238E27FC236}">
                  <a16:creationId xmlns:a16="http://schemas.microsoft.com/office/drawing/2014/main" id="{013B8A27-CC28-454D-B793-F7DFFB2870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029643" y="2869693"/>
              <a:ext cx="788342" cy="2462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rIns="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en-US" sz="1000" dirty="0">
                  <a:latin typeface="Arial" panose="020B0604020202020204" pitchFamily="34" charset="0"/>
                  <a:ea typeface="Amazon Ember" panose="020B0603020204020204" pitchFamily="34" charset="0"/>
                  <a:cs typeface="Arial" panose="020B0604020202020204" pitchFamily="34" charset="0"/>
                </a:rPr>
                <a:t>Web Instance</a:t>
              </a:r>
              <a:endParaRPr kumimoji="0" lang="en-US" altLang="en-US" sz="1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114" name="직사각형 113">
            <a:extLst>
              <a:ext uri="{FF2B5EF4-FFF2-40B4-BE49-F238E27FC236}">
                <a16:creationId xmlns:a16="http://schemas.microsoft.com/office/drawing/2014/main" id="{FB01E882-E1D0-4461-8E0B-FD46BC1982C8}"/>
              </a:ext>
            </a:extLst>
          </p:cNvPr>
          <p:cNvSpPr/>
          <p:nvPr/>
        </p:nvSpPr>
        <p:spPr>
          <a:xfrm>
            <a:off x="7857908" y="2098241"/>
            <a:ext cx="1224059" cy="1187669"/>
          </a:xfrm>
          <a:prstGeom prst="rect">
            <a:avLst/>
          </a:prstGeom>
          <a:noFill/>
          <a:ln>
            <a:solidFill>
              <a:srgbClr val="00B0F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/>
          </a:p>
        </p:txBody>
      </p:sp>
      <p:sp>
        <p:nvSpPr>
          <p:cNvPr id="115" name="TextBox 12">
            <a:extLst>
              <a:ext uri="{FF2B5EF4-FFF2-40B4-BE49-F238E27FC236}">
                <a16:creationId xmlns:a16="http://schemas.microsoft.com/office/drawing/2014/main" id="{58779D1B-BAA2-4BE7-A8A0-F8D00436895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74938" y="2103422"/>
            <a:ext cx="1403350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Security Group</a:t>
            </a:r>
          </a:p>
        </p:txBody>
      </p:sp>
      <p:grpSp>
        <p:nvGrpSpPr>
          <p:cNvPr id="119" name="그룹 118">
            <a:extLst>
              <a:ext uri="{FF2B5EF4-FFF2-40B4-BE49-F238E27FC236}">
                <a16:creationId xmlns:a16="http://schemas.microsoft.com/office/drawing/2014/main" id="{BB4EF1A5-FF44-4250-B2AE-87BEB206A6FD}"/>
              </a:ext>
            </a:extLst>
          </p:cNvPr>
          <p:cNvGrpSpPr/>
          <p:nvPr/>
        </p:nvGrpSpPr>
        <p:grpSpPr>
          <a:xfrm>
            <a:off x="8085905" y="3754609"/>
            <a:ext cx="788342" cy="703421"/>
            <a:chOff x="5473229" y="2412493"/>
            <a:chExt cx="788342" cy="703421"/>
          </a:xfrm>
        </p:grpSpPr>
        <p:pic>
          <p:nvPicPr>
            <p:cNvPr id="120" name="Graphic 81" descr="Network access control list resource icon for the Amazon VPC service.&#10;">
              <a:extLst>
                <a:ext uri="{FF2B5EF4-FFF2-40B4-BE49-F238E27FC236}">
                  <a16:creationId xmlns:a16="http://schemas.microsoft.com/office/drawing/2014/main" id="{E65E3E25-AA68-4DA8-AA8D-CDEA14CF7221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5638800" y="2412493"/>
              <a:ext cx="457200" cy="457200"/>
            </a:xfrm>
            <a:prstGeom prst="rect">
              <a:avLst/>
            </a:prstGeom>
          </p:spPr>
        </p:pic>
        <p:sp>
          <p:nvSpPr>
            <p:cNvPr id="121" name="TextBox 16">
              <a:extLst>
                <a:ext uri="{FF2B5EF4-FFF2-40B4-BE49-F238E27FC236}">
                  <a16:creationId xmlns:a16="http://schemas.microsoft.com/office/drawing/2014/main" id="{756B34F6-4412-4674-B863-B978844BF8B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473229" y="2869693"/>
              <a:ext cx="788342" cy="2462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rIns="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000" b="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Arial" panose="020B0604020202020204" pitchFamily="34" charset="0"/>
                  <a:ea typeface="Amazon Ember" panose="020B0603020204020204" pitchFamily="34" charset="0"/>
                  <a:cs typeface="Arial" panose="020B0604020202020204" pitchFamily="34" charset="0"/>
                </a:rPr>
                <a:t>Private</a:t>
              </a:r>
              <a:r>
                <a:rPr kumimoji="0" lang="ko-KR" altLang="en-US" sz="1000" b="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Arial" panose="020B0604020202020204" pitchFamily="34" charset="0"/>
                  <a:ea typeface="Amazon Ember" panose="020B0603020204020204" pitchFamily="34" charset="0"/>
                  <a:cs typeface="Arial" panose="020B0604020202020204" pitchFamily="34" charset="0"/>
                </a:rPr>
                <a:t> </a:t>
              </a:r>
              <a:r>
                <a:rPr kumimoji="0" lang="en-US" altLang="en-US" sz="1000" b="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Arial" panose="020B0604020202020204" pitchFamily="34" charset="0"/>
                  <a:ea typeface="Amazon Ember" panose="020B0603020204020204" pitchFamily="34" charset="0"/>
                  <a:cs typeface="Arial" panose="020B0604020202020204" pitchFamily="34" charset="0"/>
                </a:rPr>
                <a:t>NACL</a:t>
              </a:r>
            </a:p>
          </p:txBody>
        </p:sp>
      </p:grpSp>
      <p:grpSp>
        <p:nvGrpSpPr>
          <p:cNvPr id="5" name="그룹 4">
            <a:extLst>
              <a:ext uri="{FF2B5EF4-FFF2-40B4-BE49-F238E27FC236}">
                <a16:creationId xmlns:a16="http://schemas.microsoft.com/office/drawing/2014/main" id="{6762CF11-0679-46A5-B6C4-59954554D30B}"/>
              </a:ext>
            </a:extLst>
          </p:cNvPr>
          <p:cNvGrpSpPr/>
          <p:nvPr/>
        </p:nvGrpSpPr>
        <p:grpSpPr>
          <a:xfrm>
            <a:off x="7171853" y="3935919"/>
            <a:ext cx="1030026" cy="94580"/>
            <a:chOff x="2373266" y="3150254"/>
            <a:chExt cx="331142" cy="94580"/>
          </a:xfrm>
        </p:grpSpPr>
        <p:cxnSp>
          <p:nvCxnSpPr>
            <p:cNvPr id="122" name="직선 화살표 연결선 121">
              <a:extLst>
                <a:ext uri="{FF2B5EF4-FFF2-40B4-BE49-F238E27FC236}">
                  <a16:creationId xmlns:a16="http://schemas.microsoft.com/office/drawing/2014/main" id="{F7ED8FFD-5355-400A-8ED8-B820BAE1F128}"/>
                </a:ext>
              </a:extLst>
            </p:cNvPr>
            <p:cNvCxnSpPr/>
            <p:nvPr/>
          </p:nvCxnSpPr>
          <p:spPr>
            <a:xfrm>
              <a:off x="2373266" y="3244834"/>
              <a:ext cx="331142" cy="0"/>
            </a:xfrm>
            <a:prstGeom prst="straightConnector1">
              <a:avLst/>
            </a:prstGeom>
            <a:ln w="19050">
              <a:solidFill>
                <a:srgbClr val="FF0000"/>
              </a:solidFill>
              <a:prstDash val="dash"/>
              <a:tailEnd type="triangle"/>
            </a:ln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123" name="직선 화살표 연결선 122">
              <a:extLst>
                <a:ext uri="{FF2B5EF4-FFF2-40B4-BE49-F238E27FC236}">
                  <a16:creationId xmlns:a16="http://schemas.microsoft.com/office/drawing/2014/main" id="{72D1F071-EECB-4620-9427-1AA4E9ED0F2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373266" y="3150254"/>
              <a:ext cx="331142" cy="0"/>
            </a:xfrm>
            <a:prstGeom prst="straightConnector1">
              <a:avLst/>
            </a:prstGeom>
            <a:ln w="19050">
              <a:solidFill>
                <a:srgbClr val="FF0000"/>
              </a:solidFill>
              <a:prstDash val="solid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24" name="그룹 123">
            <a:extLst>
              <a:ext uri="{FF2B5EF4-FFF2-40B4-BE49-F238E27FC236}">
                <a16:creationId xmlns:a16="http://schemas.microsoft.com/office/drawing/2014/main" id="{66462966-7415-49A1-8C14-4EF8FE86D22F}"/>
              </a:ext>
            </a:extLst>
          </p:cNvPr>
          <p:cNvGrpSpPr/>
          <p:nvPr/>
        </p:nvGrpSpPr>
        <p:grpSpPr>
          <a:xfrm>
            <a:off x="5550021" y="3935919"/>
            <a:ext cx="1043520" cy="94580"/>
            <a:chOff x="2373266" y="3150254"/>
            <a:chExt cx="331142" cy="94580"/>
          </a:xfrm>
        </p:grpSpPr>
        <p:cxnSp>
          <p:nvCxnSpPr>
            <p:cNvPr id="125" name="직선 화살표 연결선 124">
              <a:extLst>
                <a:ext uri="{FF2B5EF4-FFF2-40B4-BE49-F238E27FC236}">
                  <a16:creationId xmlns:a16="http://schemas.microsoft.com/office/drawing/2014/main" id="{A7793DC0-4DFC-40DC-8CD1-337F80B05199}"/>
                </a:ext>
              </a:extLst>
            </p:cNvPr>
            <p:cNvCxnSpPr/>
            <p:nvPr/>
          </p:nvCxnSpPr>
          <p:spPr>
            <a:xfrm>
              <a:off x="2373266" y="3244834"/>
              <a:ext cx="331142" cy="0"/>
            </a:xfrm>
            <a:prstGeom prst="straightConnector1">
              <a:avLst/>
            </a:prstGeom>
            <a:ln w="19050">
              <a:solidFill>
                <a:srgbClr val="FF0000"/>
              </a:solidFill>
              <a:prstDash val="dash"/>
              <a:tailEnd type="triangle"/>
            </a:ln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126" name="직선 화살표 연결선 125">
              <a:extLst>
                <a:ext uri="{FF2B5EF4-FFF2-40B4-BE49-F238E27FC236}">
                  <a16:creationId xmlns:a16="http://schemas.microsoft.com/office/drawing/2014/main" id="{E9C74957-C42C-447F-A5DB-501565CEA53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373266" y="3150254"/>
              <a:ext cx="331142" cy="0"/>
            </a:xfrm>
            <a:prstGeom prst="straightConnector1">
              <a:avLst/>
            </a:prstGeom>
            <a:ln w="19050">
              <a:solidFill>
                <a:srgbClr val="FF0000"/>
              </a:solidFill>
              <a:prstDash val="solid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27" name="그룹 126">
            <a:extLst>
              <a:ext uri="{FF2B5EF4-FFF2-40B4-BE49-F238E27FC236}">
                <a16:creationId xmlns:a16="http://schemas.microsoft.com/office/drawing/2014/main" id="{8B92E6FF-7D4E-45E8-88BF-BD978D3F0BD8}"/>
              </a:ext>
            </a:extLst>
          </p:cNvPr>
          <p:cNvGrpSpPr/>
          <p:nvPr/>
        </p:nvGrpSpPr>
        <p:grpSpPr>
          <a:xfrm rot="16200000">
            <a:off x="8344765" y="3565947"/>
            <a:ext cx="263696" cy="94580"/>
            <a:chOff x="2373266" y="3150254"/>
            <a:chExt cx="331142" cy="94580"/>
          </a:xfrm>
        </p:grpSpPr>
        <p:cxnSp>
          <p:nvCxnSpPr>
            <p:cNvPr id="128" name="직선 화살표 연결선 127">
              <a:extLst>
                <a:ext uri="{FF2B5EF4-FFF2-40B4-BE49-F238E27FC236}">
                  <a16:creationId xmlns:a16="http://schemas.microsoft.com/office/drawing/2014/main" id="{1EA59E5E-B3D4-4941-90DC-DED5EB2A01B1}"/>
                </a:ext>
              </a:extLst>
            </p:cNvPr>
            <p:cNvCxnSpPr/>
            <p:nvPr/>
          </p:nvCxnSpPr>
          <p:spPr>
            <a:xfrm>
              <a:off x="2373266" y="3244834"/>
              <a:ext cx="331142" cy="0"/>
            </a:xfrm>
            <a:prstGeom prst="straightConnector1">
              <a:avLst/>
            </a:prstGeom>
            <a:ln w="19050">
              <a:solidFill>
                <a:srgbClr val="FF0000"/>
              </a:solidFill>
              <a:prstDash val="sysDash"/>
              <a:tailEnd type="triangle"/>
            </a:ln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129" name="직선 화살표 연결선 128">
              <a:extLst>
                <a:ext uri="{FF2B5EF4-FFF2-40B4-BE49-F238E27FC236}">
                  <a16:creationId xmlns:a16="http://schemas.microsoft.com/office/drawing/2014/main" id="{520095D1-40F2-45AC-93DF-3110CB27F19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373266" y="3150254"/>
              <a:ext cx="331142" cy="0"/>
            </a:xfrm>
            <a:prstGeom prst="straightConnector1">
              <a:avLst/>
            </a:prstGeom>
            <a:ln w="19050">
              <a:solidFill>
                <a:srgbClr val="FF0000"/>
              </a:solidFill>
              <a:prstDash val="solid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30" name="Freeform 62" descr="Ninety degree arrow pointing down to the left.">
            <a:extLst>
              <a:ext uri="{FF2B5EF4-FFF2-40B4-BE49-F238E27FC236}">
                <a16:creationId xmlns:a16="http://schemas.microsoft.com/office/drawing/2014/main" id="{E826B317-BA84-4428-B5B1-AF8F21FF33BC}"/>
              </a:ext>
            </a:extLst>
          </p:cNvPr>
          <p:cNvSpPr/>
          <p:nvPr/>
        </p:nvSpPr>
        <p:spPr>
          <a:xfrm rot="16200000" flipH="1">
            <a:off x="3036480" y="2084339"/>
            <a:ext cx="925899" cy="2759753"/>
          </a:xfrm>
          <a:custGeom>
            <a:avLst/>
            <a:gdLst>
              <a:gd name="connsiteX0" fmla="*/ 1371600 w 1371600"/>
              <a:gd name="connsiteY0" fmla="*/ 711200 h 711200"/>
              <a:gd name="connsiteX1" fmla="*/ 1371600 w 1371600"/>
              <a:gd name="connsiteY1" fmla="*/ 0 h 711200"/>
              <a:gd name="connsiteX2" fmla="*/ 0 w 1371600"/>
              <a:gd name="connsiteY2" fmla="*/ 0 h 711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371600" h="711200">
                <a:moveTo>
                  <a:pt x="1371600" y="711200"/>
                </a:moveTo>
                <a:lnTo>
                  <a:pt x="1371600" y="0"/>
                </a:lnTo>
                <a:lnTo>
                  <a:pt x="0" y="0"/>
                </a:lnTo>
              </a:path>
            </a:pathLst>
          </a:custGeom>
          <a:noFill/>
          <a:ln w="19050">
            <a:solidFill>
              <a:srgbClr val="FF0000"/>
            </a:solidFill>
            <a:headEnd type="none" w="med" len="sm"/>
            <a:tailEnd type="arrow" w="med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31" name="Freeform 62" descr="Ninety degree arrow pointing down to the left.">
            <a:extLst>
              <a:ext uri="{FF2B5EF4-FFF2-40B4-BE49-F238E27FC236}">
                <a16:creationId xmlns:a16="http://schemas.microsoft.com/office/drawing/2014/main" id="{7931BD19-7BCA-4B7C-AFB4-205A513D4E15}"/>
              </a:ext>
            </a:extLst>
          </p:cNvPr>
          <p:cNvSpPr/>
          <p:nvPr/>
        </p:nvSpPr>
        <p:spPr>
          <a:xfrm rot="16200000" flipH="1">
            <a:off x="2949084" y="2098037"/>
            <a:ext cx="1026994" cy="2833451"/>
          </a:xfrm>
          <a:custGeom>
            <a:avLst/>
            <a:gdLst>
              <a:gd name="connsiteX0" fmla="*/ 1371600 w 1371600"/>
              <a:gd name="connsiteY0" fmla="*/ 711200 h 711200"/>
              <a:gd name="connsiteX1" fmla="*/ 1371600 w 1371600"/>
              <a:gd name="connsiteY1" fmla="*/ 0 h 711200"/>
              <a:gd name="connsiteX2" fmla="*/ 0 w 1371600"/>
              <a:gd name="connsiteY2" fmla="*/ 0 h 711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371600" h="711200">
                <a:moveTo>
                  <a:pt x="1371600" y="711200"/>
                </a:moveTo>
                <a:lnTo>
                  <a:pt x="1371600" y="0"/>
                </a:lnTo>
                <a:lnTo>
                  <a:pt x="0" y="0"/>
                </a:lnTo>
              </a:path>
            </a:pathLst>
          </a:custGeom>
          <a:noFill/>
          <a:ln w="19050">
            <a:solidFill>
              <a:srgbClr val="FF0000"/>
            </a:solidFill>
            <a:prstDash val="dash"/>
            <a:headEnd type="triangle" w="med" len="sm"/>
            <a:tailEnd type="none" w="med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grpSp>
        <p:nvGrpSpPr>
          <p:cNvPr id="132" name="그룹 131">
            <a:extLst>
              <a:ext uri="{FF2B5EF4-FFF2-40B4-BE49-F238E27FC236}">
                <a16:creationId xmlns:a16="http://schemas.microsoft.com/office/drawing/2014/main" id="{663D807B-EF92-4524-92CA-040208FEA314}"/>
              </a:ext>
            </a:extLst>
          </p:cNvPr>
          <p:cNvGrpSpPr/>
          <p:nvPr/>
        </p:nvGrpSpPr>
        <p:grpSpPr>
          <a:xfrm>
            <a:off x="3562054" y="4783752"/>
            <a:ext cx="1466664" cy="389402"/>
            <a:chOff x="2551908" y="3715902"/>
            <a:chExt cx="1466664" cy="389402"/>
          </a:xfrm>
        </p:grpSpPr>
        <p:sp>
          <p:nvSpPr>
            <p:cNvPr id="133" name="TextBox 16">
              <a:extLst>
                <a:ext uri="{FF2B5EF4-FFF2-40B4-BE49-F238E27FC236}">
                  <a16:creationId xmlns:a16="http://schemas.microsoft.com/office/drawing/2014/main" id="{836C9836-DEF9-4330-A743-C6AC675DA7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86627" y="3715902"/>
              <a:ext cx="1131945" cy="3894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rIns="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marL="0" marR="0" lvl="0" indent="0" defTabSz="914400" rtl="0" eaLnBrk="1" fontAlgn="base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en-US" sz="900" dirty="0">
                  <a:solidFill>
                    <a:srgbClr val="FF0000"/>
                  </a:solidFill>
                  <a:latin typeface="+mn-ea"/>
                  <a:cs typeface="Arial" panose="020B0604020202020204" pitchFamily="34" charset="0"/>
                </a:rPr>
                <a:t>Instance Request</a:t>
              </a:r>
            </a:p>
            <a:p>
              <a:pPr marL="0" marR="0" lvl="0" indent="0" defTabSz="914400" rtl="0" eaLnBrk="1" fontAlgn="base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en-US" sz="900" dirty="0">
                  <a:solidFill>
                    <a:srgbClr val="FF0000"/>
                  </a:solidFill>
                  <a:latin typeface="+mn-ea"/>
                  <a:cs typeface="Arial" panose="020B0604020202020204" pitchFamily="34" charset="0"/>
                </a:rPr>
                <a:t>External host Response</a:t>
              </a:r>
            </a:p>
          </p:txBody>
        </p:sp>
        <p:cxnSp>
          <p:nvCxnSpPr>
            <p:cNvPr id="146" name="직선 화살표 연결선 145">
              <a:extLst>
                <a:ext uri="{FF2B5EF4-FFF2-40B4-BE49-F238E27FC236}">
                  <a16:creationId xmlns:a16="http://schemas.microsoft.com/office/drawing/2014/main" id="{E512D850-EB02-432A-A8A3-E1D4A064CD1B}"/>
                </a:ext>
              </a:extLst>
            </p:cNvPr>
            <p:cNvCxnSpPr/>
            <p:nvPr/>
          </p:nvCxnSpPr>
          <p:spPr>
            <a:xfrm>
              <a:off x="2551908" y="3992890"/>
              <a:ext cx="283792" cy="0"/>
            </a:xfrm>
            <a:prstGeom prst="straightConnector1">
              <a:avLst/>
            </a:prstGeom>
            <a:ln w="19050">
              <a:solidFill>
                <a:srgbClr val="FF0000"/>
              </a:solidFill>
              <a:prstDash val="sysDash"/>
              <a:tailEnd type="triangle"/>
            </a:ln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147" name="직선 화살표 연결선 146">
              <a:extLst>
                <a:ext uri="{FF2B5EF4-FFF2-40B4-BE49-F238E27FC236}">
                  <a16:creationId xmlns:a16="http://schemas.microsoft.com/office/drawing/2014/main" id="{E4F3EC5F-8A7B-43A7-B1FB-59E28AEC393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551908" y="3857833"/>
              <a:ext cx="283792" cy="0"/>
            </a:xfrm>
            <a:prstGeom prst="straightConnector1">
              <a:avLst/>
            </a:prstGeom>
            <a:ln w="19050">
              <a:solidFill>
                <a:srgbClr val="FF0000"/>
              </a:solidFill>
              <a:prstDash val="solid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0" name="그룹 89">
            <a:extLst>
              <a:ext uri="{FF2B5EF4-FFF2-40B4-BE49-F238E27FC236}">
                <a16:creationId xmlns:a16="http://schemas.microsoft.com/office/drawing/2014/main" id="{6DDD3F1D-4750-4559-9126-E296F5512FFC}"/>
              </a:ext>
            </a:extLst>
          </p:cNvPr>
          <p:cNvGrpSpPr/>
          <p:nvPr/>
        </p:nvGrpSpPr>
        <p:grpSpPr>
          <a:xfrm>
            <a:off x="6253310" y="4879607"/>
            <a:ext cx="1236856" cy="805331"/>
            <a:chOff x="2725642" y="2803525"/>
            <a:chExt cx="1236856" cy="805331"/>
          </a:xfrm>
        </p:grpSpPr>
        <p:pic>
          <p:nvPicPr>
            <p:cNvPr id="91" name="Graphic 6" descr="Endpoint resource icon for the Amazon API Gateway service.">
              <a:extLst>
                <a:ext uri="{FF2B5EF4-FFF2-40B4-BE49-F238E27FC236}">
                  <a16:creationId xmlns:a16="http://schemas.microsoft.com/office/drawing/2014/main" id="{5964FB12-FE2B-48A0-8393-5B7019AFDD6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rcRect/>
            <a:stretch/>
          </p:blipFill>
          <p:spPr bwMode="auto">
            <a:xfrm>
              <a:off x="3123554" y="2803525"/>
              <a:ext cx="45720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92" name="TextBox 16">
              <a:extLst>
                <a:ext uri="{FF2B5EF4-FFF2-40B4-BE49-F238E27FC236}">
                  <a16:creationId xmlns:a16="http://schemas.microsoft.com/office/drawing/2014/main" id="{241A5222-6CBE-4E23-9FAA-10271F5520A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25642" y="3208746"/>
              <a:ext cx="1236856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en-US" sz="1000" dirty="0">
                  <a:solidFill>
                    <a:srgbClr val="000000"/>
                  </a:solidFill>
                  <a:latin typeface="Arial" panose="020B0604020202020204" pitchFamily="34" charset="0"/>
                  <a:ea typeface="Amazon Ember" panose="020B0603020204020204" pitchFamily="34" charset="0"/>
                  <a:cs typeface="Arial" panose="020B0604020202020204" pitchFamily="34" charset="0"/>
                </a:rPr>
                <a:t>Gateway </a:t>
              </a:r>
              <a:r>
                <a:rPr kumimoji="0" lang="en-US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Amazon Ember" panose="020B0603020204020204" pitchFamily="34" charset="0"/>
                  <a:cs typeface="Arial" panose="020B0604020202020204" pitchFamily="34" charset="0"/>
                </a:rPr>
                <a:t>Endpoint</a:t>
              </a:r>
              <a:br>
                <a:rPr kumimoji="0" lang="en-US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Amazon Ember" panose="020B0603020204020204" pitchFamily="34" charset="0"/>
                  <a:cs typeface="Arial" panose="020B0604020202020204" pitchFamily="34" charset="0"/>
                </a:rPr>
              </a:br>
              <a:r>
                <a:rPr kumimoji="0" lang="en-US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Amazon Ember" panose="020B0603020204020204" pitchFamily="34" charset="0"/>
                  <a:cs typeface="Arial" panose="020B0604020202020204" pitchFamily="34" charset="0"/>
                </a:rPr>
                <a:t>(GEP)</a:t>
              </a:r>
            </a:p>
          </p:txBody>
        </p:sp>
      </p:grpSp>
      <p:grpSp>
        <p:nvGrpSpPr>
          <p:cNvPr id="93" name="그룹 92">
            <a:extLst>
              <a:ext uri="{FF2B5EF4-FFF2-40B4-BE49-F238E27FC236}">
                <a16:creationId xmlns:a16="http://schemas.microsoft.com/office/drawing/2014/main" id="{7B523927-B621-4149-8CB7-53E439A41D47}"/>
              </a:ext>
            </a:extLst>
          </p:cNvPr>
          <p:cNvGrpSpPr/>
          <p:nvPr/>
        </p:nvGrpSpPr>
        <p:grpSpPr>
          <a:xfrm>
            <a:off x="8026109" y="4878903"/>
            <a:ext cx="887656" cy="711358"/>
            <a:chOff x="2506898" y="2816367"/>
            <a:chExt cx="887656" cy="711358"/>
          </a:xfrm>
        </p:grpSpPr>
        <p:pic>
          <p:nvPicPr>
            <p:cNvPr id="94" name="Graphic 68" descr="S3 Standard storage class icon for the Amazon S3 service.">
              <a:extLst>
                <a:ext uri="{FF2B5EF4-FFF2-40B4-BE49-F238E27FC236}">
                  <a16:creationId xmlns:a16="http://schemas.microsoft.com/office/drawing/2014/main" id="{62A5CE96-3527-4C0E-A084-31B1DE57113A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2726800" y="2816367"/>
              <a:ext cx="457200" cy="457200"/>
            </a:xfrm>
            <a:prstGeom prst="rect">
              <a:avLst/>
            </a:prstGeom>
          </p:spPr>
        </p:pic>
        <p:sp>
          <p:nvSpPr>
            <p:cNvPr id="95" name="TextBox 62">
              <a:extLst>
                <a:ext uri="{FF2B5EF4-FFF2-40B4-BE49-F238E27FC236}">
                  <a16:creationId xmlns:a16="http://schemas.microsoft.com/office/drawing/2014/main" id="{6AF82391-4FA3-46D4-8798-8ACFEE30A11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06898" y="3281504"/>
              <a:ext cx="887656" cy="2462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Amazon Ember" panose="020B0603020204020204" pitchFamily="34" charset="0"/>
                  <a:cs typeface="Arial" panose="020B0604020202020204" pitchFamily="34" charset="0"/>
                </a:rPr>
                <a:t>S3 Standard</a:t>
              </a:r>
            </a:p>
          </p:txBody>
        </p:sp>
      </p:grpSp>
      <p:grpSp>
        <p:nvGrpSpPr>
          <p:cNvPr id="2" name="그룹 1">
            <a:extLst>
              <a:ext uri="{FF2B5EF4-FFF2-40B4-BE49-F238E27FC236}">
                <a16:creationId xmlns:a16="http://schemas.microsoft.com/office/drawing/2014/main" id="{F6769954-DF3C-495F-8420-00273E4194E3}"/>
              </a:ext>
            </a:extLst>
          </p:cNvPr>
          <p:cNvGrpSpPr/>
          <p:nvPr/>
        </p:nvGrpSpPr>
        <p:grpSpPr>
          <a:xfrm rot="16200000">
            <a:off x="6693928" y="4606051"/>
            <a:ext cx="389401" cy="89992"/>
            <a:chOff x="3714454" y="4513134"/>
            <a:chExt cx="283792" cy="89992"/>
          </a:xfrm>
        </p:grpSpPr>
        <p:cxnSp>
          <p:nvCxnSpPr>
            <p:cNvPr id="96" name="직선 화살표 연결선 95">
              <a:extLst>
                <a:ext uri="{FF2B5EF4-FFF2-40B4-BE49-F238E27FC236}">
                  <a16:creationId xmlns:a16="http://schemas.microsoft.com/office/drawing/2014/main" id="{F8BE1429-9C96-463D-982D-2D9A19FBFEE4}"/>
                </a:ext>
              </a:extLst>
            </p:cNvPr>
            <p:cNvCxnSpPr/>
            <p:nvPr/>
          </p:nvCxnSpPr>
          <p:spPr>
            <a:xfrm>
              <a:off x="3714454" y="4603126"/>
              <a:ext cx="283792" cy="0"/>
            </a:xfrm>
            <a:prstGeom prst="straightConnector1">
              <a:avLst/>
            </a:prstGeom>
            <a:ln w="19050">
              <a:solidFill>
                <a:srgbClr val="FF0000"/>
              </a:solidFill>
              <a:prstDash val="sysDash"/>
              <a:tailEnd type="triangle"/>
            </a:ln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97" name="직선 화살표 연결선 96">
              <a:extLst>
                <a:ext uri="{FF2B5EF4-FFF2-40B4-BE49-F238E27FC236}">
                  <a16:creationId xmlns:a16="http://schemas.microsoft.com/office/drawing/2014/main" id="{7389972B-8545-4AF4-BA43-B348F6A1B63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714454" y="4513134"/>
              <a:ext cx="283792" cy="0"/>
            </a:xfrm>
            <a:prstGeom prst="straightConnector1">
              <a:avLst/>
            </a:prstGeom>
            <a:ln w="19050">
              <a:solidFill>
                <a:srgbClr val="FF0000"/>
              </a:solidFill>
              <a:prstDash val="solid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" name="그룹 2">
            <a:extLst>
              <a:ext uri="{FF2B5EF4-FFF2-40B4-BE49-F238E27FC236}">
                <a16:creationId xmlns:a16="http://schemas.microsoft.com/office/drawing/2014/main" id="{DEB734E1-AE40-4821-BB11-27841EDE1287}"/>
              </a:ext>
            </a:extLst>
          </p:cNvPr>
          <p:cNvGrpSpPr/>
          <p:nvPr/>
        </p:nvGrpSpPr>
        <p:grpSpPr>
          <a:xfrm flipH="1">
            <a:off x="7188994" y="5042184"/>
            <a:ext cx="1012884" cy="94580"/>
            <a:chOff x="5681104" y="4088319"/>
            <a:chExt cx="1055396" cy="94580"/>
          </a:xfrm>
        </p:grpSpPr>
        <p:cxnSp>
          <p:nvCxnSpPr>
            <p:cNvPr id="98" name="직선 화살표 연결선 97">
              <a:extLst>
                <a:ext uri="{FF2B5EF4-FFF2-40B4-BE49-F238E27FC236}">
                  <a16:creationId xmlns:a16="http://schemas.microsoft.com/office/drawing/2014/main" id="{8ACC06E9-95EA-4AF4-925D-393DA477EE8C}"/>
                </a:ext>
              </a:extLst>
            </p:cNvPr>
            <p:cNvCxnSpPr/>
            <p:nvPr/>
          </p:nvCxnSpPr>
          <p:spPr>
            <a:xfrm>
              <a:off x="5681104" y="4182899"/>
              <a:ext cx="1055396" cy="0"/>
            </a:xfrm>
            <a:prstGeom prst="straightConnector1">
              <a:avLst/>
            </a:prstGeom>
            <a:ln w="19050">
              <a:solidFill>
                <a:srgbClr val="FF0000"/>
              </a:solidFill>
              <a:prstDash val="dash"/>
              <a:tailEnd type="triangle"/>
            </a:ln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99" name="직선 화살표 연결선 98">
              <a:extLst>
                <a:ext uri="{FF2B5EF4-FFF2-40B4-BE49-F238E27FC236}">
                  <a16:creationId xmlns:a16="http://schemas.microsoft.com/office/drawing/2014/main" id="{2232FCD8-6BEF-4E3F-B5D6-1DB8C601429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681104" y="4088319"/>
              <a:ext cx="1055396" cy="0"/>
            </a:xfrm>
            <a:prstGeom prst="straightConnector1">
              <a:avLst/>
            </a:prstGeom>
            <a:ln w="19050">
              <a:solidFill>
                <a:srgbClr val="FF0000"/>
              </a:solidFill>
              <a:prstDash val="solid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8" name="그룹 247">
            <a:extLst>
              <a:ext uri="{FF2B5EF4-FFF2-40B4-BE49-F238E27FC236}">
                <a16:creationId xmlns:a16="http://schemas.microsoft.com/office/drawing/2014/main" id="{F9E2C597-E251-4499-BC31-A0AF3CF5CE8A}"/>
              </a:ext>
            </a:extLst>
          </p:cNvPr>
          <p:cNvGrpSpPr/>
          <p:nvPr/>
        </p:nvGrpSpPr>
        <p:grpSpPr>
          <a:xfrm>
            <a:off x="6579035" y="3743110"/>
            <a:ext cx="591948" cy="704214"/>
            <a:chOff x="10628502" y="2804320"/>
            <a:chExt cx="591948" cy="704214"/>
          </a:xfrm>
        </p:grpSpPr>
        <p:pic>
          <p:nvPicPr>
            <p:cNvPr id="249" name="Graphic 71" descr="Router resource icon for the Amazon VPC service.&#10;">
              <a:extLst>
                <a:ext uri="{FF2B5EF4-FFF2-40B4-BE49-F238E27FC236}">
                  <a16:creationId xmlns:a16="http://schemas.microsoft.com/office/drawing/2014/main" id="{F8160B47-48F1-421D-BBCC-A6B282ABC203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10692605" y="2804320"/>
              <a:ext cx="457200" cy="457200"/>
            </a:xfrm>
            <a:prstGeom prst="rect">
              <a:avLst/>
            </a:prstGeom>
          </p:spPr>
        </p:pic>
        <p:sp>
          <p:nvSpPr>
            <p:cNvPr id="250" name="TextBox 27">
              <a:extLst>
                <a:ext uri="{FF2B5EF4-FFF2-40B4-BE49-F238E27FC236}">
                  <a16:creationId xmlns:a16="http://schemas.microsoft.com/office/drawing/2014/main" id="{7DF018D5-B737-408A-8C83-8829C6A4B9E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628502" y="3262313"/>
              <a:ext cx="591948" cy="2462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Amazon Ember" panose="020B0603020204020204" pitchFamily="34" charset="0"/>
                  <a:cs typeface="Arial" panose="020B0604020202020204" pitchFamily="34" charset="0"/>
                </a:rPr>
                <a:t>Router</a:t>
              </a:r>
            </a:p>
          </p:txBody>
        </p:sp>
      </p:grpSp>
      <p:grpSp>
        <p:nvGrpSpPr>
          <p:cNvPr id="350" name="그룹 349">
            <a:extLst>
              <a:ext uri="{FF2B5EF4-FFF2-40B4-BE49-F238E27FC236}">
                <a16:creationId xmlns:a16="http://schemas.microsoft.com/office/drawing/2014/main" id="{5941CD7C-6327-42E7-B561-3CDFA708E1EB}"/>
              </a:ext>
            </a:extLst>
          </p:cNvPr>
          <p:cNvGrpSpPr/>
          <p:nvPr/>
        </p:nvGrpSpPr>
        <p:grpSpPr>
          <a:xfrm>
            <a:off x="2756027" y="2265369"/>
            <a:ext cx="591948" cy="704214"/>
            <a:chOff x="10628502" y="2804320"/>
            <a:chExt cx="591948" cy="704214"/>
          </a:xfrm>
        </p:grpSpPr>
        <p:pic>
          <p:nvPicPr>
            <p:cNvPr id="351" name="Graphic 71" descr="Router resource icon for the Amazon VPC service.&#10;">
              <a:extLst>
                <a:ext uri="{FF2B5EF4-FFF2-40B4-BE49-F238E27FC236}">
                  <a16:creationId xmlns:a16="http://schemas.microsoft.com/office/drawing/2014/main" id="{60A5B63A-76CA-42D0-BAC2-723D605B0239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10692605" y="2804320"/>
              <a:ext cx="457200" cy="457200"/>
            </a:xfrm>
            <a:prstGeom prst="rect">
              <a:avLst/>
            </a:prstGeom>
          </p:spPr>
        </p:pic>
        <p:sp>
          <p:nvSpPr>
            <p:cNvPr id="352" name="TextBox 27">
              <a:extLst>
                <a:ext uri="{FF2B5EF4-FFF2-40B4-BE49-F238E27FC236}">
                  <a16:creationId xmlns:a16="http://schemas.microsoft.com/office/drawing/2014/main" id="{F01EC245-E111-40D3-84F1-EF77FD81CDB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628502" y="3262313"/>
              <a:ext cx="591948" cy="2462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Amazon Ember" panose="020B0603020204020204" pitchFamily="34" charset="0"/>
                  <a:cs typeface="Arial" panose="020B0604020202020204" pitchFamily="34" charset="0"/>
                </a:rPr>
                <a:t>Router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2601424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7828193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1415</TotalTime>
  <Words>296</Words>
  <Application>Microsoft Macintosh PowerPoint</Application>
  <PresentationFormat>와이드스크린</PresentationFormat>
  <Paragraphs>146</Paragraphs>
  <Slides>6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</vt:i4>
      </vt:variant>
    </vt:vector>
  </HeadingPairs>
  <TitlesOfParts>
    <vt:vector size="10" baseType="lpstr">
      <vt:lpstr>맑은 고딕</vt:lpstr>
      <vt:lpstr>Arial</vt:lpstr>
      <vt:lpstr>Wingdings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ian</dc:creator>
  <cp:lastModifiedBy>신중진</cp:lastModifiedBy>
  <cp:revision>43</cp:revision>
  <dcterms:created xsi:type="dcterms:W3CDTF">2026-03-20T01:34:24Z</dcterms:created>
  <dcterms:modified xsi:type="dcterms:W3CDTF">2026-06-16T08:54:24Z</dcterms:modified>
</cp:coreProperties>
</file>